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RAM (B)</c:v>
                </c:pt>
              </c:strCache>
            </c:strRef>
          </c:tx>
          <c:spPr>
            <a:solidFill>
              <a:srgbClr val="12766B"/>
            </a:solidFill>
            <a:effectLst/>
          </c:spPr>
          <c:invertIfNegative val="0"/>
          <c:dLbls>
            <c:numFmt formatCode="#,##0" sourceLinked="0"/>
            <c:txPr>
              <a:bodyPr/>
              <a:lstStyle/>
              <a:p>
                <a:pPr>
                  <a:defRPr b="0" i="0" strike="noStrike" sz="1000" u="none">
                    <a:solidFill>
                      <a:srgbClr val="1C1C1E"/>
                    </a:solidFill>
                    <a:latin typeface="Arial"/>
                  </a:defRPr>
                </a:pPr>
              </a:p>
            </c:txPr>
            <c:showLegendKey val="0"/>
            <c:showVal val="1"/>
            <c:showCatName val="0"/>
            <c:showSerName val="0"/>
            <c:showPercent val="0"/>
            <c:showBubbleSize val="0"/>
            <c:showLeaderLines val="0"/>
          </c:dLbls>
          <c:cat>
            <c:multiLvlStrRef>
              <c:f>Sheet1!$A$2:$A$6</c:f>
              <c:multiLvlStrCache>
                <c:ptCount val="5"/>
                <c:lvl>
                  <c:pt idx="0">
                    <c:v>呼気バッファ</c:v>
                  </c:pt>
                  <c:pt idx="1">
                    <c:v>ARQ×4</c:v>
                  </c:pt>
                  <c:pt idx="2">
                    <c:v>ベースライン</c:v>
                  </c:pt>
                  <c:pt idx="3">
                    <c:v>Hampel窓</c:v>
                  </c:pt>
                  <c:pt idx="4">
                    <c:v>EMA</c:v>
                  </c:pt>
                </c:lvl>
              </c:multiLvlStrCache>
            </c:multiLvlStrRef>
          </c:cat>
          <c:val>
            <c:numRef>
              <c:f>Sheet1!$B$2:$B$6</c:f>
              <c:numCache>
                <c:formatCode>General</c:formatCode>
                <c:ptCount val="5"/>
                <c:pt idx="0">
                  <c:v>384</c:v>
                </c:pt>
                <c:pt idx="1">
                  <c:v>272</c:v>
                </c:pt>
                <c:pt idx="2">
                  <c:v>24</c:v>
                </c:pt>
                <c:pt idx="3">
                  <c:v>44</c:v>
                </c:pt>
                <c:pt idx="4">
                  <c:v>8</c:v>
                </c:pt>
              </c:numCache>
            </c:numRef>
          </c:val>
        </c:ser>
        <c:dLbls>
          <c:numFmt formatCode="#,##0" sourceLinked="0"/>
          <c:txPr>
            <a:bodyPr/>
            <a:lstStyle/>
            <a:p>
              <a:pPr>
                <a:defRPr b="0" i="0" strike="noStrike" sz="1000" u="none">
                  <a:solidFill>
                    <a:srgbClr val="1C1C1E"/>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763"/>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HydroPawは、犬の呼気に含まれる水素ガスを測定して毎日の健康を見守るシステムです。本日は見た目の話ではなく、その裏側にある技術的な設計判断 — なぜセンサ側で処理するのか、どんなアルゴリズムを使い、なぜ他方式ではなくそれを選んだのか — を中心にお話しします。ハードウェアはSTM32L452RE、Leafony、DGS2水素センサを使っています。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研究として弱い構成は「センサ値を取ってBLEで送るだけ」です。これには3つの問題があります。1つ目、BLEが切れると知能ごと失われる。2つ目、毎秒の生値を送り続けるのは電力と帯域の無駄。3つ目、そして最も重要なのが、犬がちゃんと呼気を出していなくても数値は出てしまうので、測定の「質」を誰も判定していないことです。研究データとして信頼できません。そこでHydroPawは、呼気を単なる値ではなく「イベント」として捉え、センサ側で検出・切り出し・採点まで完結させる設計にしました。ここが本研究の核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全体像です。左から、犬の呼気をDGS2水素センサが1HzのCSVでUART出力し、中央のSTM32L452REがBAPというエッジ処理を行います。ここが心臓部です。処理した結果はAC02というBLEモジュール経由でHPPという自作プロトコルで送られ、FlutterアプリとWebが「意味」に変換して表示し、Firebaseに記録します。ポイントは、知能を中央のSTM32に集約したことです。アプリやクラウドは結果を受け取るだけ。さらに、生値をそのまま流す研究用のラボモードと、呼気イベントだけを扱う製品モードを、同じファームウェアの中に共存させています。研究機材としても製品としても使えるわけ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ここからが本研究の中心、BAP — Breath Analysis Pipeline です。呼気を1回のイベントとして検出し、切り出し、特徴量を出し、品質を採点するまでを、すべて整数演算・HALに依存しない純Cで実装しました。8つの段からなります。順に見ていきます。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パイプラインの全景です。左の縦の流れが8段。まず生のCSVをパースして物理的にありえない値を弾き、S1でスパイクを除去、S2で平滑化、S3でベースラインのドリフトを補償し、S3の出力からベースラインを引いた上昇分Δを見ます。S4で呼気の始まりと終わりを検出してイベントを切り出し、S5で特徴量を出し、S6・S7で二軸の採点、S8で品質が低ければ自動で測り直します。右の図が呼気1回の断面で、立ち上がり・プラトー・回復という電気化学センサらしい応答から、peak・plateau・AUC・立ち上がり時間を取り出します。湿度と温度のチャネルも捨てずに、呼気であることの独立した証拠として使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1、スパイク除去です。電気化学センサのUART値には静電気や電源変動による単発スパイクが乗ります。移動平均だとスパイクを平均に混ぜてしまい、しかも呼気の立ち上がりまで鈍らせます。中央値系なら除去できるので、Hampelフィルタを使いました。MADという中央絶対偏差で閾値を作るのでスケールに強い。ここで面白いのは、ホストテストが欠陥を自動で見つけたことです。呼気前の静かな区間はノイズが小さいので、本物の呼気の立ち上がりの先頭サンプルまでスパイクと誤判定していました。孤立スパイクは1点、本物のステップは同じ方向に2点以上続く、という差を使って解決しました。計算量・メモリ・電力はご覧の通り、いずれも無視できる規模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S2とS3です。S2の適応EMAは、平滑化定数αを固定すると、静かな時のノイズ抑制と、呼気の立ち上がりへの追従が両立しないという問題を、イノベーション — つまり予測と実測の差 — が大きい時だけαを上げる2段切替で解決しています。全部シフト演算なので、ホストPCと実機でビット単位で一致します。S3のベースライン学習は、呼気の意味は絶対値ではなくベースラインからの上昇分だという考えに基づきます。ここもテストが欠陥を見つけていて、窓が静かなだけでは、呼気の維持相＝プラトーでベースラインが引き上げられて汚染される。だからΔが小さいという条件を追加しました。下の表が他方式との比較です。カルマンは呼気の動力学モデルが分からない段階では共分散設計が恣意的になるので却下。ゼロ校正は工場校正を壊すので却下。整数で説明可能な適応EMAを採用し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4、呼気の切り出しです。開始は、上昇分Δが500ppb以上という条件を3回連続で満たしたら、と決めています。振幅と持続時間の二重条件にすることで、一瞬のノイズで誤って始まるのを防ぎます。終了は、ピークの40%を下回る状態が3回続く、90秒の上限に達する、または手動停止のいずれか。微分で検出しない理由は、このセンサは応答が遅くて傾きが浅く、ノイズを微分すると暴れるからです。傾きは検出には使わず、特徴量としてだけ使います。重要なのは、これらの閾値がすべて仮値だと明記していることです。実際の犬のデータで較正するまでの仮置きで、設定ファイルに集約し由来も書いてあります。「分からない」ではなく「較正計画がある未実施」として扱うのが本研究の姿勢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5、特徴量です。呼気1回を5つの数に圧縮します。peakは最大の上昇。plateauはピークの半分以上のサンプルの平均で、瞬間的な外れ値に強い代表値です。AUCは面積で、総排出量に比例する生理的な指標。riseは立ち上がりの速さ、durationは長さです。ここでの設計判断として、メモリを節約する逐次近似も検討しましたが、ピークが確定するのは呼気が終わってからなので、途中のピークを基準にすると前半のサンプルの扱いが系統誤差になります。384バイトはSRAMの0.24%に過ぎないので、正確さを優先してバッファを持つことにしました。こういう小さなトレードオフを一つ一つ根拠づけているのが本研究の特徴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ここが本研究の一番の売りだと考えています。品質を1つの数字にまとめるのではなく、2つの軸に分けました。Q、Quality は「この測定はうまくいったか」。C、Confidence は「この計測器は健全か」。左の4象限がその考え方で、たとえば「機器は正常だけど測定は下手だった」場合と「機器がおかしい」場合を、アプリが区別できます。前者は再測定を提案し、後者は点検を促す。右の2つの表がそれぞれの減点項目です。減点方式にしたのは、各項目の寄与が説明可能で、そのまま卒論の表にできるからです。重み付き回帰は教師データがない段階では成立しません。そして低品質でも自動で測り直すのは1回だけ、それでもだめなら押し付けずに提案する。動物福祉とUXの両方の要件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状態機械です。既存の6状態を保ったまま、呼気セッション用に6状態を追加しました。CMD_BREATHで始まり、ウォームアップ、呼気待ちのREADY、呼気捕捉のBREATH、解析、検証、報告と進みます。品質が低ければ、VALIDATEからREADYに戻って1回だけ自動で測り直します。最後にEVT_RESULTをARQで確実に送ってIDLEに戻り、省電力のSTOP2に入ります。下が異常系で、これらは全てホストテストで固定しています。特に注目してほしいのは、測定中にBLEが切れても、セッションを捨てずに続けて、結果をARQのキューに積んで再接続後に届けることです。従来の「切断＝即中止」だとデータを失いますが、それを防いでいます。低電池でも測定は止めません。ユーザーを責めない設計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BLEの信頼性設計です。BLE Notifyは接続中は順番を守って届けますが、切断区間のフレームは消えます。毎秒のストリームは消えても次で回復するので再送は不要。でもEVT_RESULT、つまり測定結果が消えると、測定1回まるごと失われます。だから、失うと痛いフレームだけを再送保証する「選択的ARQ」にしました。全部再送するTCP的な方式は、1Hzのストリームでキューが詰まって遅延と電力を悪くするだけです。シーケンスは、FWが結果を送り、アプリがACKを返す。届かなければ1秒ごとに同じ番号で最大5回再送し、アプリは受信済みの番号なら重複排除して再度ACKする。キューは深さ4を静的に確保しmallocは使いません。SEQは8ビットで一周するので、直近16件だけ覚えて巡回による誤判定を防いで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自作プロトコル、HPPのパケット設計です。上がフレーム構造で、開始バイト、バージョン、型、シーケンス番号、長さ、ペイロード、そしてCRC16という構成。ペイロードは最大48バイトです。左下が主なメッセージ型で、呼気開始のコマンド、信頼配送のACK、結果、状態の実況などがあります。右がEVT_RESULT、結果フレームの30バイトの中身で、品質と信頼度、ベースラインやピーク、AUCといった特徴量が全部入っています。CRCはC言語、Dart、TypeScriptの3実装で同じテストベクタ0x53CCを共有して、相互に正しさを検証しています。EVT_STATUSは可変長にして、古いアプリでも先頭だけ読めば動く後方互換に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教授が必ず聞く質問、「PCやスマホで処理すればいいのでは?」への答えです。3つあります。1つ目、通信が切れてもセッションを完結できるのはエッジ処理だけです。アプリ側で処理していたら、切れた瞬間に測定が失われる。これは原理的な差です。2つ目、送る量が減って電力に効きます。生値を毎秒垂れ流すのに対して、結果は30バイト＋実況が数フレームで済む。無線が消費電力の主役なので、そこを減らせます。3つ目、機器だけで品質判定まで終わるので、アプリの実装に依存せず、研究機材として何度でも再利用できて再現性も高い。この3点が、あえてマイコンで処理する理由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定量設計です。追加RAMは780バイト、160KBのSRAMの0.5%。追加Flashは3.3KBで0.7%。CPU占有は0.001%未満。全部整数演算です。下の棒グラフがRAMの内訳で、これはホストのgccでsizeofを実測した値です。呼気バッファとARQキューが大半を占めます。右側が誠実さの部分で、乗除算を避けて全部シフトと加減算にしたので、ホストPCと実機で決定的に同じ結果が出ます。そして重要なのは、電力の主役はマイコンではなくDGS2センサとBLEだということ。だから電力設計の本当の戦場は「測定時間そのものを短くする」イベント化なんです。RAMは実測ですが、Flashと電力はまだ推定値だと正直に区別していて、電流ロガーで実測する計画も立て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従来手法との比較表です。左から観点、生値そのまま、移動平均、そして提案法のBAP。スパイク耐性は生値だと誤検出、移動平均だと鈍る、BAPはHampelで除去。立ち上がり追従は移動平均が窓ぶん遅れるのに対しBAPは適応EMAで両立。ドリフト補償と品質評価と通信断耐性は、生値も移動平均も持っていない機能で、ここがBAPの独自性です。説明可能性も、減点方式で内訳を出せる点で優れています。正直に書いておくと、カルマンフィルタとの定量比較はまだできていません。これは実際の犬のデータを取ってから、ROC曲線で比較する計画です。この表は機能比較であって、性能の数値比較は今後の実験に委ねている、という位置づけ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I・UXの設計思想です。ブランドの言葉は「ことばにならないものを、ことばに」。飼い主さんは獣医ではないので、ppmや専門用語を主役にしません。ホームは安心の画面で、今の状態・前回からの変化・次にすべき行動の3つだけ。測定は一連のイベントとして扱い、エラー画面は作らず、常に「次に何をすればいいか」を示します。色はMizuha、水羽のティールを主役にして、AI生成っぽい汎用の青を全廃しました。肉球マークを唯一のモチーフとして全画面で繰り返します。下が数値から意味への変換で、4.9ppmは「今日は安定しています」、品質92点は「測定の質・高い」と言葉にして、数値そのものは出しません。この変換ロジックはDartとTypeScriptで同じものをミラー実装して、アプリとWebで表示が食い違わないように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研究としての新規性を12点にまとめました。先生に「そこ工夫したね」と言ってもらいたいポイントです。一つ一つは既知技術のこともありますが、売りは組合せそのものではなく、1Hz・整数・呼気イベントという制約への適合設計です。特に4番のRHチャネルを品質保証に転用する多モーダル検証、5番の品質と信頼度の二軸分離、7番の選択的ARQ、8番の切断中もセッションを続ける設計、この4つが論文の主張の核になります。そして12番、閾値を仮値と明示して較正計画につなげる誠実さも、研究として重要な態度だと考えています。すべて実装済みで、10番のとおりホストで検証できる形になっ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後の実験計画です。これがそのまま卒論の実験章になります。第1段階、人工呼気の加湿水素ガスでセンサの実際の応答を測り、合成波形モデルを検証して閾値を確定します。第2段階、実際の犬でN頭M回測って、品質スコアの分布と人手のラベルから、閾値と減点の重みを決め直します。第3段階、生値・移動平均・カルマン・提案法をROC曲線で比較。第4段階、検出の遅延やARQの回復率を数値化。第5段階、電流ロガーで消費電力を実測して、推定値を実測値に置き換えます。重要なのは、今できていないことは「分からない」のではなく「計画済みでまだやっていない」だけで、必要なデータも装置も指標も全部ドキュメントに定義してあるということ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論文化のプランです。主張を1文にすると、「損失のあるBLEと3mA級のマイコンという制約の中で、呼気水素測定の品質保証をセンサ側で完結させるエッジパイプラインを、ホストで検証できる全整数実装として作った」となります。売りは4つ、優先順に、二軸の自己評価、湿度チャネルの証拠転用、選択的ARQと切断耐性、そして354個のアサーションで再現できるエンジニアリングです。右が提案する図表で、特に図4の呼気イベントの解剖図が論文の顔になります。投稿先は電気学会や計測自動制御学会の学生セッション、実犬データが揃えばIEEE Sensors系も狙えます。以上がHydroPawの技術的な全体像です。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想定質問1から4番です。Q1. 移動平均ではダメなの? / Q2. カルマンじゃない理由は? / Q3. なぜSTM32で処理? PCでやればいいのでは? / Q4. その処理はSTM32に載る規模なの? — 各回答は設計根拠に基づいており、詳細はdocs/20に記載しています。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想定質問5から8番です。Q5. なぜ1Hz? もっと速くサンプリングは? / Q6. ベースラインはゼロ校正Zでいいのでは? / Q7. RHが上がらない呼気はないの? / Q8. 品質スコアの重みはどう決めた? — 各回答は設計根拠に基づいており、詳細はdocs/20に記載しています。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想定質問9から12番です。Q9. 減点方式って学術的? 回帰でよくない? / Q10. 呼気の「1回」って何? 犬は連続で呼吸するけど。 / Q11. onset閾値500ppbの根拠は? / Q12. 犬種や体格で変わらないの? — 各回答は設計根拠に基づいており、詳細はdocs/20に記載しています。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想定質問13から16番です。Q13. なぜBLE再送を自前実装? BLEは信頼性あるでしょ。 / Q14. なぜウィンドウ制御がない? / Q15. STOP2で本当にどれだけ電力が減る? / Q16. なぜホストPCでテスト? 実機じゃないの? — 各回答は設計根拠に基づいており、詳細はdocs/20に記載しています。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想定質問17から20番です。Q17. 合成波形で評価して意味ある? / Q18. 自動でもう1回測るのは犬に優しい? / Q19. なぜ生波形を全部送らない? / Q20. この研究の限界を自分で言うと? — 各回答は設計根拠に基づいており、詳細はdocs/20に記載しています。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です。HydroPawは、見た目を作っただけの学生アプリではなく、一つ一つの設計判断に根拠を持たせた研究として作りました。なぜそのアルゴリズムなのか、なぜ他方式ではないのか、どんな制約に対する適合設計なのか — どの質問にも設計根拠で答えられる状態を目指しています。ご清聴ありがとうございました。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36"/>
        </a:solidFill>
      </p:bgPr>
    </p:bg>
    <p:spTree>
      <p:nvGrpSpPr>
        <p:cNvPr id="1" name=""/>
        <p:cNvGrpSpPr/>
        <p:nvPr/>
      </p:nvGrpSpPr>
      <p:grpSpPr>
        <a:xfrm>
          <a:off x="0" y="0"/>
          <a:ext cx="0" cy="0"/>
          <a:chOff x="0" y="0"/>
          <a:chExt cx="0" cy="0"/>
        </a:xfrm>
      </p:grpSpPr>
      <p:sp>
        <p:nvSpPr>
          <p:cNvPr id="2" name="Shape 0"/>
          <p:cNvSpPr/>
          <p:nvPr/>
        </p:nvSpPr>
        <p:spPr>
          <a:xfrm>
            <a:off x="8348472" y="-2011680"/>
            <a:ext cx="5486400" cy="5486400"/>
          </a:xfrm>
          <a:prstGeom prst="ellipse">
            <a:avLst/>
          </a:prstGeom>
          <a:solidFill>
            <a:srgbClr val="13514A"/>
          </a:solidFill>
          <a:ln/>
        </p:spPr>
      </p:sp>
      <p:sp>
        <p:nvSpPr>
          <p:cNvPr id="3" name="Shape 1"/>
          <p:cNvSpPr/>
          <p:nvPr/>
        </p:nvSpPr>
        <p:spPr>
          <a:xfrm>
            <a:off x="-1463040" y="4480560"/>
            <a:ext cx="4206240" cy="4206240"/>
          </a:xfrm>
          <a:prstGeom prst="ellipse">
            <a:avLst/>
          </a:prstGeom>
          <a:solidFill>
            <a:srgbClr val="11463F"/>
          </a:solidFill>
          <a:ln/>
        </p:spPr>
      </p:sp>
      <p:sp>
        <p:nvSpPr>
          <p:cNvPr id="4" name="Shape 2"/>
          <p:cNvSpPr/>
          <p:nvPr/>
        </p:nvSpPr>
        <p:spPr>
          <a:xfrm>
            <a:off x="566928" y="822960"/>
            <a:ext cx="1371600" cy="1371600"/>
          </a:xfrm>
          <a:prstGeom prst="ellipse">
            <a:avLst/>
          </a:prstGeom>
          <a:solidFill>
            <a:srgbClr val="4FB8A5"/>
          </a:solidFill>
          <a:ln/>
        </p:spPr>
      </p:sp>
      <p:sp>
        <p:nvSpPr>
          <p:cNvPr id="5" name="Shape 3"/>
          <p:cNvSpPr/>
          <p:nvPr/>
        </p:nvSpPr>
        <p:spPr>
          <a:xfrm>
            <a:off x="1169746" y="1536192"/>
            <a:ext cx="286664" cy="256489"/>
          </a:xfrm>
          <a:prstGeom prst="ellipse">
            <a:avLst/>
          </a:prstGeom>
          <a:solidFill>
            <a:srgbClr val="FFFFFF"/>
          </a:solidFill>
          <a:ln/>
        </p:spPr>
      </p:sp>
      <p:sp>
        <p:nvSpPr>
          <p:cNvPr id="6" name="Shape 4"/>
          <p:cNvSpPr/>
          <p:nvPr/>
        </p:nvSpPr>
        <p:spPr>
          <a:xfrm>
            <a:off x="918058" y="1289304"/>
            <a:ext cx="128245" cy="158420"/>
          </a:xfrm>
          <a:prstGeom prst="ellipse">
            <a:avLst/>
          </a:prstGeom>
          <a:solidFill>
            <a:srgbClr val="FFFFFF"/>
          </a:solidFill>
          <a:ln/>
        </p:spPr>
      </p:sp>
      <p:sp>
        <p:nvSpPr>
          <p:cNvPr id="7" name="Shape 5"/>
          <p:cNvSpPr/>
          <p:nvPr/>
        </p:nvSpPr>
        <p:spPr>
          <a:xfrm>
            <a:off x="1219810" y="1207008"/>
            <a:ext cx="128245" cy="158420"/>
          </a:xfrm>
          <a:prstGeom prst="ellipse">
            <a:avLst/>
          </a:prstGeom>
          <a:solidFill>
            <a:srgbClr val="FFFFFF"/>
          </a:solidFill>
          <a:ln/>
        </p:spPr>
      </p:sp>
      <p:sp>
        <p:nvSpPr>
          <p:cNvPr id="8" name="Shape 6"/>
          <p:cNvSpPr/>
          <p:nvPr/>
        </p:nvSpPr>
        <p:spPr>
          <a:xfrm>
            <a:off x="1521562" y="1289304"/>
            <a:ext cx="128245" cy="158420"/>
          </a:xfrm>
          <a:prstGeom prst="ellipse">
            <a:avLst/>
          </a:prstGeom>
          <a:solidFill>
            <a:srgbClr val="FFFFFF"/>
          </a:solidFill>
          <a:ln/>
        </p:spPr>
      </p:sp>
      <p:sp>
        <p:nvSpPr>
          <p:cNvPr id="9" name="Text 7"/>
          <p:cNvSpPr/>
          <p:nvPr/>
        </p:nvSpPr>
        <p:spPr>
          <a:xfrm>
            <a:off x="566928" y="2468880"/>
            <a:ext cx="10058400" cy="100584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HydroPaw</a:t>
            </a:r>
            <a:endParaRPr lang="en-US" sz="5400" dirty="0"/>
          </a:p>
        </p:txBody>
      </p:sp>
      <p:sp>
        <p:nvSpPr>
          <p:cNvPr id="10" name="Text 8"/>
          <p:cNvSpPr/>
          <p:nvPr/>
        </p:nvSpPr>
        <p:spPr>
          <a:xfrm>
            <a:off x="566928" y="3474720"/>
            <a:ext cx="10058400" cy="548640"/>
          </a:xfrm>
          <a:prstGeom prst="rect">
            <a:avLst/>
          </a:prstGeom>
          <a:noFill/>
          <a:ln/>
        </p:spPr>
        <p:txBody>
          <a:bodyPr wrap="square" rtlCol="0" anchor="ctr"/>
          <a:lstStyle/>
          <a:p>
            <a:pPr indent="0" marL="0">
              <a:buNone/>
            </a:pPr>
            <a:r>
              <a:rPr lang="en-US" sz="2200" dirty="0">
                <a:solidFill>
                  <a:srgbClr val="4FB8A5"/>
                </a:solidFill>
                <a:latin typeface="Calibri" pitchFamily="34" charset="0"/>
                <a:ea typeface="Calibri" pitchFamily="34" charset="-122"/>
                <a:cs typeface="Calibri" pitchFamily="34" charset="-120"/>
              </a:rPr>
              <a:t>犬の呼気水素から、毎日の健康を見守る</a:t>
            </a:r>
            <a:endParaRPr lang="en-US" sz="2200" dirty="0"/>
          </a:p>
        </p:txBody>
      </p:sp>
      <p:sp>
        <p:nvSpPr>
          <p:cNvPr id="11" name="Text 9"/>
          <p:cNvSpPr/>
          <p:nvPr/>
        </p:nvSpPr>
        <p:spPr>
          <a:xfrm>
            <a:off x="566928" y="4069080"/>
            <a:ext cx="10058400" cy="457200"/>
          </a:xfrm>
          <a:prstGeom prst="rect">
            <a:avLst/>
          </a:prstGeom>
          <a:noFill/>
          <a:ln/>
        </p:spPr>
        <p:txBody>
          <a:bodyPr wrap="square" rtlCol="0" anchor="ctr"/>
          <a:lstStyle/>
          <a:p>
            <a:pPr indent="0" marL="0">
              <a:buNone/>
            </a:pPr>
            <a:r>
              <a:rPr lang="en-US" sz="1500" dirty="0">
                <a:solidFill>
                  <a:srgbClr val="BFD6D0"/>
                </a:solidFill>
                <a:latin typeface="Calibri" pitchFamily="34" charset="0"/>
                <a:ea typeface="Calibri" pitchFamily="34" charset="-122"/>
                <a:cs typeface="Calibri" pitchFamily="34" charset="-120"/>
              </a:rPr>
              <a:t>— エッジ処理・状態機械・BLE信頼配送・UX設計の技術解説 —</a:t>
            </a:r>
            <a:endParaRPr lang="en-US" sz="1500" dirty="0"/>
          </a:p>
        </p:txBody>
      </p:sp>
      <p:sp>
        <p:nvSpPr>
          <p:cNvPr id="12" name="Shape 10"/>
          <p:cNvSpPr/>
          <p:nvPr/>
        </p:nvSpPr>
        <p:spPr>
          <a:xfrm>
            <a:off x="566928" y="4937760"/>
            <a:ext cx="4114800" cy="0"/>
          </a:xfrm>
          <a:prstGeom prst="line">
            <a:avLst/>
          </a:prstGeom>
          <a:noFill/>
          <a:ln w="12700">
            <a:solidFill>
              <a:srgbClr val="4FB8A5"/>
            </a:solidFill>
            <a:prstDash val="solid"/>
          </a:ln>
        </p:spPr>
      </p:sp>
      <p:sp>
        <p:nvSpPr>
          <p:cNvPr id="13" name="Text 11"/>
          <p:cNvSpPr/>
          <p:nvPr/>
        </p:nvSpPr>
        <p:spPr>
          <a:xfrm>
            <a:off x="566928" y="5074920"/>
            <a:ext cx="10058400" cy="365760"/>
          </a:xfrm>
          <a:prstGeom prst="rect">
            <a:avLst/>
          </a:prstGeom>
          <a:noFill/>
          <a:ln/>
        </p:spPr>
        <p:txBody>
          <a:bodyPr wrap="square" rtlCol="0" anchor="ctr"/>
          <a:lstStyle/>
          <a:p>
            <a:pPr indent="0" marL="0">
              <a:buNone/>
            </a:pPr>
            <a:r>
              <a:rPr lang="en-US" sz="1300" dirty="0">
                <a:solidFill>
                  <a:srgbClr val="BFD6D0"/>
                </a:solidFill>
                <a:latin typeface="Calibri" pitchFamily="34" charset="0"/>
                <a:ea typeface="Calibri" pitchFamily="34" charset="-122"/>
                <a:cs typeface="Calibri" pitchFamily="34" charset="-120"/>
              </a:rPr>
              <a:t>卒業研究 / マクニカコンテスト  ·  STM32L452RE + DGS2 + Leafony</a:t>
            </a:r>
            <a:endParaRPr lang="en-US" sz="1300" dirty="0"/>
          </a:p>
        </p:txBody>
      </p:sp>
      <p:sp>
        <p:nvSpPr>
          <p:cNvPr id="14" name="Text 12"/>
          <p:cNvSpPr/>
          <p:nvPr/>
        </p:nvSpPr>
        <p:spPr>
          <a:xfrm>
            <a:off x="566928" y="5486400"/>
            <a:ext cx="10058400" cy="36576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Ryoto Mogi  ·  慶應義塾大学</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PROBLEM</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なぜ「取得して送るだけ」では研究にならないのか</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01</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554480"/>
            <a:ext cx="5394960" cy="1371600"/>
          </a:xfrm>
          <a:prstGeom prst="roundRect">
            <a:avLst>
              <a:gd name="adj" fmla="val 6000"/>
            </a:avLst>
          </a:prstGeom>
          <a:solidFill>
            <a:srgbClr val="FFFFFF"/>
          </a:solidFill>
          <a:ln w="12700">
            <a:solidFill>
              <a:srgbClr val="DADFDC"/>
            </a:solidFill>
            <a:prstDash val="solid"/>
          </a:ln>
          <a:effectLst>
            <a:outerShdw sx="100000" sy="100000" kx="0" ky="0" algn="bl" rotWithShape="0" blurRad="101600" dist="38100" dir="5400000">
              <a:srgbClr val="9AA5A0">
                <a:alpha val="28000"/>
              </a:srgbClr>
            </a:outerShdw>
          </a:effectLst>
        </p:spPr>
      </p:sp>
      <p:sp>
        <p:nvSpPr>
          <p:cNvPr id="7" name="Text 5"/>
          <p:cNvSpPr/>
          <p:nvPr/>
        </p:nvSpPr>
        <p:spPr>
          <a:xfrm>
            <a:off x="795528" y="1691640"/>
            <a:ext cx="4937760" cy="320040"/>
          </a:xfrm>
          <a:prstGeom prst="rect">
            <a:avLst/>
          </a:prstGeom>
          <a:noFill/>
          <a:ln/>
        </p:spPr>
        <p:txBody>
          <a:bodyPr wrap="square" rtlCol="0" anchor="ctr"/>
          <a:lstStyle/>
          <a:p>
            <a:pPr indent="0" marL="0">
              <a:buNone/>
            </a:pPr>
            <a:r>
              <a:rPr lang="en-US" sz="1300" b="1" dirty="0">
                <a:solidFill>
                  <a:srgbClr val="5B6763"/>
                </a:solidFill>
                <a:latin typeface="Calibri" pitchFamily="34" charset="0"/>
                <a:ea typeface="Calibri" pitchFamily="34" charset="-122"/>
                <a:cs typeface="Calibri" pitchFamily="34" charset="-120"/>
              </a:rPr>
              <a:t>従来構成（改善前）</a:t>
            </a:r>
            <a:endParaRPr lang="en-US" sz="1300" dirty="0"/>
          </a:p>
        </p:txBody>
      </p:sp>
      <p:sp>
        <p:nvSpPr>
          <p:cNvPr id="8" name="Shape 6"/>
          <p:cNvSpPr/>
          <p:nvPr/>
        </p:nvSpPr>
        <p:spPr>
          <a:xfrm>
            <a:off x="1828800" y="2148840"/>
            <a:ext cx="1051560" cy="502920"/>
          </a:xfrm>
          <a:prstGeom prst="roundRect">
            <a:avLst>
              <a:gd name="adj" fmla="val 10909"/>
            </a:avLst>
          </a:prstGeom>
          <a:solidFill>
            <a:srgbClr val="D9EBE7"/>
          </a:solidFill>
          <a:ln w="12700">
            <a:solidFill>
              <a:srgbClr val="4FB8A5"/>
            </a:solidFill>
            <a:prstDash val="solid"/>
          </a:ln>
        </p:spPr>
      </p:sp>
      <p:sp>
        <p:nvSpPr>
          <p:cNvPr id="9" name="Text 7"/>
          <p:cNvSpPr/>
          <p:nvPr/>
        </p:nvSpPr>
        <p:spPr>
          <a:xfrm>
            <a:off x="1828800" y="2148840"/>
            <a:ext cx="1051560" cy="502920"/>
          </a:xfrm>
          <a:prstGeom prst="rect">
            <a:avLst/>
          </a:prstGeom>
          <a:noFill/>
          <a:ln/>
        </p:spPr>
        <p:txBody>
          <a:bodyPr wrap="square" rtlCol="0" anchor="ctr"/>
          <a:lstStyle/>
          <a:p>
            <a:pPr algn="ctr" indent="0" marL="0">
              <a:buNone/>
            </a:pPr>
            <a:r>
              <a:rPr lang="en-US" sz="1100" b="1" dirty="0">
                <a:solidFill>
                  <a:srgbClr val="12766B"/>
                </a:solidFill>
                <a:latin typeface="Calibri" pitchFamily="34" charset="0"/>
                <a:ea typeface="Calibri" pitchFamily="34" charset="-122"/>
                <a:cs typeface="Calibri" pitchFamily="34" charset="-120"/>
              </a:rPr>
              <a:t>DGS2</a:t>
            </a:r>
            <a:endParaRPr lang="en-US" sz="1100" dirty="0"/>
          </a:p>
        </p:txBody>
      </p:sp>
      <p:sp>
        <p:nvSpPr>
          <p:cNvPr id="10" name="Shape 8"/>
          <p:cNvSpPr/>
          <p:nvPr/>
        </p:nvSpPr>
        <p:spPr>
          <a:xfrm>
            <a:off x="2907792" y="2395728"/>
            <a:ext cx="292608" cy="0"/>
          </a:xfrm>
          <a:prstGeom prst="line">
            <a:avLst/>
          </a:prstGeom>
          <a:noFill/>
          <a:ln w="27940">
            <a:solidFill>
              <a:srgbClr val="4FB8A5"/>
            </a:solidFill>
            <a:prstDash val="solid"/>
            <a:tailEnd type="triangle"/>
          </a:ln>
        </p:spPr>
      </p:sp>
      <p:sp>
        <p:nvSpPr>
          <p:cNvPr id="11" name="Shape 9"/>
          <p:cNvSpPr/>
          <p:nvPr/>
        </p:nvSpPr>
        <p:spPr>
          <a:xfrm>
            <a:off x="3017520" y="2148840"/>
            <a:ext cx="1051560" cy="502920"/>
          </a:xfrm>
          <a:prstGeom prst="roundRect">
            <a:avLst>
              <a:gd name="adj" fmla="val 10909"/>
            </a:avLst>
          </a:prstGeom>
          <a:solidFill>
            <a:srgbClr val="D9EBE7"/>
          </a:solidFill>
          <a:ln w="12700">
            <a:solidFill>
              <a:srgbClr val="4FB8A5"/>
            </a:solidFill>
            <a:prstDash val="solid"/>
          </a:ln>
        </p:spPr>
      </p:sp>
      <p:sp>
        <p:nvSpPr>
          <p:cNvPr id="12" name="Text 10"/>
          <p:cNvSpPr/>
          <p:nvPr/>
        </p:nvSpPr>
        <p:spPr>
          <a:xfrm>
            <a:off x="3017520" y="2148840"/>
            <a:ext cx="1051560" cy="502920"/>
          </a:xfrm>
          <a:prstGeom prst="rect">
            <a:avLst/>
          </a:prstGeom>
          <a:noFill/>
          <a:ln/>
        </p:spPr>
        <p:txBody>
          <a:bodyPr wrap="square" rtlCol="0" anchor="ctr"/>
          <a:lstStyle/>
          <a:p>
            <a:pPr algn="ctr" indent="0" marL="0">
              <a:buNone/>
            </a:pPr>
            <a:r>
              <a:rPr lang="en-US" sz="1100" b="1" dirty="0">
                <a:solidFill>
                  <a:srgbClr val="12766B"/>
                </a:solidFill>
                <a:latin typeface="Calibri" pitchFamily="34" charset="0"/>
                <a:ea typeface="Calibri" pitchFamily="34" charset="-122"/>
                <a:cs typeface="Calibri" pitchFamily="34" charset="-120"/>
              </a:rPr>
              <a:t>範囲検証</a:t>
            </a:r>
            <a:endParaRPr lang="en-US" sz="1100" dirty="0"/>
          </a:p>
        </p:txBody>
      </p:sp>
      <p:sp>
        <p:nvSpPr>
          <p:cNvPr id="13" name="Shape 11"/>
          <p:cNvSpPr/>
          <p:nvPr/>
        </p:nvSpPr>
        <p:spPr>
          <a:xfrm>
            <a:off x="4096512" y="2395728"/>
            <a:ext cx="292608" cy="0"/>
          </a:xfrm>
          <a:prstGeom prst="line">
            <a:avLst/>
          </a:prstGeom>
          <a:noFill/>
          <a:ln w="27940">
            <a:solidFill>
              <a:srgbClr val="4FB8A5"/>
            </a:solidFill>
            <a:prstDash val="solid"/>
            <a:tailEnd type="triangle"/>
          </a:ln>
        </p:spPr>
      </p:sp>
      <p:sp>
        <p:nvSpPr>
          <p:cNvPr id="14" name="Shape 12"/>
          <p:cNvSpPr/>
          <p:nvPr/>
        </p:nvSpPr>
        <p:spPr>
          <a:xfrm>
            <a:off x="4297680" y="2148840"/>
            <a:ext cx="1051560" cy="502920"/>
          </a:xfrm>
          <a:prstGeom prst="roundRect">
            <a:avLst>
              <a:gd name="adj" fmla="val 10909"/>
            </a:avLst>
          </a:prstGeom>
          <a:solidFill>
            <a:srgbClr val="D9EBE7"/>
          </a:solidFill>
          <a:ln w="12700">
            <a:solidFill>
              <a:srgbClr val="4FB8A5"/>
            </a:solidFill>
            <a:prstDash val="solid"/>
          </a:ln>
        </p:spPr>
      </p:sp>
      <p:sp>
        <p:nvSpPr>
          <p:cNvPr id="15" name="Text 13"/>
          <p:cNvSpPr/>
          <p:nvPr/>
        </p:nvSpPr>
        <p:spPr>
          <a:xfrm>
            <a:off x="4297680" y="2148840"/>
            <a:ext cx="1051560" cy="502920"/>
          </a:xfrm>
          <a:prstGeom prst="rect">
            <a:avLst/>
          </a:prstGeom>
          <a:noFill/>
          <a:ln/>
        </p:spPr>
        <p:txBody>
          <a:bodyPr wrap="square" rtlCol="0" anchor="ctr"/>
          <a:lstStyle/>
          <a:p>
            <a:pPr algn="ctr" indent="0" marL="0">
              <a:buNone/>
            </a:pPr>
            <a:r>
              <a:rPr lang="en-US" sz="1100" b="1" dirty="0">
                <a:solidFill>
                  <a:srgbClr val="12766B"/>
                </a:solidFill>
                <a:latin typeface="Calibri" pitchFamily="34" charset="0"/>
                <a:ea typeface="Calibri" pitchFamily="34" charset="-122"/>
                <a:cs typeface="Calibri" pitchFamily="34" charset="-120"/>
              </a:rPr>
              <a:t>BLE送信</a:t>
            </a:r>
            <a:endParaRPr lang="en-US" sz="1100" dirty="0"/>
          </a:p>
        </p:txBody>
      </p:sp>
      <p:sp>
        <p:nvSpPr>
          <p:cNvPr id="16" name="Text 14"/>
          <p:cNvSpPr/>
          <p:nvPr/>
        </p:nvSpPr>
        <p:spPr>
          <a:xfrm>
            <a:off x="795528" y="2724912"/>
            <a:ext cx="4937760" cy="274320"/>
          </a:xfrm>
          <a:prstGeom prst="rect">
            <a:avLst/>
          </a:prstGeom>
          <a:noFill/>
          <a:ln/>
        </p:spPr>
        <p:txBody>
          <a:bodyPr wrap="square" rtlCol="0" anchor="ctr"/>
          <a:lstStyle/>
          <a:p>
            <a:pPr indent="0" marL="0">
              <a:buNone/>
            </a:pPr>
            <a:r>
              <a:rPr lang="en-US" sz="1100" i="1" dirty="0">
                <a:solidFill>
                  <a:srgbClr val="5B6763"/>
                </a:solidFill>
                <a:latin typeface="Calibri" pitchFamily="34" charset="0"/>
                <a:ea typeface="Calibri" pitchFamily="34" charset="-122"/>
                <a:cs typeface="Calibri" pitchFamily="34" charset="-120"/>
              </a:rPr>
              <a:t>知能はすべてアプリ側 — 機器は「値を垂れ流す」だけ</a:t>
            </a:r>
            <a:endParaRPr lang="en-US" sz="1100" dirty="0"/>
          </a:p>
        </p:txBody>
      </p:sp>
      <p:sp>
        <p:nvSpPr>
          <p:cNvPr id="17" name="Shape 15"/>
          <p:cNvSpPr/>
          <p:nvPr/>
        </p:nvSpPr>
        <p:spPr>
          <a:xfrm>
            <a:off x="566928" y="3383280"/>
            <a:ext cx="11064240" cy="896112"/>
          </a:xfrm>
          <a:prstGeom prst="roundRect">
            <a:avLst>
              <a:gd name="adj" fmla="val 9184"/>
            </a:avLst>
          </a:prstGeom>
          <a:solidFill>
            <a:srgbClr val="FFFFFF"/>
          </a:solidFill>
          <a:ln w="12700">
            <a:solidFill>
              <a:srgbClr val="DADFDC"/>
            </a:solidFill>
            <a:prstDash val="solid"/>
          </a:ln>
        </p:spPr>
      </p:sp>
      <p:sp>
        <p:nvSpPr>
          <p:cNvPr id="18" name="Text 16"/>
          <p:cNvSpPr/>
          <p:nvPr/>
        </p:nvSpPr>
        <p:spPr>
          <a:xfrm>
            <a:off x="749808" y="3529584"/>
            <a:ext cx="640080" cy="603504"/>
          </a:xfrm>
          <a:prstGeom prst="rect">
            <a:avLst/>
          </a:prstGeom>
          <a:noFill/>
          <a:ln/>
        </p:spPr>
        <p:txBody>
          <a:bodyPr wrap="square" rtlCol="0" anchor="ctr"/>
          <a:lstStyle/>
          <a:p>
            <a:pPr algn="ctr" indent="0" marL="0">
              <a:buNone/>
            </a:pPr>
            <a:r>
              <a:rPr lang="en-US" sz="2600" b="1" dirty="0">
                <a:solidFill>
                  <a:srgbClr val="4FB8A5"/>
                </a:solidFill>
                <a:latin typeface="Cambria" pitchFamily="34" charset="0"/>
                <a:ea typeface="Cambria" pitchFamily="34" charset="-122"/>
                <a:cs typeface="Cambria" pitchFamily="34" charset="-120"/>
              </a:rPr>
              <a:t>01</a:t>
            </a:r>
            <a:endParaRPr lang="en-US" sz="2600" dirty="0"/>
          </a:p>
        </p:txBody>
      </p:sp>
      <p:sp>
        <p:nvSpPr>
          <p:cNvPr id="19" name="Text 17"/>
          <p:cNvSpPr/>
          <p:nvPr/>
        </p:nvSpPr>
        <p:spPr>
          <a:xfrm>
            <a:off x="1481328" y="3493008"/>
            <a:ext cx="4572000" cy="365760"/>
          </a:xfrm>
          <a:prstGeom prst="rect">
            <a:avLst/>
          </a:prstGeom>
          <a:noFill/>
          <a:ln/>
        </p:spPr>
        <p:txBody>
          <a:bodyPr wrap="square" rtlCol="0" anchor="ctr"/>
          <a:lstStyle/>
          <a:p>
            <a:pPr indent="0" marL="0">
              <a:buNone/>
            </a:pPr>
            <a:r>
              <a:rPr lang="en-US" sz="1500" b="1" dirty="0">
                <a:solidFill>
                  <a:srgbClr val="1C1C1E"/>
                </a:solidFill>
                <a:latin typeface="Calibri" pitchFamily="34" charset="0"/>
                <a:ea typeface="Calibri" pitchFamily="34" charset="-122"/>
                <a:cs typeface="Calibri" pitchFamily="34" charset="-120"/>
              </a:rPr>
              <a:t>BLEが切れると知能も消える</a:t>
            </a:r>
            <a:endParaRPr lang="en-US" sz="1500" dirty="0"/>
          </a:p>
        </p:txBody>
      </p:sp>
      <p:sp>
        <p:nvSpPr>
          <p:cNvPr id="20" name="Text 18"/>
          <p:cNvSpPr/>
          <p:nvPr/>
        </p:nvSpPr>
        <p:spPr>
          <a:xfrm>
            <a:off x="1481328" y="3840480"/>
            <a:ext cx="9875520" cy="365760"/>
          </a:xfrm>
          <a:prstGeom prst="rect">
            <a:avLst/>
          </a:prstGeom>
          <a:noFill/>
          <a:ln/>
        </p:spPr>
        <p:txBody>
          <a:bodyPr wrap="square" rtlCol="0" anchor="ctr"/>
          <a:lstStyle/>
          <a:p>
            <a:pPr indent="0" marL="0">
              <a:buNone/>
            </a:pPr>
            <a:r>
              <a:rPr lang="en-US" sz="1250" dirty="0">
                <a:solidFill>
                  <a:srgbClr val="5B6763"/>
                </a:solidFill>
                <a:latin typeface="Calibri" pitchFamily="34" charset="0"/>
                <a:ea typeface="Calibri" pitchFamily="34" charset="-122"/>
                <a:cs typeface="Calibri" pitchFamily="34" charset="-120"/>
              </a:rPr>
              <a:t>エッジで完結しないため、通信断＝データ喪失に直結する</a:t>
            </a:r>
            <a:endParaRPr lang="en-US" sz="1250" dirty="0"/>
          </a:p>
        </p:txBody>
      </p:sp>
      <p:sp>
        <p:nvSpPr>
          <p:cNvPr id="21" name="Shape 19"/>
          <p:cNvSpPr/>
          <p:nvPr/>
        </p:nvSpPr>
        <p:spPr>
          <a:xfrm>
            <a:off x="566928" y="4352544"/>
            <a:ext cx="11064240" cy="896112"/>
          </a:xfrm>
          <a:prstGeom prst="roundRect">
            <a:avLst>
              <a:gd name="adj" fmla="val 9184"/>
            </a:avLst>
          </a:prstGeom>
          <a:solidFill>
            <a:srgbClr val="FFFFFF"/>
          </a:solidFill>
          <a:ln w="12700">
            <a:solidFill>
              <a:srgbClr val="DADFDC"/>
            </a:solidFill>
            <a:prstDash val="solid"/>
          </a:ln>
        </p:spPr>
      </p:sp>
      <p:sp>
        <p:nvSpPr>
          <p:cNvPr id="22" name="Text 20"/>
          <p:cNvSpPr/>
          <p:nvPr/>
        </p:nvSpPr>
        <p:spPr>
          <a:xfrm>
            <a:off x="749808" y="4498848"/>
            <a:ext cx="640080" cy="603504"/>
          </a:xfrm>
          <a:prstGeom prst="rect">
            <a:avLst/>
          </a:prstGeom>
          <a:noFill/>
          <a:ln/>
        </p:spPr>
        <p:txBody>
          <a:bodyPr wrap="square" rtlCol="0" anchor="ctr"/>
          <a:lstStyle/>
          <a:p>
            <a:pPr algn="ctr" indent="0" marL="0">
              <a:buNone/>
            </a:pPr>
            <a:r>
              <a:rPr lang="en-US" sz="2600" b="1" dirty="0">
                <a:solidFill>
                  <a:srgbClr val="4FB8A5"/>
                </a:solidFill>
                <a:latin typeface="Cambria" pitchFamily="34" charset="0"/>
                <a:ea typeface="Cambria" pitchFamily="34" charset="-122"/>
                <a:cs typeface="Cambria" pitchFamily="34" charset="-120"/>
              </a:rPr>
              <a:t>02</a:t>
            </a:r>
            <a:endParaRPr lang="en-US" sz="2600" dirty="0"/>
          </a:p>
        </p:txBody>
      </p:sp>
      <p:sp>
        <p:nvSpPr>
          <p:cNvPr id="23" name="Text 21"/>
          <p:cNvSpPr/>
          <p:nvPr/>
        </p:nvSpPr>
        <p:spPr>
          <a:xfrm>
            <a:off x="1481328" y="4462272"/>
            <a:ext cx="4572000" cy="365760"/>
          </a:xfrm>
          <a:prstGeom prst="rect">
            <a:avLst/>
          </a:prstGeom>
          <a:noFill/>
          <a:ln/>
        </p:spPr>
        <p:txBody>
          <a:bodyPr wrap="square" rtlCol="0" anchor="ctr"/>
          <a:lstStyle/>
          <a:p>
            <a:pPr indent="0" marL="0">
              <a:buNone/>
            </a:pPr>
            <a:r>
              <a:rPr lang="en-US" sz="1500" b="1" dirty="0">
                <a:solidFill>
                  <a:srgbClr val="1C1C1E"/>
                </a:solidFill>
                <a:latin typeface="Calibri" pitchFamily="34" charset="0"/>
                <a:ea typeface="Calibri" pitchFamily="34" charset="-122"/>
                <a:cs typeface="Calibri" pitchFamily="34" charset="-120"/>
              </a:rPr>
              <a:t>1Hz生値の垂れ流し</a:t>
            </a:r>
            <a:endParaRPr lang="en-US" sz="1500" dirty="0"/>
          </a:p>
        </p:txBody>
      </p:sp>
      <p:sp>
        <p:nvSpPr>
          <p:cNvPr id="24" name="Text 22"/>
          <p:cNvSpPr/>
          <p:nvPr/>
        </p:nvSpPr>
        <p:spPr>
          <a:xfrm>
            <a:off x="1481328" y="4809744"/>
            <a:ext cx="9875520" cy="365760"/>
          </a:xfrm>
          <a:prstGeom prst="rect">
            <a:avLst/>
          </a:prstGeom>
          <a:noFill/>
          <a:ln/>
        </p:spPr>
        <p:txBody>
          <a:bodyPr wrap="square" rtlCol="0" anchor="ctr"/>
          <a:lstStyle/>
          <a:p>
            <a:pPr indent="0" marL="0">
              <a:buNone/>
            </a:pPr>
            <a:r>
              <a:rPr lang="en-US" sz="1250" dirty="0">
                <a:solidFill>
                  <a:srgbClr val="5B6763"/>
                </a:solidFill>
                <a:latin typeface="Calibri" pitchFamily="34" charset="0"/>
                <a:ea typeface="Calibri" pitchFamily="34" charset="-122"/>
                <a:cs typeface="Calibri" pitchFamily="34" charset="-120"/>
              </a:rPr>
              <a:t>電力と帯域の無駄。9600bpsのUART層も占有し続ける</a:t>
            </a:r>
            <a:endParaRPr lang="en-US" sz="1250" dirty="0"/>
          </a:p>
        </p:txBody>
      </p:sp>
      <p:sp>
        <p:nvSpPr>
          <p:cNvPr id="25" name="Shape 23"/>
          <p:cNvSpPr/>
          <p:nvPr/>
        </p:nvSpPr>
        <p:spPr>
          <a:xfrm>
            <a:off x="566928" y="5321808"/>
            <a:ext cx="11064240" cy="896112"/>
          </a:xfrm>
          <a:prstGeom prst="roundRect">
            <a:avLst>
              <a:gd name="adj" fmla="val 9184"/>
            </a:avLst>
          </a:prstGeom>
          <a:solidFill>
            <a:srgbClr val="FFFFFF"/>
          </a:solidFill>
          <a:ln w="12700">
            <a:solidFill>
              <a:srgbClr val="DADFDC"/>
            </a:solidFill>
            <a:prstDash val="solid"/>
          </a:ln>
        </p:spPr>
      </p:sp>
      <p:sp>
        <p:nvSpPr>
          <p:cNvPr id="26" name="Text 24"/>
          <p:cNvSpPr/>
          <p:nvPr/>
        </p:nvSpPr>
        <p:spPr>
          <a:xfrm>
            <a:off x="749808" y="5468112"/>
            <a:ext cx="640080" cy="603504"/>
          </a:xfrm>
          <a:prstGeom prst="rect">
            <a:avLst/>
          </a:prstGeom>
          <a:noFill/>
          <a:ln/>
        </p:spPr>
        <p:txBody>
          <a:bodyPr wrap="square" rtlCol="0" anchor="ctr"/>
          <a:lstStyle/>
          <a:p>
            <a:pPr algn="ctr" indent="0" marL="0">
              <a:buNone/>
            </a:pPr>
            <a:r>
              <a:rPr lang="en-US" sz="2600" b="1" dirty="0">
                <a:solidFill>
                  <a:srgbClr val="4FB8A5"/>
                </a:solidFill>
                <a:latin typeface="Cambria" pitchFamily="34" charset="0"/>
                <a:ea typeface="Cambria" pitchFamily="34" charset="-122"/>
                <a:cs typeface="Cambria" pitchFamily="34" charset="-120"/>
              </a:rPr>
              <a:t>03</a:t>
            </a:r>
            <a:endParaRPr lang="en-US" sz="2600" dirty="0"/>
          </a:p>
        </p:txBody>
      </p:sp>
      <p:sp>
        <p:nvSpPr>
          <p:cNvPr id="27" name="Text 25"/>
          <p:cNvSpPr/>
          <p:nvPr/>
        </p:nvSpPr>
        <p:spPr>
          <a:xfrm>
            <a:off x="1481328" y="5431536"/>
            <a:ext cx="4572000" cy="365760"/>
          </a:xfrm>
          <a:prstGeom prst="rect">
            <a:avLst/>
          </a:prstGeom>
          <a:noFill/>
          <a:ln/>
        </p:spPr>
        <p:txBody>
          <a:bodyPr wrap="square" rtlCol="0" anchor="ctr"/>
          <a:lstStyle/>
          <a:p>
            <a:pPr indent="0" marL="0">
              <a:buNone/>
            </a:pPr>
            <a:r>
              <a:rPr lang="en-US" sz="1500" b="1" dirty="0">
                <a:solidFill>
                  <a:srgbClr val="1C1C1E"/>
                </a:solidFill>
                <a:latin typeface="Calibri" pitchFamily="34" charset="0"/>
                <a:ea typeface="Calibri" pitchFamily="34" charset="-122"/>
                <a:cs typeface="Calibri" pitchFamily="34" charset="-120"/>
              </a:rPr>
              <a:t>「測定の質」を誰も評価しない</a:t>
            </a:r>
            <a:endParaRPr lang="en-US" sz="1500" dirty="0"/>
          </a:p>
        </p:txBody>
      </p:sp>
      <p:sp>
        <p:nvSpPr>
          <p:cNvPr id="28" name="Text 26"/>
          <p:cNvSpPr/>
          <p:nvPr/>
        </p:nvSpPr>
        <p:spPr>
          <a:xfrm>
            <a:off x="1481328" y="5779008"/>
            <a:ext cx="9875520" cy="365760"/>
          </a:xfrm>
          <a:prstGeom prst="rect">
            <a:avLst/>
          </a:prstGeom>
          <a:noFill/>
          <a:ln/>
        </p:spPr>
        <p:txBody>
          <a:bodyPr wrap="square" rtlCol="0" anchor="ctr"/>
          <a:lstStyle/>
          <a:p>
            <a:pPr indent="0" marL="0">
              <a:buNone/>
            </a:pPr>
            <a:r>
              <a:rPr lang="en-US" sz="1250" dirty="0">
                <a:solidFill>
                  <a:srgbClr val="5B6763"/>
                </a:solidFill>
                <a:latin typeface="Calibri" pitchFamily="34" charset="0"/>
                <a:ea typeface="Calibri" pitchFamily="34" charset="-122"/>
                <a:cs typeface="Calibri" pitchFamily="34" charset="-120"/>
              </a:rPr>
              <a:t>犬が呼気を出していなくても数値は出る → 研究データの信頼性が担保できない</a:t>
            </a:r>
            <a:endParaRPr lang="en-US" sz="1250" dirty="0"/>
          </a:p>
        </p:txBody>
      </p:sp>
      <p:sp>
        <p:nvSpPr>
          <p:cNvPr id="29" name="Text 27"/>
          <p:cNvSpPr/>
          <p:nvPr/>
        </p:nvSpPr>
        <p:spPr>
          <a:xfrm>
            <a:off x="566928" y="6355080"/>
            <a:ext cx="11064240" cy="365760"/>
          </a:xfrm>
          <a:prstGeom prst="rect">
            <a:avLst/>
          </a:prstGeom>
          <a:noFill/>
          <a:ln/>
        </p:spPr>
        <p:txBody>
          <a:bodyPr wrap="square" rtlCol="0" anchor="ctr"/>
          <a:lstStyle/>
          <a:p>
            <a:pPr indent="0" marL="0">
              <a:buNone/>
            </a:pPr>
            <a:r>
              <a:rPr lang="en-US" sz="1400" b="1" dirty="0">
                <a:solidFill>
                  <a:srgbClr val="12766B"/>
                </a:solidFill>
                <a:latin typeface="Calibri" pitchFamily="34" charset="0"/>
                <a:ea typeface="Calibri" pitchFamily="34" charset="-122"/>
                <a:cs typeface="Calibri" pitchFamily="34" charset="-120"/>
              </a:rPr>
              <a:t>→ HydroPawの研究的コア：呼気を「イベント」としてセンサノード上で検出・切り出し・採点する</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HydroPaw 全体アーキテクチャ</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02</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965960"/>
            <a:ext cx="1993392" cy="1828800"/>
          </a:xfrm>
          <a:prstGeom prst="roundRect">
            <a:avLst>
              <a:gd name="adj" fmla="val 4500"/>
            </a:avLst>
          </a:prstGeom>
          <a:solidFill>
            <a:srgbClr val="D9EBE7"/>
          </a:solidFill>
          <a:ln w="12700">
            <a:solidFill>
              <a:srgbClr val="4FB8A5"/>
            </a:solidFill>
            <a:prstDash val="solid"/>
          </a:ln>
        </p:spPr>
      </p:sp>
      <p:sp>
        <p:nvSpPr>
          <p:cNvPr id="7" name="Shape 5"/>
          <p:cNvSpPr/>
          <p:nvPr/>
        </p:nvSpPr>
        <p:spPr>
          <a:xfrm>
            <a:off x="1307592" y="2203704"/>
            <a:ext cx="512064" cy="512064"/>
          </a:xfrm>
          <a:prstGeom prst="ellipse">
            <a:avLst/>
          </a:prstGeom>
          <a:solidFill>
            <a:srgbClr val="FFFFFF"/>
          </a:solidFill>
          <a:ln w="15240">
            <a:solidFill>
              <a:srgbClr val="4FB8A5"/>
            </a:solidFill>
            <a:prstDash val="solid"/>
          </a:ln>
        </p:spPr>
      </p:sp>
      <p:sp>
        <p:nvSpPr>
          <p:cNvPr id="8" name="Text 6"/>
          <p:cNvSpPr/>
          <p:nvPr/>
        </p:nvSpPr>
        <p:spPr>
          <a:xfrm>
            <a:off x="566928" y="2834640"/>
            <a:ext cx="1993392" cy="365760"/>
          </a:xfrm>
          <a:prstGeom prst="rect">
            <a:avLst/>
          </a:prstGeom>
          <a:noFill/>
          <a:ln/>
        </p:spPr>
        <p:txBody>
          <a:bodyPr wrap="square" rtlCol="0" anchor="ctr"/>
          <a:lstStyle/>
          <a:p>
            <a:pPr algn="ctr" indent="0" marL="0">
              <a:buNone/>
            </a:pPr>
            <a:r>
              <a:rPr lang="en-US" sz="1400" b="1" dirty="0">
                <a:solidFill>
                  <a:srgbClr val="12766B"/>
                </a:solidFill>
                <a:latin typeface="Calibri" pitchFamily="34" charset="0"/>
                <a:ea typeface="Calibri" pitchFamily="34" charset="-122"/>
                <a:cs typeface="Calibri" pitchFamily="34" charset="-120"/>
              </a:rPr>
              <a:t>犬の呼気</a:t>
            </a:r>
            <a:endParaRPr lang="en-US" sz="1400" dirty="0"/>
          </a:p>
        </p:txBody>
      </p:sp>
      <p:sp>
        <p:nvSpPr>
          <p:cNvPr id="9" name="Text 7"/>
          <p:cNvSpPr/>
          <p:nvPr/>
        </p:nvSpPr>
        <p:spPr>
          <a:xfrm>
            <a:off x="566928" y="3172968"/>
            <a:ext cx="1993392" cy="320040"/>
          </a:xfrm>
          <a:prstGeom prst="rect">
            <a:avLst/>
          </a:prstGeom>
          <a:noFill/>
          <a:ln/>
        </p:spPr>
        <p:txBody>
          <a:bodyPr wrap="square" rtlCol="0" anchor="ctr"/>
          <a:lstStyle/>
          <a:p>
            <a:pPr algn="ctr" indent="0" marL="0">
              <a:buNone/>
            </a:pPr>
            <a:r>
              <a:rPr lang="en-US" sz="1150" dirty="0">
                <a:solidFill>
                  <a:srgbClr val="5B6763"/>
                </a:solidFill>
                <a:latin typeface="Calibri" pitchFamily="34" charset="0"/>
                <a:ea typeface="Calibri" pitchFamily="34" charset="-122"/>
                <a:cs typeface="Calibri" pitchFamily="34" charset="-120"/>
              </a:rPr>
              <a:t>DGS2 H2センサ</a:t>
            </a:r>
            <a:endParaRPr lang="en-US" sz="1150" dirty="0"/>
          </a:p>
        </p:txBody>
      </p:sp>
      <p:sp>
        <p:nvSpPr>
          <p:cNvPr id="10" name="Text 8"/>
          <p:cNvSpPr/>
          <p:nvPr/>
        </p:nvSpPr>
        <p:spPr>
          <a:xfrm>
            <a:off x="566928" y="3447288"/>
            <a:ext cx="1993392" cy="274320"/>
          </a:xfrm>
          <a:prstGeom prst="rect">
            <a:avLst/>
          </a:prstGeom>
          <a:noFill/>
          <a:ln/>
        </p:spPr>
        <p:txBody>
          <a:bodyPr wrap="square" rtlCol="0" anchor="ctr"/>
          <a:lstStyle/>
          <a:p>
            <a:pPr algn="ctr" indent="0" marL="0">
              <a:buNone/>
            </a:pPr>
            <a:r>
              <a:rPr lang="en-US" sz="950" i="1" dirty="0">
                <a:solidFill>
                  <a:srgbClr val="4FB8A5"/>
                </a:solidFill>
                <a:latin typeface="Calibri" pitchFamily="34" charset="0"/>
                <a:ea typeface="Calibri" pitchFamily="34" charset="-122"/>
                <a:cs typeface="Calibri" pitchFamily="34" charset="-120"/>
              </a:rPr>
              <a:t>UART CSV / 1Hz</a:t>
            </a:r>
            <a:endParaRPr lang="en-US" sz="950" dirty="0"/>
          </a:p>
        </p:txBody>
      </p:sp>
      <p:sp>
        <p:nvSpPr>
          <p:cNvPr id="11" name="Shape 9"/>
          <p:cNvSpPr/>
          <p:nvPr/>
        </p:nvSpPr>
        <p:spPr>
          <a:xfrm>
            <a:off x="2578608" y="2880360"/>
            <a:ext cx="219456" cy="0"/>
          </a:xfrm>
          <a:prstGeom prst="line">
            <a:avLst/>
          </a:prstGeom>
          <a:noFill/>
          <a:ln w="27940">
            <a:solidFill>
              <a:srgbClr val="12766B"/>
            </a:solidFill>
            <a:prstDash val="solid"/>
            <a:tailEnd type="triangle"/>
          </a:ln>
        </p:spPr>
      </p:sp>
      <p:sp>
        <p:nvSpPr>
          <p:cNvPr id="12" name="Shape 10"/>
          <p:cNvSpPr/>
          <p:nvPr/>
        </p:nvSpPr>
        <p:spPr>
          <a:xfrm>
            <a:off x="2816352" y="1965960"/>
            <a:ext cx="1993392" cy="1828800"/>
          </a:xfrm>
          <a:prstGeom prst="roundRect">
            <a:avLst>
              <a:gd name="adj" fmla="val 4500"/>
            </a:avLst>
          </a:prstGeom>
          <a:solidFill>
            <a:srgbClr val="12766B"/>
          </a:solidFill>
          <a:ln w="12700">
            <a:solidFill>
              <a:srgbClr val="4FB8A5"/>
            </a:solidFill>
            <a:prstDash val="solid"/>
          </a:ln>
          <a:effectLst>
            <a:outerShdw sx="100000" sy="100000" kx="0" ky="0" algn="bl" rotWithShape="0" blurRad="101600" dist="38100" dir="5400000">
              <a:srgbClr val="9AA5A0">
                <a:alpha val="28000"/>
              </a:srgbClr>
            </a:outerShdw>
          </a:effectLst>
        </p:spPr>
      </p:sp>
      <p:sp>
        <p:nvSpPr>
          <p:cNvPr id="13" name="Shape 11"/>
          <p:cNvSpPr/>
          <p:nvPr/>
        </p:nvSpPr>
        <p:spPr>
          <a:xfrm>
            <a:off x="3493008" y="2167128"/>
            <a:ext cx="640080" cy="640080"/>
          </a:xfrm>
          <a:prstGeom prst="ellipse">
            <a:avLst/>
          </a:prstGeom>
          <a:solidFill>
            <a:srgbClr val="4FB8A5"/>
          </a:solidFill>
          <a:ln/>
        </p:spPr>
      </p:sp>
      <p:sp>
        <p:nvSpPr>
          <p:cNvPr id="14" name="Shape 12"/>
          <p:cNvSpPr/>
          <p:nvPr/>
        </p:nvSpPr>
        <p:spPr>
          <a:xfrm>
            <a:off x="3774323" y="2499970"/>
            <a:ext cx="133777" cy="119695"/>
          </a:xfrm>
          <a:prstGeom prst="ellipse">
            <a:avLst/>
          </a:prstGeom>
          <a:solidFill>
            <a:srgbClr val="FFFFFF"/>
          </a:solidFill>
          <a:ln/>
        </p:spPr>
      </p:sp>
      <p:sp>
        <p:nvSpPr>
          <p:cNvPr id="15" name="Shape 13"/>
          <p:cNvSpPr/>
          <p:nvPr/>
        </p:nvSpPr>
        <p:spPr>
          <a:xfrm>
            <a:off x="3656868" y="2384755"/>
            <a:ext cx="59847" cy="73929"/>
          </a:xfrm>
          <a:prstGeom prst="ellipse">
            <a:avLst/>
          </a:prstGeom>
          <a:solidFill>
            <a:srgbClr val="FFFFFF"/>
          </a:solidFill>
          <a:ln/>
        </p:spPr>
      </p:sp>
      <p:sp>
        <p:nvSpPr>
          <p:cNvPr id="16" name="Shape 14"/>
          <p:cNvSpPr/>
          <p:nvPr/>
        </p:nvSpPr>
        <p:spPr>
          <a:xfrm>
            <a:off x="3797686" y="2346350"/>
            <a:ext cx="59847" cy="73929"/>
          </a:xfrm>
          <a:prstGeom prst="ellipse">
            <a:avLst/>
          </a:prstGeom>
          <a:solidFill>
            <a:srgbClr val="FFFFFF"/>
          </a:solidFill>
          <a:ln/>
        </p:spPr>
      </p:sp>
      <p:sp>
        <p:nvSpPr>
          <p:cNvPr id="17" name="Shape 15"/>
          <p:cNvSpPr/>
          <p:nvPr/>
        </p:nvSpPr>
        <p:spPr>
          <a:xfrm>
            <a:off x="3938504" y="2384755"/>
            <a:ext cx="59847" cy="73929"/>
          </a:xfrm>
          <a:prstGeom prst="ellipse">
            <a:avLst/>
          </a:prstGeom>
          <a:solidFill>
            <a:srgbClr val="FFFFFF"/>
          </a:solidFill>
          <a:ln/>
        </p:spPr>
      </p:sp>
      <p:sp>
        <p:nvSpPr>
          <p:cNvPr id="18" name="Text 16"/>
          <p:cNvSpPr/>
          <p:nvPr/>
        </p:nvSpPr>
        <p:spPr>
          <a:xfrm>
            <a:off x="2816352" y="2834640"/>
            <a:ext cx="1993392" cy="36576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STM32L452RE</a:t>
            </a:r>
            <a:endParaRPr lang="en-US" sz="1400" dirty="0"/>
          </a:p>
        </p:txBody>
      </p:sp>
      <p:sp>
        <p:nvSpPr>
          <p:cNvPr id="19" name="Text 17"/>
          <p:cNvSpPr/>
          <p:nvPr/>
        </p:nvSpPr>
        <p:spPr>
          <a:xfrm>
            <a:off x="2816352" y="3172968"/>
            <a:ext cx="1993392" cy="320040"/>
          </a:xfrm>
          <a:prstGeom prst="rect">
            <a:avLst/>
          </a:prstGeom>
          <a:noFill/>
          <a:ln/>
        </p:spPr>
        <p:txBody>
          <a:bodyPr wrap="square" rtlCol="0" anchor="ctr"/>
          <a:lstStyle/>
          <a:p>
            <a:pPr algn="ctr" indent="0" marL="0">
              <a:buNone/>
            </a:pPr>
            <a:r>
              <a:rPr lang="en-US" sz="1150" dirty="0">
                <a:solidFill>
                  <a:srgbClr val="CFE7E1"/>
                </a:solidFill>
                <a:latin typeface="Calibri" pitchFamily="34" charset="0"/>
                <a:ea typeface="Calibri" pitchFamily="34" charset="-122"/>
                <a:cs typeface="Calibri" pitchFamily="34" charset="-120"/>
              </a:rPr>
              <a:t>BAP エッジ処理</a:t>
            </a:r>
            <a:endParaRPr lang="en-US" sz="1150" dirty="0"/>
          </a:p>
        </p:txBody>
      </p:sp>
      <p:sp>
        <p:nvSpPr>
          <p:cNvPr id="20" name="Text 18"/>
          <p:cNvSpPr/>
          <p:nvPr/>
        </p:nvSpPr>
        <p:spPr>
          <a:xfrm>
            <a:off x="2816352" y="3447288"/>
            <a:ext cx="1993392" cy="274320"/>
          </a:xfrm>
          <a:prstGeom prst="rect">
            <a:avLst/>
          </a:prstGeom>
          <a:noFill/>
          <a:ln/>
        </p:spPr>
        <p:txBody>
          <a:bodyPr wrap="square" rtlCol="0" anchor="ctr"/>
          <a:lstStyle/>
          <a:p>
            <a:pPr algn="ctr" indent="0" marL="0">
              <a:buNone/>
            </a:pPr>
            <a:r>
              <a:rPr lang="en-US" sz="950" i="1" dirty="0">
                <a:solidFill>
                  <a:srgbClr val="A9D2CA"/>
                </a:solidFill>
                <a:latin typeface="Calibri" pitchFamily="34" charset="0"/>
                <a:ea typeface="Calibri" pitchFamily="34" charset="-122"/>
                <a:cs typeface="Calibri" pitchFamily="34" charset="-120"/>
              </a:rPr>
              <a:t>Leafony AP03</a:t>
            </a:r>
            <a:endParaRPr lang="en-US" sz="950" dirty="0"/>
          </a:p>
        </p:txBody>
      </p:sp>
      <p:sp>
        <p:nvSpPr>
          <p:cNvPr id="21" name="Shape 19"/>
          <p:cNvSpPr/>
          <p:nvPr/>
        </p:nvSpPr>
        <p:spPr>
          <a:xfrm>
            <a:off x="4828032" y="2880360"/>
            <a:ext cx="219456" cy="0"/>
          </a:xfrm>
          <a:prstGeom prst="line">
            <a:avLst/>
          </a:prstGeom>
          <a:noFill/>
          <a:ln w="27940">
            <a:solidFill>
              <a:srgbClr val="12766B"/>
            </a:solidFill>
            <a:prstDash val="solid"/>
            <a:tailEnd type="triangle"/>
          </a:ln>
        </p:spPr>
      </p:sp>
      <p:sp>
        <p:nvSpPr>
          <p:cNvPr id="22" name="Shape 20"/>
          <p:cNvSpPr/>
          <p:nvPr/>
        </p:nvSpPr>
        <p:spPr>
          <a:xfrm>
            <a:off x="5065776" y="1965960"/>
            <a:ext cx="1993392" cy="1828800"/>
          </a:xfrm>
          <a:prstGeom prst="roundRect">
            <a:avLst>
              <a:gd name="adj" fmla="val 4500"/>
            </a:avLst>
          </a:prstGeom>
          <a:solidFill>
            <a:srgbClr val="D9EBE7"/>
          </a:solidFill>
          <a:ln w="12700">
            <a:solidFill>
              <a:srgbClr val="4FB8A5"/>
            </a:solidFill>
            <a:prstDash val="solid"/>
          </a:ln>
        </p:spPr>
      </p:sp>
      <p:sp>
        <p:nvSpPr>
          <p:cNvPr id="23" name="Shape 21"/>
          <p:cNvSpPr/>
          <p:nvPr/>
        </p:nvSpPr>
        <p:spPr>
          <a:xfrm>
            <a:off x="5806440" y="2203704"/>
            <a:ext cx="512064" cy="512064"/>
          </a:xfrm>
          <a:prstGeom prst="ellipse">
            <a:avLst/>
          </a:prstGeom>
          <a:solidFill>
            <a:srgbClr val="FFFFFF"/>
          </a:solidFill>
          <a:ln w="15240">
            <a:solidFill>
              <a:srgbClr val="4FB8A5"/>
            </a:solidFill>
            <a:prstDash val="solid"/>
          </a:ln>
        </p:spPr>
      </p:sp>
      <p:sp>
        <p:nvSpPr>
          <p:cNvPr id="24" name="Text 22"/>
          <p:cNvSpPr/>
          <p:nvPr/>
        </p:nvSpPr>
        <p:spPr>
          <a:xfrm>
            <a:off x="5065776" y="2834640"/>
            <a:ext cx="1993392" cy="365760"/>
          </a:xfrm>
          <a:prstGeom prst="rect">
            <a:avLst/>
          </a:prstGeom>
          <a:noFill/>
          <a:ln/>
        </p:spPr>
        <p:txBody>
          <a:bodyPr wrap="square" rtlCol="0" anchor="ctr"/>
          <a:lstStyle/>
          <a:p>
            <a:pPr algn="ctr" indent="0" marL="0">
              <a:buNone/>
            </a:pPr>
            <a:r>
              <a:rPr lang="en-US" sz="1400" b="1" dirty="0">
                <a:solidFill>
                  <a:srgbClr val="12766B"/>
                </a:solidFill>
                <a:latin typeface="Calibri" pitchFamily="34" charset="0"/>
                <a:ea typeface="Calibri" pitchFamily="34" charset="-122"/>
                <a:cs typeface="Calibri" pitchFamily="34" charset="-120"/>
              </a:rPr>
              <a:t>AC02 BLE</a:t>
            </a:r>
            <a:endParaRPr lang="en-US" sz="1400" dirty="0"/>
          </a:p>
        </p:txBody>
      </p:sp>
      <p:sp>
        <p:nvSpPr>
          <p:cNvPr id="25" name="Text 23"/>
          <p:cNvSpPr/>
          <p:nvPr/>
        </p:nvSpPr>
        <p:spPr>
          <a:xfrm>
            <a:off x="5065776" y="3172968"/>
            <a:ext cx="1993392" cy="320040"/>
          </a:xfrm>
          <a:prstGeom prst="rect">
            <a:avLst/>
          </a:prstGeom>
          <a:noFill/>
          <a:ln/>
        </p:spPr>
        <p:txBody>
          <a:bodyPr wrap="square" rtlCol="0" anchor="ctr"/>
          <a:lstStyle/>
          <a:p>
            <a:pPr algn="ctr" indent="0" marL="0">
              <a:buNone/>
            </a:pPr>
            <a:r>
              <a:rPr lang="en-US" sz="1150" dirty="0">
                <a:solidFill>
                  <a:srgbClr val="5B6763"/>
                </a:solidFill>
                <a:latin typeface="Calibri" pitchFamily="34" charset="0"/>
                <a:ea typeface="Calibri" pitchFamily="34" charset="-122"/>
                <a:cs typeface="Calibri" pitchFamily="34" charset="-120"/>
              </a:rPr>
              <a:t>HPP v1.2 / ARQ</a:t>
            </a:r>
            <a:endParaRPr lang="en-US" sz="1150" dirty="0"/>
          </a:p>
        </p:txBody>
      </p:sp>
      <p:sp>
        <p:nvSpPr>
          <p:cNvPr id="26" name="Text 24"/>
          <p:cNvSpPr/>
          <p:nvPr/>
        </p:nvSpPr>
        <p:spPr>
          <a:xfrm>
            <a:off x="5065776" y="3447288"/>
            <a:ext cx="1993392" cy="274320"/>
          </a:xfrm>
          <a:prstGeom prst="rect">
            <a:avLst/>
          </a:prstGeom>
          <a:noFill/>
          <a:ln/>
        </p:spPr>
        <p:txBody>
          <a:bodyPr wrap="square" rtlCol="0" anchor="ctr"/>
          <a:lstStyle/>
          <a:p>
            <a:pPr algn="ctr" indent="0" marL="0">
              <a:buNone/>
            </a:pPr>
            <a:r>
              <a:rPr lang="en-US" sz="950" i="1" dirty="0">
                <a:solidFill>
                  <a:srgbClr val="4FB8A5"/>
                </a:solidFill>
                <a:latin typeface="Calibri" pitchFamily="34" charset="0"/>
                <a:ea typeface="Calibri" pitchFamily="34" charset="-122"/>
                <a:cs typeface="Calibri" pitchFamily="34" charset="-120"/>
              </a:rPr>
              <a:t>選択的信頼配送</a:t>
            </a:r>
            <a:endParaRPr lang="en-US" sz="950" dirty="0"/>
          </a:p>
        </p:txBody>
      </p:sp>
      <p:sp>
        <p:nvSpPr>
          <p:cNvPr id="27" name="Shape 25"/>
          <p:cNvSpPr/>
          <p:nvPr/>
        </p:nvSpPr>
        <p:spPr>
          <a:xfrm>
            <a:off x="7077456" y="2880360"/>
            <a:ext cx="219456" cy="0"/>
          </a:xfrm>
          <a:prstGeom prst="line">
            <a:avLst/>
          </a:prstGeom>
          <a:noFill/>
          <a:ln w="27940">
            <a:solidFill>
              <a:srgbClr val="12766B"/>
            </a:solidFill>
            <a:prstDash val="solid"/>
            <a:tailEnd type="triangle"/>
          </a:ln>
        </p:spPr>
      </p:sp>
      <p:sp>
        <p:nvSpPr>
          <p:cNvPr id="28" name="Shape 26"/>
          <p:cNvSpPr/>
          <p:nvPr/>
        </p:nvSpPr>
        <p:spPr>
          <a:xfrm>
            <a:off x="7315200" y="1965960"/>
            <a:ext cx="1993392" cy="1828800"/>
          </a:xfrm>
          <a:prstGeom prst="roundRect">
            <a:avLst>
              <a:gd name="adj" fmla="val 4500"/>
            </a:avLst>
          </a:prstGeom>
          <a:solidFill>
            <a:srgbClr val="D9EBE7"/>
          </a:solidFill>
          <a:ln w="12700">
            <a:solidFill>
              <a:srgbClr val="4FB8A5"/>
            </a:solidFill>
            <a:prstDash val="solid"/>
          </a:ln>
        </p:spPr>
      </p:sp>
      <p:sp>
        <p:nvSpPr>
          <p:cNvPr id="29" name="Shape 27"/>
          <p:cNvSpPr/>
          <p:nvPr/>
        </p:nvSpPr>
        <p:spPr>
          <a:xfrm>
            <a:off x="8055864" y="2203704"/>
            <a:ext cx="512064" cy="512064"/>
          </a:xfrm>
          <a:prstGeom prst="ellipse">
            <a:avLst/>
          </a:prstGeom>
          <a:solidFill>
            <a:srgbClr val="FFFFFF"/>
          </a:solidFill>
          <a:ln w="15240">
            <a:solidFill>
              <a:srgbClr val="4FB8A5"/>
            </a:solidFill>
            <a:prstDash val="solid"/>
          </a:ln>
        </p:spPr>
      </p:sp>
      <p:sp>
        <p:nvSpPr>
          <p:cNvPr id="30" name="Text 28"/>
          <p:cNvSpPr/>
          <p:nvPr/>
        </p:nvSpPr>
        <p:spPr>
          <a:xfrm>
            <a:off x="7315200" y="2834640"/>
            <a:ext cx="1993392" cy="365760"/>
          </a:xfrm>
          <a:prstGeom prst="rect">
            <a:avLst/>
          </a:prstGeom>
          <a:noFill/>
          <a:ln/>
        </p:spPr>
        <p:txBody>
          <a:bodyPr wrap="square" rtlCol="0" anchor="ctr"/>
          <a:lstStyle/>
          <a:p>
            <a:pPr algn="ctr" indent="0" marL="0">
              <a:buNone/>
            </a:pPr>
            <a:r>
              <a:rPr lang="en-US" sz="1400" b="1" dirty="0">
                <a:solidFill>
                  <a:srgbClr val="12766B"/>
                </a:solidFill>
                <a:latin typeface="Calibri" pitchFamily="34" charset="0"/>
                <a:ea typeface="Calibri" pitchFamily="34" charset="-122"/>
                <a:cs typeface="Calibri" pitchFamily="34" charset="-120"/>
              </a:rPr>
              <a:t>Flutter / Web</a:t>
            </a:r>
            <a:endParaRPr lang="en-US" sz="1400" dirty="0"/>
          </a:p>
        </p:txBody>
      </p:sp>
      <p:sp>
        <p:nvSpPr>
          <p:cNvPr id="31" name="Text 29"/>
          <p:cNvSpPr/>
          <p:nvPr/>
        </p:nvSpPr>
        <p:spPr>
          <a:xfrm>
            <a:off x="7315200" y="3172968"/>
            <a:ext cx="1993392" cy="320040"/>
          </a:xfrm>
          <a:prstGeom prst="rect">
            <a:avLst/>
          </a:prstGeom>
          <a:noFill/>
          <a:ln/>
        </p:spPr>
        <p:txBody>
          <a:bodyPr wrap="square" rtlCol="0" anchor="ctr"/>
          <a:lstStyle/>
          <a:p>
            <a:pPr algn="ctr" indent="0" marL="0">
              <a:buNone/>
            </a:pPr>
            <a:r>
              <a:rPr lang="en-US" sz="1150" dirty="0">
                <a:solidFill>
                  <a:srgbClr val="5B6763"/>
                </a:solidFill>
                <a:latin typeface="Calibri" pitchFamily="34" charset="0"/>
                <a:ea typeface="Calibri" pitchFamily="34" charset="-122"/>
                <a:cs typeface="Calibri" pitchFamily="34" charset="-120"/>
              </a:rPr>
              <a:t>意味への変換UI</a:t>
            </a:r>
            <a:endParaRPr lang="en-US" sz="1150" dirty="0"/>
          </a:p>
        </p:txBody>
      </p:sp>
      <p:sp>
        <p:nvSpPr>
          <p:cNvPr id="32" name="Text 30"/>
          <p:cNvSpPr/>
          <p:nvPr/>
        </p:nvSpPr>
        <p:spPr>
          <a:xfrm>
            <a:off x="7315200" y="3447288"/>
            <a:ext cx="1993392" cy="274320"/>
          </a:xfrm>
          <a:prstGeom prst="rect">
            <a:avLst/>
          </a:prstGeom>
          <a:noFill/>
          <a:ln/>
        </p:spPr>
        <p:txBody>
          <a:bodyPr wrap="square" rtlCol="0" anchor="ctr"/>
          <a:lstStyle/>
          <a:p>
            <a:pPr algn="ctr" indent="0" marL="0">
              <a:buNone/>
            </a:pPr>
            <a:r>
              <a:rPr lang="en-US" sz="950" i="1" dirty="0">
                <a:solidFill>
                  <a:srgbClr val="4FB8A5"/>
                </a:solidFill>
                <a:latin typeface="Calibri" pitchFamily="34" charset="0"/>
                <a:ea typeface="Calibri" pitchFamily="34" charset="-122"/>
                <a:cs typeface="Calibri" pitchFamily="34" charset="-120"/>
              </a:rPr>
              <a:t>Riverpod / SPA</a:t>
            </a:r>
            <a:endParaRPr lang="en-US" sz="950" dirty="0"/>
          </a:p>
        </p:txBody>
      </p:sp>
      <p:sp>
        <p:nvSpPr>
          <p:cNvPr id="33" name="Shape 31"/>
          <p:cNvSpPr/>
          <p:nvPr/>
        </p:nvSpPr>
        <p:spPr>
          <a:xfrm>
            <a:off x="9326880" y="2880360"/>
            <a:ext cx="219456" cy="0"/>
          </a:xfrm>
          <a:prstGeom prst="line">
            <a:avLst/>
          </a:prstGeom>
          <a:noFill/>
          <a:ln w="27940">
            <a:solidFill>
              <a:srgbClr val="12766B"/>
            </a:solidFill>
            <a:prstDash val="solid"/>
            <a:tailEnd type="triangle"/>
          </a:ln>
        </p:spPr>
      </p:sp>
      <p:sp>
        <p:nvSpPr>
          <p:cNvPr id="34" name="Shape 32"/>
          <p:cNvSpPr/>
          <p:nvPr/>
        </p:nvSpPr>
        <p:spPr>
          <a:xfrm>
            <a:off x="9564624" y="1965960"/>
            <a:ext cx="1993392" cy="1828800"/>
          </a:xfrm>
          <a:prstGeom prst="roundRect">
            <a:avLst>
              <a:gd name="adj" fmla="val 4500"/>
            </a:avLst>
          </a:prstGeom>
          <a:solidFill>
            <a:srgbClr val="D9EBE7"/>
          </a:solidFill>
          <a:ln w="12700">
            <a:solidFill>
              <a:srgbClr val="4FB8A5"/>
            </a:solidFill>
            <a:prstDash val="solid"/>
          </a:ln>
        </p:spPr>
      </p:sp>
      <p:sp>
        <p:nvSpPr>
          <p:cNvPr id="35" name="Shape 33"/>
          <p:cNvSpPr/>
          <p:nvPr/>
        </p:nvSpPr>
        <p:spPr>
          <a:xfrm>
            <a:off x="10305288" y="2203704"/>
            <a:ext cx="512064" cy="512064"/>
          </a:xfrm>
          <a:prstGeom prst="ellipse">
            <a:avLst/>
          </a:prstGeom>
          <a:solidFill>
            <a:srgbClr val="FFFFFF"/>
          </a:solidFill>
          <a:ln w="15240">
            <a:solidFill>
              <a:srgbClr val="4FB8A5"/>
            </a:solidFill>
            <a:prstDash val="solid"/>
          </a:ln>
        </p:spPr>
      </p:sp>
      <p:sp>
        <p:nvSpPr>
          <p:cNvPr id="36" name="Text 34"/>
          <p:cNvSpPr/>
          <p:nvPr/>
        </p:nvSpPr>
        <p:spPr>
          <a:xfrm>
            <a:off x="9564624" y="2834640"/>
            <a:ext cx="1993392" cy="365760"/>
          </a:xfrm>
          <a:prstGeom prst="rect">
            <a:avLst/>
          </a:prstGeom>
          <a:noFill/>
          <a:ln/>
        </p:spPr>
        <p:txBody>
          <a:bodyPr wrap="square" rtlCol="0" anchor="ctr"/>
          <a:lstStyle/>
          <a:p>
            <a:pPr algn="ctr" indent="0" marL="0">
              <a:buNone/>
            </a:pPr>
            <a:r>
              <a:rPr lang="en-US" sz="1400" b="1" dirty="0">
                <a:solidFill>
                  <a:srgbClr val="12766B"/>
                </a:solidFill>
                <a:latin typeface="Calibri" pitchFamily="34" charset="0"/>
                <a:ea typeface="Calibri" pitchFamily="34" charset="-122"/>
                <a:cs typeface="Calibri" pitchFamily="34" charset="-120"/>
              </a:rPr>
              <a:t>Firebase</a:t>
            </a:r>
            <a:endParaRPr lang="en-US" sz="1400" dirty="0"/>
          </a:p>
        </p:txBody>
      </p:sp>
      <p:sp>
        <p:nvSpPr>
          <p:cNvPr id="37" name="Text 35"/>
          <p:cNvSpPr/>
          <p:nvPr/>
        </p:nvSpPr>
        <p:spPr>
          <a:xfrm>
            <a:off x="9564624" y="3172968"/>
            <a:ext cx="1993392" cy="320040"/>
          </a:xfrm>
          <a:prstGeom prst="rect">
            <a:avLst/>
          </a:prstGeom>
          <a:noFill/>
          <a:ln/>
        </p:spPr>
        <p:txBody>
          <a:bodyPr wrap="square" rtlCol="0" anchor="ctr"/>
          <a:lstStyle/>
          <a:p>
            <a:pPr algn="ctr" indent="0" marL="0">
              <a:buNone/>
            </a:pPr>
            <a:r>
              <a:rPr lang="en-US" sz="1150" dirty="0">
                <a:solidFill>
                  <a:srgbClr val="5B6763"/>
                </a:solidFill>
                <a:latin typeface="Calibri" pitchFamily="34" charset="0"/>
                <a:ea typeface="Calibri" pitchFamily="34" charset="-122"/>
                <a:cs typeface="Calibri" pitchFamily="34" charset="-120"/>
              </a:rPr>
              <a:t>記録・履歴</a:t>
            </a:r>
            <a:endParaRPr lang="en-US" sz="1150" dirty="0"/>
          </a:p>
        </p:txBody>
      </p:sp>
      <p:sp>
        <p:nvSpPr>
          <p:cNvPr id="38" name="Text 36"/>
          <p:cNvSpPr/>
          <p:nvPr/>
        </p:nvSpPr>
        <p:spPr>
          <a:xfrm>
            <a:off x="9564624" y="3447288"/>
            <a:ext cx="1993392" cy="274320"/>
          </a:xfrm>
          <a:prstGeom prst="rect">
            <a:avLst/>
          </a:prstGeom>
          <a:noFill/>
          <a:ln/>
        </p:spPr>
        <p:txBody>
          <a:bodyPr wrap="square" rtlCol="0" anchor="ctr"/>
          <a:lstStyle/>
          <a:p>
            <a:pPr algn="ctr" indent="0" marL="0">
              <a:buNone/>
            </a:pPr>
            <a:r>
              <a:rPr lang="en-US" sz="950" i="1" dirty="0">
                <a:solidFill>
                  <a:srgbClr val="4FB8A5"/>
                </a:solidFill>
                <a:latin typeface="Calibri" pitchFamily="34" charset="0"/>
                <a:ea typeface="Calibri" pitchFamily="34" charset="-122"/>
                <a:cs typeface="Calibri" pitchFamily="34" charset="-120"/>
              </a:rPr>
              <a:t>クラウド同期</a:t>
            </a:r>
            <a:endParaRPr lang="en-US" sz="950" dirty="0"/>
          </a:p>
        </p:txBody>
      </p:sp>
      <p:sp>
        <p:nvSpPr>
          <p:cNvPr id="39" name="Shape 37"/>
          <p:cNvSpPr/>
          <p:nvPr/>
        </p:nvSpPr>
        <p:spPr>
          <a:xfrm>
            <a:off x="566928" y="4160520"/>
            <a:ext cx="11064240" cy="960120"/>
          </a:xfrm>
          <a:prstGeom prst="roundRect">
            <a:avLst>
              <a:gd name="adj" fmla="val 8571"/>
            </a:avLst>
          </a:prstGeom>
          <a:solidFill>
            <a:srgbClr val="FFFFFF"/>
          </a:solidFill>
          <a:ln w="12700">
            <a:solidFill>
              <a:srgbClr val="DADFDC"/>
            </a:solidFill>
            <a:prstDash val="solid"/>
          </a:ln>
        </p:spPr>
      </p:sp>
      <p:sp>
        <p:nvSpPr>
          <p:cNvPr id="40" name="Text 38"/>
          <p:cNvSpPr/>
          <p:nvPr/>
        </p:nvSpPr>
        <p:spPr>
          <a:xfrm>
            <a:off x="795528" y="4279392"/>
            <a:ext cx="10607040" cy="365760"/>
          </a:xfrm>
          <a:prstGeom prst="rect">
            <a:avLst/>
          </a:prstGeom>
          <a:noFill/>
          <a:ln/>
        </p:spPr>
        <p:txBody>
          <a:bodyPr wrap="square" rtlCol="0" anchor="t"/>
          <a:lstStyle/>
          <a:p>
            <a:pPr indent="0" marL="0">
              <a:buNone/>
            </a:pPr>
            <a:r>
              <a:rPr lang="en-US" sz="1300" b="1" dirty="0">
                <a:solidFill>
                  <a:srgbClr val="12766B"/>
                </a:solidFill>
                <a:latin typeface="Calibri" pitchFamily="34" charset="0"/>
                <a:ea typeface="Calibri" pitchFamily="34" charset="-122"/>
                <a:cs typeface="Calibri" pitchFamily="34" charset="-120"/>
              </a:rPr>
              <a:t>設計の要：</a:t>
            </a:r>
            <a:pPr indent="0" marL="0">
              <a:buNone/>
            </a:pPr>
            <a:r>
              <a:rPr lang="en-US" sz="1300" dirty="0">
                <a:solidFill>
                  <a:srgbClr val="1C1C1E"/>
                </a:solidFill>
                <a:latin typeface="Calibri" pitchFamily="34" charset="0"/>
                <a:ea typeface="Calibri" pitchFamily="34" charset="-122"/>
                <a:cs typeface="Calibri" pitchFamily="34" charset="-120"/>
              </a:rPr>
              <a:t>「知能」をセンサノード（中央のSTM32）に置く。呼気の検出・特徴量抽出・品質採点までを機器単体で完結させ、アプリとクラウドは“意味”を受け取るだけにする。</a:t>
            </a:r>
            <a:endParaRPr lang="en-US" sz="1300" dirty="0"/>
          </a:p>
        </p:txBody>
      </p:sp>
      <p:sp>
        <p:nvSpPr>
          <p:cNvPr id="41" name="Text 39"/>
          <p:cNvSpPr/>
          <p:nvPr/>
        </p:nvSpPr>
        <p:spPr>
          <a:xfrm>
            <a:off x="795528" y="4663440"/>
            <a:ext cx="10607040" cy="365760"/>
          </a:xfrm>
          <a:prstGeom prst="rect">
            <a:avLst/>
          </a:prstGeom>
          <a:noFill/>
          <a:ln/>
        </p:spPr>
        <p:txBody>
          <a:bodyPr wrap="square" rtlCol="0" anchor="t"/>
          <a:lstStyle/>
          <a:p>
            <a:pPr indent="0" marL="0">
              <a:buNone/>
            </a:pPr>
            <a:r>
              <a:rPr lang="en-US" sz="1250" dirty="0">
                <a:solidFill>
                  <a:srgbClr val="5B6763"/>
                </a:solidFill>
                <a:latin typeface="Calibri" pitchFamily="34" charset="0"/>
                <a:ea typeface="Calibri" pitchFamily="34" charset="-122"/>
                <a:cs typeface="Calibri" pitchFamily="34" charset="-120"/>
              </a:rPr>
              <a:t>ラボモード（生値ストリーム／研究用）と 製品モード（呼気イベント）を同一ファームで併存 — 研究機材と製品の両立。</a:t>
            </a:r>
            <a:endParaRPr lang="en-US" sz="1250" dirty="0"/>
          </a:p>
        </p:txBody>
      </p:sp>
      <p:sp>
        <p:nvSpPr>
          <p:cNvPr id="42" name="Shape 40"/>
          <p:cNvSpPr/>
          <p:nvPr/>
        </p:nvSpPr>
        <p:spPr>
          <a:xfrm>
            <a:off x="566928" y="5349240"/>
            <a:ext cx="3520440" cy="914400"/>
          </a:xfrm>
          <a:prstGeom prst="roundRect">
            <a:avLst>
              <a:gd name="adj" fmla="val 9000"/>
            </a:avLst>
          </a:prstGeom>
          <a:solidFill>
            <a:srgbClr val="D9EBE7"/>
          </a:solidFill>
          <a:ln/>
        </p:spPr>
      </p:sp>
      <p:sp>
        <p:nvSpPr>
          <p:cNvPr id="43" name="Text 41"/>
          <p:cNvSpPr/>
          <p:nvPr/>
        </p:nvSpPr>
        <p:spPr>
          <a:xfrm>
            <a:off x="749808" y="5468112"/>
            <a:ext cx="3108960" cy="502920"/>
          </a:xfrm>
          <a:prstGeom prst="rect">
            <a:avLst/>
          </a:prstGeom>
          <a:noFill/>
          <a:ln/>
        </p:spPr>
        <p:txBody>
          <a:bodyPr wrap="square" rtlCol="0" anchor="ctr"/>
          <a:lstStyle/>
          <a:p>
            <a:pPr indent="0" marL="0">
              <a:buNone/>
            </a:pPr>
            <a:r>
              <a:rPr lang="en-US" sz="2600" b="1" dirty="0">
                <a:solidFill>
                  <a:srgbClr val="12766B"/>
                </a:solidFill>
                <a:latin typeface="Cambria" pitchFamily="34" charset="0"/>
                <a:ea typeface="Cambria" pitchFamily="34" charset="-122"/>
                <a:cs typeface="Cambria" pitchFamily="34" charset="-120"/>
              </a:rPr>
              <a:t>HAL非依存</a:t>
            </a:r>
            <a:endParaRPr lang="en-US" sz="2600" dirty="0"/>
          </a:p>
        </p:txBody>
      </p:sp>
      <p:sp>
        <p:nvSpPr>
          <p:cNvPr id="44" name="Text 42"/>
          <p:cNvSpPr/>
          <p:nvPr/>
        </p:nvSpPr>
        <p:spPr>
          <a:xfrm>
            <a:off x="749808" y="5943600"/>
            <a:ext cx="3108960" cy="274320"/>
          </a:xfrm>
          <a:prstGeom prst="rect">
            <a:avLst/>
          </a:prstGeom>
          <a:noFill/>
          <a:ln/>
        </p:spPr>
        <p:txBody>
          <a:bodyPr wrap="square" rtlCol="0" anchor="ctr"/>
          <a:lstStyle/>
          <a:p>
            <a:pPr indent="0" marL="0">
              <a:buNone/>
            </a:pPr>
            <a:r>
              <a:rPr lang="en-US" sz="1150" dirty="0">
                <a:solidFill>
                  <a:srgbClr val="5B6763"/>
                </a:solidFill>
                <a:latin typeface="Calibri" pitchFamily="34" charset="0"/>
                <a:ea typeface="Calibri" pitchFamily="34" charset="-122"/>
                <a:cs typeface="Calibri" pitchFamily="34" charset="-120"/>
              </a:rPr>
              <a:t>エッジ処理は純Cで実装</a:t>
            </a:r>
            <a:endParaRPr lang="en-US" sz="1150" dirty="0"/>
          </a:p>
        </p:txBody>
      </p:sp>
      <p:sp>
        <p:nvSpPr>
          <p:cNvPr id="45" name="Shape 43"/>
          <p:cNvSpPr/>
          <p:nvPr/>
        </p:nvSpPr>
        <p:spPr>
          <a:xfrm>
            <a:off x="4279392" y="5349240"/>
            <a:ext cx="3520440" cy="914400"/>
          </a:xfrm>
          <a:prstGeom prst="roundRect">
            <a:avLst>
              <a:gd name="adj" fmla="val 9000"/>
            </a:avLst>
          </a:prstGeom>
          <a:solidFill>
            <a:srgbClr val="D9EBE7"/>
          </a:solidFill>
          <a:ln/>
        </p:spPr>
      </p:sp>
      <p:sp>
        <p:nvSpPr>
          <p:cNvPr id="46" name="Text 44"/>
          <p:cNvSpPr/>
          <p:nvPr/>
        </p:nvSpPr>
        <p:spPr>
          <a:xfrm>
            <a:off x="4462272" y="5468112"/>
            <a:ext cx="3108960" cy="502920"/>
          </a:xfrm>
          <a:prstGeom prst="rect">
            <a:avLst/>
          </a:prstGeom>
          <a:noFill/>
          <a:ln/>
        </p:spPr>
        <p:txBody>
          <a:bodyPr wrap="square" rtlCol="0" anchor="ctr"/>
          <a:lstStyle/>
          <a:p>
            <a:pPr indent="0" marL="0">
              <a:buNone/>
            </a:pPr>
            <a:r>
              <a:rPr lang="en-US" sz="2600" b="1" dirty="0">
                <a:solidFill>
                  <a:srgbClr val="12766B"/>
                </a:solidFill>
                <a:latin typeface="Cambria" pitchFamily="34" charset="0"/>
                <a:ea typeface="Cambria" pitchFamily="34" charset="-122"/>
                <a:cs typeface="Cambria" pitchFamily="34" charset="-120"/>
              </a:rPr>
              <a:t>354</a:t>
            </a:r>
            <a:endParaRPr lang="en-US" sz="2600" dirty="0"/>
          </a:p>
        </p:txBody>
      </p:sp>
      <p:sp>
        <p:nvSpPr>
          <p:cNvPr id="47" name="Text 45"/>
          <p:cNvSpPr/>
          <p:nvPr/>
        </p:nvSpPr>
        <p:spPr>
          <a:xfrm>
            <a:off x="4462272" y="5943600"/>
            <a:ext cx="3108960" cy="274320"/>
          </a:xfrm>
          <a:prstGeom prst="rect">
            <a:avLst/>
          </a:prstGeom>
          <a:noFill/>
          <a:ln/>
        </p:spPr>
        <p:txBody>
          <a:bodyPr wrap="square" rtlCol="0" anchor="ctr"/>
          <a:lstStyle/>
          <a:p>
            <a:pPr indent="0" marL="0">
              <a:buNone/>
            </a:pPr>
            <a:r>
              <a:rPr lang="en-US" sz="1150" dirty="0">
                <a:solidFill>
                  <a:srgbClr val="5B6763"/>
                </a:solidFill>
                <a:latin typeface="Calibri" pitchFamily="34" charset="0"/>
                <a:ea typeface="Calibri" pitchFamily="34" charset="-122"/>
                <a:cs typeface="Calibri" pitchFamily="34" charset="-120"/>
              </a:rPr>
              <a:t>ホスト検証アサーション</a:t>
            </a:r>
            <a:endParaRPr lang="en-US" sz="1150" dirty="0"/>
          </a:p>
        </p:txBody>
      </p:sp>
      <p:sp>
        <p:nvSpPr>
          <p:cNvPr id="48" name="Shape 46"/>
          <p:cNvSpPr/>
          <p:nvPr/>
        </p:nvSpPr>
        <p:spPr>
          <a:xfrm>
            <a:off x="7991856" y="5349240"/>
            <a:ext cx="3520440" cy="914400"/>
          </a:xfrm>
          <a:prstGeom prst="roundRect">
            <a:avLst>
              <a:gd name="adj" fmla="val 9000"/>
            </a:avLst>
          </a:prstGeom>
          <a:solidFill>
            <a:srgbClr val="D9EBE7"/>
          </a:solidFill>
          <a:ln/>
        </p:spPr>
      </p:sp>
      <p:sp>
        <p:nvSpPr>
          <p:cNvPr id="49" name="Text 47"/>
          <p:cNvSpPr/>
          <p:nvPr/>
        </p:nvSpPr>
        <p:spPr>
          <a:xfrm>
            <a:off x="8174736" y="5468112"/>
            <a:ext cx="3108960" cy="502920"/>
          </a:xfrm>
          <a:prstGeom prst="rect">
            <a:avLst/>
          </a:prstGeom>
          <a:noFill/>
          <a:ln/>
        </p:spPr>
        <p:txBody>
          <a:bodyPr wrap="square" rtlCol="0" anchor="ctr"/>
          <a:lstStyle/>
          <a:p>
            <a:pPr indent="0" marL="0">
              <a:buNone/>
            </a:pPr>
            <a:r>
              <a:rPr lang="en-US" sz="2600" b="1" dirty="0">
                <a:solidFill>
                  <a:srgbClr val="12766B"/>
                </a:solidFill>
                <a:latin typeface="Cambria" pitchFamily="34" charset="0"/>
                <a:ea typeface="Cambria" pitchFamily="34" charset="-122"/>
                <a:cs typeface="Cambria" pitchFamily="34" charset="-120"/>
              </a:rPr>
              <a:t>5層</a:t>
            </a:r>
            <a:endParaRPr lang="en-US" sz="2600" dirty="0"/>
          </a:p>
        </p:txBody>
      </p:sp>
      <p:sp>
        <p:nvSpPr>
          <p:cNvPr id="50" name="Text 48"/>
          <p:cNvSpPr/>
          <p:nvPr/>
        </p:nvSpPr>
        <p:spPr>
          <a:xfrm>
            <a:off x="8174736" y="5943600"/>
            <a:ext cx="3108960" cy="274320"/>
          </a:xfrm>
          <a:prstGeom prst="rect">
            <a:avLst/>
          </a:prstGeom>
          <a:noFill/>
          <a:ln/>
        </p:spPr>
        <p:txBody>
          <a:bodyPr wrap="square" rtlCol="0" anchor="ctr"/>
          <a:lstStyle/>
          <a:p>
            <a:pPr indent="0" marL="0">
              <a:buNone/>
            </a:pPr>
            <a:r>
              <a:rPr lang="en-US" sz="1150" dirty="0">
                <a:solidFill>
                  <a:srgbClr val="5B6763"/>
                </a:solidFill>
                <a:latin typeface="Calibri" pitchFamily="34" charset="0"/>
                <a:ea typeface="Calibri" pitchFamily="34" charset="-122"/>
                <a:cs typeface="Calibri" pitchFamily="34" charset="-120"/>
              </a:rPr>
              <a:t>センサ→クラウドを疎結合</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3B36"/>
        </a:solidFill>
      </p:bgPr>
    </p:bg>
    <p:spTree>
      <p:nvGrpSpPr>
        <p:cNvPr id="1" name=""/>
        <p:cNvGrpSpPr/>
        <p:nvPr/>
      </p:nvGrpSpPr>
      <p:grpSpPr>
        <a:xfrm>
          <a:off x="0" y="0"/>
          <a:ext cx="0" cy="0"/>
          <a:chOff x="0" y="0"/>
          <a:chExt cx="0" cy="0"/>
        </a:xfrm>
      </p:grpSpPr>
      <p:sp>
        <p:nvSpPr>
          <p:cNvPr id="2" name="Shape 0"/>
          <p:cNvSpPr/>
          <p:nvPr/>
        </p:nvSpPr>
        <p:spPr>
          <a:xfrm>
            <a:off x="9079992" y="-1645920"/>
            <a:ext cx="4572000" cy="4572000"/>
          </a:xfrm>
          <a:prstGeom prst="ellipse">
            <a:avLst/>
          </a:prstGeom>
          <a:solidFill>
            <a:srgbClr val="13514A"/>
          </a:solidFill>
          <a:ln/>
        </p:spPr>
      </p:sp>
      <p:sp>
        <p:nvSpPr>
          <p:cNvPr id="3" name="Text 1"/>
          <p:cNvSpPr/>
          <p:nvPr/>
        </p:nvSpPr>
        <p:spPr>
          <a:xfrm>
            <a:off x="566928" y="2103120"/>
            <a:ext cx="7315200" cy="365760"/>
          </a:xfrm>
          <a:prstGeom prst="rect">
            <a:avLst/>
          </a:prstGeom>
          <a:noFill/>
          <a:ln/>
        </p:spPr>
        <p:txBody>
          <a:bodyPr wrap="square" rtlCol="0" anchor="ctr"/>
          <a:lstStyle/>
          <a:p>
            <a:pPr indent="0" marL="0">
              <a:buNone/>
            </a:pPr>
            <a:r>
              <a:rPr lang="en-US" sz="1400" b="1" spc="200" kern="0" dirty="0">
                <a:solidFill>
                  <a:srgbClr val="4FB8A5"/>
                </a:solidFill>
                <a:latin typeface="Calibri" pitchFamily="34" charset="0"/>
                <a:ea typeface="Calibri" pitchFamily="34" charset="-122"/>
                <a:cs typeface="Calibri" pitchFamily="34" charset="-120"/>
              </a:rPr>
              <a:t>CORE ALGORITHM</a:t>
            </a:r>
            <a:endParaRPr lang="en-US" sz="1400" dirty="0"/>
          </a:p>
        </p:txBody>
      </p:sp>
      <p:sp>
        <p:nvSpPr>
          <p:cNvPr id="4" name="Text 2"/>
          <p:cNvSpPr/>
          <p:nvPr/>
        </p:nvSpPr>
        <p:spPr>
          <a:xfrm>
            <a:off x="566928" y="2468880"/>
            <a:ext cx="7315200" cy="1097280"/>
          </a:xfrm>
          <a:prstGeom prst="rect">
            <a:avLst/>
          </a:prstGeom>
          <a:noFill/>
          <a:ln/>
        </p:spPr>
        <p:txBody>
          <a:bodyPr wrap="square"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BAP</a:t>
            </a:r>
            <a:endParaRPr lang="en-US" sz="6000" dirty="0"/>
          </a:p>
        </p:txBody>
      </p:sp>
      <p:sp>
        <p:nvSpPr>
          <p:cNvPr id="5" name="Text 3"/>
          <p:cNvSpPr/>
          <p:nvPr/>
        </p:nvSpPr>
        <p:spPr>
          <a:xfrm>
            <a:off x="566928" y="3611880"/>
            <a:ext cx="8229600" cy="457200"/>
          </a:xfrm>
          <a:prstGeom prst="rect">
            <a:avLst/>
          </a:prstGeom>
          <a:noFill/>
          <a:ln/>
        </p:spPr>
        <p:txBody>
          <a:bodyPr wrap="square" rtlCol="0" anchor="ctr"/>
          <a:lstStyle/>
          <a:p>
            <a:pPr indent="0" marL="0">
              <a:buNone/>
            </a:pPr>
            <a:r>
              <a:rPr lang="en-US" sz="2200" dirty="0">
                <a:solidFill>
                  <a:srgbClr val="4FB8A5"/>
                </a:solidFill>
                <a:latin typeface="Calibri" pitchFamily="34" charset="0"/>
                <a:ea typeface="Calibri" pitchFamily="34" charset="-122"/>
                <a:cs typeface="Calibri" pitchFamily="34" charset="-120"/>
              </a:rPr>
              <a:t>Breath Analysis Pipeline</a:t>
            </a:r>
            <a:endParaRPr lang="en-US" sz="2200" dirty="0"/>
          </a:p>
        </p:txBody>
      </p:sp>
      <p:sp>
        <p:nvSpPr>
          <p:cNvPr id="6" name="Text 4"/>
          <p:cNvSpPr/>
          <p:nvPr/>
        </p:nvSpPr>
        <p:spPr>
          <a:xfrm>
            <a:off x="566928" y="4206240"/>
            <a:ext cx="8686800" cy="457200"/>
          </a:xfrm>
          <a:prstGeom prst="rect">
            <a:avLst/>
          </a:prstGeom>
          <a:noFill/>
          <a:ln/>
        </p:spPr>
        <p:txBody>
          <a:bodyPr wrap="square" rtlCol="0" anchor="ctr"/>
          <a:lstStyle/>
          <a:p>
            <a:pPr indent="0" marL="0">
              <a:buNone/>
            </a:pPr>
            <a:r>
              <a:rPr lang="en-US" sz="1500" dirty="0">
                <a:solidFill>
                  <a:srgbClr val="CFE7E1"/>
                </a:solidFill>
                <a:latin typeface="Calibri" pitchFamily="34" charset="0"/>
                <a:ea typeface="Calibri" pitchFamily="34" charset="-122"/>
                <a:cs typeface="Calibri" pitchFamily="34" charset="-120"/>
              </a:rPr>
              <a:t>呼気イベントを検出・切り出し・採点する、全整数・HAL非依存のエッジ処理系</a:t>
            </a:r>
            <a:endParaRPr lang="en-US" sz="1500" dirty="0"/>
          </a:p>
        </p:txBody>
      </p:sp>
      <p:sp>
        <p:nvSpPr>
          <p:cNvPr id="7" name="Shape 5"/>
          <p:cNvSpPr/>
          <p:nvPr/>
        </p:nvSpPr>
        <p:spPr>
          <a:xfrm>
            <a:off x="566928" y="5029200"/>
            <a:ext cx="1408176" cy="457200"/>
          </a:xfrm>
          <a:prstGeom prst="roundRect">
            <a:avLst>
              <a:gd name="adj" fmla="val 50000"/>
            </a:avLst>
          </a:prstGeom>
          <a:solidFill>
            <a:srgbClr val="17564E"/>
          </a:solidFill>
          <a:ln w="12700">
            <a:solidFill>
              <a:srgbClr val="4FB8A5"/>
            </a:solidFill>
            <a:prstDash val="solid"/>
          </a:ln>
        </p:spPr>
      </p:sp>
      <p:sp>
        <p:nvSpPr>
          <p:cNvPr id="8" name="Text 6"/>
          <p:cNvSpPr/>
          <p:nvPr/>
        </p:nvSpPr>
        <p:spPr>
          <a:xfrm>
            <a:off x="566928" y="5029200"/>
            <a:ext cx="1408176" cy="45720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S1 Hampel</a:t>
            </a:r>
            <a:endParaRPr lang="en-US" sz="1200" dirty="0"/>
          </a:p>
        </p:txBody>
      </p:sp>
      <p:sp>
        <p:nvSpPr>
          <p:cNvPr id="9" name="Shape 7"/>
          <p:cNvSpPr/>
          <p:nvPr/>
        </p:nvSpPr>
        <p:spPr>
          <a:xfrm>
            <a:off x="2139696" y="5029200"/>
            <a:ext cx="1280160" cy="457200"/>
          </a:xfrm>
          <a:prstGeom prst="roundRect">
            <a:avLst>
              <a:gd name="adj" fmla="val 50000"/>
            </a:avLst>
          </a:prstGeom>
          <a:solidFill>
            <a:srgbClr val="17564E"/>
          </a:solidFill>
          <a:ln w="12700">
            <a:solidFill>
              <a:srgbClr val="4FB8A5"/>
            </a:solidFill>
            <a:prstDash val="solid"/>
          </a:ln>
        </p:spPr>
      </p:sp>
      <p:sp>
        <p:nvSpPr>
          <p:cNvPr id="10" name="Text 8"/>
          <p:cNvSpPr/>
          <p:nvPr/>
        </p:nvSpPr>
        <p:spPr>
          <a:xfrm>
            <a:off x="2139696" y="5029200"/>
            <a:ext cx="1280160" cy="45720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S2 適応EMA</a:t>
            </a:r>
            <a:endParaRPr lang="en-US" sz="1200" dirty="0"/>
          </a:p>
        </p:txBody>
      </p:sp>
      <p:sp>
        <p:nvSpPr>
          <p:cNvPr id="11" name="Shape 9"/>
          <p:cNvSpPr/>
          <p:nvPr/>
        </p:nvSpPr>
        <p:spPr>
          <a:xfrm>
            <a:off x="3584448" y="5029200"/>
            <a:ext cx="1664208" cy="457200"/>
          </a:xfrm>
          <a:prstGeom prst="roundRect">
            <a:avLst>
              <a:gd name="adj" fmla="val 50000"/>
            </a:avLst>
          </a:prstGeom>
          <a:solidFill>
            <a:srgbClr val="17564E"/>
          </a:solidFill>
          <a:ln w="12700">
            <a:solidFill>
              <a:srgbClr val="4FB8A5"/>
            </a:solidFill>
            <a:prstDash val="solid"/>
          </a:ln>
        </p:spPr>
      </p:sp>
      <p:sp>
        <p:nvSpPr>
          <p:cNvPr id="12" name="Text 10"/>
          <p:cNvSpPr/>
          <p:nvPr/>
        </p:nvSpPr>
        <p:spPr>
          <a:xfrm>
            <a:off x="3584448" y="5029200"/>
            <a:ext cx="1664208" cy="45720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S3 ベースライン学習</a:t>
            </a:r>
            <a:endParaRPr lang="en-US" sz="1200" dirty="0"/>
          </a:p>
        </p:txBody>
      </p:sp>
      <p:sp>
        <p:nvSpPr>
          <p:cNvPr id="13" name="Shape 11"/>
          <p:cNvSpPr/>
          <p:nvPr/>
        </p:nvSpPr>
        <p:spPr>
          <a:xfrm>
            <a:off x="5413248" y="5029200"/>
            <a:ext cx="1152144" cy="457200"/>
          </a:xfrm>
          <a:prstGeom prst="roundRect">
            <a:avLst>
              <a:gd name="adj" fmla="val 50000"/>
            </a:avLst>
          </a:prstGeom>
          <a:solidFill>
            <a:srgbClr val="17564E"/>
          </a:solidFill>
          <a:ln w="12700">
            <a:solidFill>
              <a:srgbClr val="4FB8A5"/>
            </a:solidFill>
            <a:prstDash val="solid"/>
          </a:ln>
        </p:spPr>
      </p:sp>
      <p:sp>
        <p:nvSpPr>
          <p:cNvPr id="14" name="Text 12"/>
          <p:cNvSpPr/>
          <p:nvPr/>
        </p:nvSpPr>
        <p:spPr>
          <a:xfrm>
            <a:off x="5413248" y="5029200"/>
            <a:ext cx="1152144" cy="45720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S4 呼気検出</a:t>
            </a:r>
            <a:endParaRPr lang="en-US" sz="1200" dirty="0"/>
          </a:p>
        </p:txBody>
      </p:sp>
      <p:sp>
        <p:nvSpPr>
          <p:cNvPr id="15" name="Shape 13"/>
          <p:cNvSpPr/>
          <p:nvPr/>
        </p:nvSpPr>
        <p:spPr>
          <a:xfrm>
            <a:off x="6729984" y="5029200"/>
            <a:ext cx="1024128" cy="457200"/>
          </a:xfrm>
          <a:prstGeom prst="roundRect">
            <a:avLst>
              <a:gd name="adj" fmla="val 50000"/>
            </a:avLst>
          </a:prstGeom>
          <a:solidFill>
            <a:srgbClr val="17564E"/>
          </a:solidFill>
          <a:ln w="12700">
            <a:solidFill>
              <a:srgbClr val="4FB8A5"/>
            </a:solidFill>
            <a:prstDash val="solid"/>
          </a:ln>
        </p:spPr>
      </p:sp>
      <p:sp>
        <p:nvSpPr>
          <p:cNvPr id="16" name="Text 14"/>
          <p:cNvSpPr/>
          <p:nvPr/>
        </p:nvSpPr>
        <p:spPr>
          <a:xfrm>
            <a:off x="6729984" y="5029200"/>
            <a:ext cx="1024128" cy="45720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S5 特徴量</a:t>
            </a:r>
            <a:endParaRPr lang="en-US" sz="1200" dirty="0"/>
          </a:p>
        </p:txBody>
      </p:sp>
      <p:sp>
        <p:nvSpPr>
          <p:cNvPr id="17" name="Shape 15"/>
          <p:cNvSpPr/>
          <p:nvPr/>
        </p:nvSpPr>
        <p:spPr>
          <a:xfrm>
            <a:off x="7918704" y="5029200"/>
            <a:ext cx="1664208" cy="457200"/>
          </a:xfrm>
          <a:prstGeom prst="roundRect">
            <a:avLst>
              <a:gd name="adj" fmla="val 50000"/>
            </a:avLst>
          </a:prstGeom>
          <a:solidFill>
            <a:srgbClr val="17564E"/>
          </a:solidFill>
          <a:ln w="12700">
            <a:solidFill>
              <a:srgbClr val="4FB8A5"/>
            </a:solidFill>
            <a:prstDash val="solid"/>
          </a:ln>
        </p:spPr>
      </p:sp>
      <p:sp>
        <p:nvSpPr>
          <p:cNvPr id="18" name="Text 16"/>
          <p:cNvSpPr/>
          <p:nvPr/>
        </p:nvSpPr>
        <p:spPr>
          <a:xfrm>
            <a:off x="7918704" y="5029200"/>
            <a:ext cx="1664208" cy="45720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S6-S7 Q×C採点</a:t>
            </a:r>
            <a:endParaRPr lang="en-US" sz="1200" dirty="0"/>
          </a:p>
        </p:txBody>
      </p:sp>
      <p:sp>
        <p:nvSpPr>
          <p:cNvPr id="19" name="Shape 17"/>
          <p:cNvSpPr/>
          <p:nvPr/>
        </p:nvSpPr>
        <p:spPr>
          <a:xfrm>
            <a:off x="9747504" y="5029200"/>
            <a:ext cx="1408176" cy="457200"/>
          </a:xfrm>
          <a:prstGeom prst="roundRect">
            <a:avLst>
              <a:gd name="adj" fmla="val 50000"/>
            </a:avLst>
          </a:prstGeom>
          <a:solidFill>
            <a:srgbClr val="17564E"/>
          </a:solidFill>
          <a:ln w="12700">
            <a:solidFill>
              <a:srgbClr val="4FB8A5"/>
            </a:solidFill>
            <a:prstDash val="solid"/>
          </a:ln>
        </p:spPr>
      </p:sp>
      <p:sp>
        <p:nvSpPr>
          <p:cNvPr id="20" name="Text 18"/>
          <p:cNvSpPr/>
          <p:nvPr/>
        </p:nvSpPr>
        <p:spPr>
          <a:xfrm>
            <a:off x="9747504" y="5029200"/>
            <a:ext cx="1408176" cy="457200"/>
          </a:xfrm>
          <a:prstGeom prst="rect">
            <a:avLst/>
          </a:prstGeom>
          <a:noFill/>
          <a:ln/>
        </p:spPr>
        <p:txBody>
          <a:bodyPr wrap="square"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S8 検証・再測定</a:t>
            </a:r>
            <a:endParaRPr lang="en-US" sz="1200" dirty="0"/>
          </a:p>
        </p:txBody>
      </p:sp>
      <p:sp>
        <p:nvSpPr>
          <p:cNvPr id="21" name="Text 19"/>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03</a:t>
            </a:r>
            <a:endParaRPr lang="en-US" sz="900" dirty="0"/>
          </a:p>
        </p:txBody>
      </p:sp>
      <p:sp>
        <p:nvSpPr>
          <p:cNvPr id="22" name="Text 20"/>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BAP · PIPELINE</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パイプライン全景 — 生値から「意味」まで8段</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04</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572768"/>
            <a:ext cx="6675120" cy="548640"/>
          </a:xfrm>
          <a:prstGeom prst="roundRect">
            <a:avLst>
              <a:gd name="adj" fmla="val 15000"/>
            </a:avLst>
          </a:prstGeom>
          <a:solidFill>
            <a:srgbClr val="F6F5F2"/>
          </a:solidFill>
          <a:ln w="12700">
            <a:solidFill>
              <a:srgbClr val="DADFDC"/>
            </a:solidFill>
            <a:prstDash val="solid"/>
          </a:ln>
        </p:spPr>
      </p:sp>
      <p:sp>
        <p:nvSpPr>
          <p:cNvPr id="7" name="Shape 5"/>
          <p:cNvSpPr/>
          <p:nvPr/>
        </p:nvSpPr>
        <p:spPr>
          <a:xfrm>
            <a:off x="676656" y="1673352"/>
            <a:ext cx="347472" cy="347472"/>
          </a:xfrm>
          <a:prstGeom prst="roundRect">
            <a:avLst>
              <a:gd name="adj" fmla="val 13158"/>
            </a:avLst>
          </a:prstGeom>
          <a:solidFill>
            <a:srgbClr val="5B6763"/>
          </a:solidFill>
          <a:ln/>
        </p:spPr>
      </p:sp>
      <p:sp>
        <p:nvSpPr>
          <p:cNvPr id="8" name="Text 6"/>
          <p:cNvSpPr/>
          <p:nvPr/>
        </p:nvSpPr>
        <p:spPr>
          <a:xfrm>
            <a:off x="1161288" y="1600200"/>
            <a:ext cx="3657600" cy="493776"/>
          </a:xfrm>
          <a:prstGeom prst="rect">
            <a:avLst/>
          </a:prstGeom>
          <a:noFill/>
          <a:ln/>
        </p:spPr>
        <p:txBody>
          <a:bodyPr wrap="square"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DGS2 1Hz CSV</a:t>
            </a:r>
            <a:endParaRPr lang="en-US" sz="1300" dirty="0"/>
          </a:p>
        </p:txBody>
      </p:sp>
      <p:sp>
        <p:nvSpPr>
          <p:cNvPr id="9" name="Text 7"/>
          <p:cNvSpPr/>
          <p:nvPr/>
        </p:nvSpPr>
        <p:spPr>
          <a:xfrm>
            <a:off x="3995928" y="1600200"/>
            <a:ext cx="3200400" cy="493776"/>
          </a:xfrm>
          <a:prstGeom prst="rect">
            <a:avLst/>
          </a:prstGeom>
          <a:noFill/>
          <a:ln/>
        </p:spPr>
        <p:txBody>
          <a:bodyPr wrap="square" rtlCol="0" anchor="ctr"/>
          <a:lstStyle/>
          <a:p>
            <a:pPr indent="0" marL="0">
              <a:buNone/>
            </a:pPr>
            <a:r>
              <a:rPr lang="en-US" sz="1050" dirty="0">
                <a:solidFill>
                  <a:srgbClr val="5B6763"/>
                </a:solidFill>
                <a:latin typeface="Calibri" pitchFamily="34" charset="0"/>
                <a:ea typeface="Calibri" pitchFamily="34" charset="-122"/>
                <a:cs typeface="Calibri" pitchFamily="34" charset="-120"/>
              </a:rPr>
              <a:t>パース+物理レンジ検証</a:t>
            </a:r>
            <a:endParaRPr lang="en-US" sz="1050" dirty="0"/>
          </a:p>
        </p:txBody>
      </p:sp>
      <p:sp>
        <p:nvSpPr>
          <p:cNvPr id="10" name="Shape 8"/>
          <p:cNvSpPr/>
          <p:nvPr/>
        </p:nvSpPr>
        <p:spPr>
          <a:xfrm>
            <a:off x="3904488" y="2125980"/>
            <a:ext cx="0" cy="59436"/>
          </a:xfrm>
          <a:prstGeom prst="line">
            <a:avLst/>
          </a:prstGeom>
          <a:noFill/>
          <a:ln w="27940">
            <a:solidFill>
              <a:srgbClr val="4FB8A5"/>
            </a:solidFill>
            <a:prstDash val="solid"/>
            <a:tailEnd type="triangle"/>
          </a:ln>
        </p:spPr>
      </p:sp>
      <p:sp>
        <p:nvSpPr>
          <p:cNvPr id="11" name="Shape 9"/>
          <p:cNvSpPr/>
          <p:nvPr/>
        </p:nvSpPr>
        <p:spPr>
          <a:xfrm>
            <a:off x="566928" y="2189988"/>
            <a:ext cx="6675120" cy="548640"/>
          </a:xfrm>
          <a:prstGeom prst="roundRect">
            <a:avLst>
              <a:gd name="adj" fmla="val 15000"/>
            </a:avLst>
          </a:prstGeom>
          <a:solidFill>
            <a:srgbClr val="FFFFFF"/>
          </a:solidFill>
          <a:ln w="12700">
            <a:solidFill>
              <a:srgbClr val="DADFDC"/>
            </a:solidFill>
            <a:prstDash val="solid"/>
          </a:ln>
        </p:spPr>
      </p:sp>
      <p:sp>
        <p:nvSpPr>
          <p:cNvPr id="12" name="Shape 10"/>
          <p:cNvSpPr/>
          <p:nvPr/>
        </p:nvSpPr>
        <p:spPr>
          <a:xfrm>
            <a:off x="676656" y="2290572"/>
            <a:ext cx="347472" cy="347472"/>
          </a:xfrm>
          <a:prstGeom prst="roundRect">
            <a:avLst>
              <a:gd name="adj" fmla="val 13158"/>
            </a:avLst>
          </a:prstGeom>
          <a:solidFill>
            <a:srgbClr val="12766B"/>
          </a:solidFill>
          <a:ln/>
        </p:spPr>
      </p:sp>
      <p:sp>
        <p:nvSpPr>
          <p:cNvPr id="13" name="Text 11"/>
          <p:cNvSpPr/>
          <p:nvPr/>
        </p:nvSpPr>
        <p:spPr>
          <a:xfrm>
            <a:off x="1161288" y="2217420"/>
            <a:ext cx="3657600" cy="493776"/>
          </a:xfrm>
          <a:prstGeom prst="rect">
            <a:avLst/>
          </a:prstGeom>
          <a:noFill/>
          <a:ln/>
        </p:spPr>
        <p:txBody>
          <a:bodyPr wrap="square"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S1  Hampelフィルタ</a:t>
            </a:r>
            <a:endParaRPr lang="en-US" sz="1300" dirty="0"/>
          </a:p>
        </p:txBody>
      </p:sp>
      <p:sp>
        <p:nvSpPr>
          <p:cNvPr id="14" name="Text 12"/>
          <p:cNvSpPr/>
          <p:nvPr/>
        </p:nvSpPr>
        <p:spPr>
          <a:xfrm>
            <a:off x="3995928" y="2217420"/>
            <a:ext cx="3200400" cy="493776"/>
          </a:xfrm>
          <a:prstGeom prst="rect">
            <a:avLst/>
          </a:prstGeom>
          <a:noFill/>
          <a:ln/>
        </p:spPr>
        <p:txBody>
          <a:bodyPr wrap="square" rtlCol="0" anchor="ctr"/>
          <a:lstStyle/>
          <a:p>
            <a:pPr indent="0" marL="0">
              <a:buNone/>
            </a:pPr>
            <a:r>
              <a:rPr lang="en-US" sz="1050" dirty="0">
                <a:solidFill>
                  <a:srgbClr val="5B6763"/>
                </a:solidFill>
                <a:latin typeface="Calibri" pitchFamily="34" charset="0"/>
                <a:ea typeface="Calibri" pitchFamily="34" charset="-122"/>
                <a:cs typeface="Calibri" pitchFamily="34" charset="-120"/>
              </a:rPr>
              <a:t>中央値/MAD + 持続性判定でスパイク除去</a:t>
            </a:r>
            <a:endParaRPr lang="en-US" sz="1050" dirty="0"/>
          </a:p>
        </p:txBody>
      </p:sp>
      <p:sp>
        <p:nvSpPr>
          <p:cNvPr id="15" name="Shape 13"/>
          <p:cNvSpPr/>
          <p:nvPr/>
        </p:nvSpPr>
        <p:spPr>
          <a:xfrm>
            <a:off x="3904488" y="2743200"/>
            <a:ext cx="0" cy="59436"/>
          </a:xfrm>
          <a:prstGeom prst="line">
            <a:avLst/>
          </a:prstGeom>
          <a:noFill/>
          <a:ln w="27940">
            <a:solidFill>
              <a:srgbClr val="4FB8A5"/>
            </a:solidFill>
            <a:prstDash val="solid"/>
            <a:tailEnd type="triangle"/>
          </a:ln>
        </p:spPr>
      </p:sp>
      <p:sp>
        <p:nvSpPr>
          <p:cNvPr id="16" name="Shape 14"/>
          <p:cNvSpPr/>
          <p:nvPr/>
        </p:nvSpPr>
        <p:spPr>
          <a:xfrm>
            <a:off x="566928" y="2807208"/>
            <a:ext cx="6675120" cy="548640"/>
          </a:xfrm>
          <a:prstGeom prst="roundRect">
            <a:avLst>
              <a:gd name="adj" fmla="val 15000"/>
            </a:avLst>
          </a:prstGeom>
          <a:solidFill>
            <a:srgbClr val="FFFFFF"/>
          </a:solidFill>
          <a:ln w="12700">
            <a:solidFill>
              <a:srgbClr val="DADFDC"/>
            </a:solidFill>
            <a:prstDash val="solid"/>
          </a:ln>
        </p:spPr>
      </p:sp>
      <p:sp>
        <p:nvSpPr>
          <p:cNvPr id="17" name="Shape 15"/>
          <p:cNvSpPr/>
          <p:nvPr/>
        </p:nvSpPr>
        <p:spPr>
          <a:xfrm>
            <a:off x="676656" y="2907792"/>
            <a:ext cx="347472" cy="347472"/>
          </a:xfrm>
          <a:prstGeom prst="roundRect">
            <a:avLst>
              <a:gd name="adj" fmla="val 13158"/>
            </a:avLst>
          </a:prstGeom>
          <a:solidFill>
            <a:srgbClr val="12766B"/>
          </a:solidFill>
          <a:ln/>
        </p:spPr>
      </p:sp>
      <p:sp>
        <p:nvSpPr>
          <p:cNvPr id="18" name="Text 16"/>
          <p:cNvSpPr/>
          <p:nvPr/>
        </p:nvSpPr>
        <p:spPr>
          <a:xfrm>
            <a:off x="1161288" y="2834640"/>
            <a:ext cx="3657600" cy="493776"/>
          </a:xfrm>
          <a:prstGeom prst="rect">
            <a:avLst/>
          </a:prstGeom>
          <a:noFill/>
          <a:ln/>
        </p:spPr>
        <p:txBody>
          <a:bodyPr wrap="square"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S2  適応EMA (Q8)</a:t>
            </a:r>
            <a:endParaRPr lang="en-US" sz="1300" dirty="0"/>
          </a:p>
        </p:txBody>
      </p:sp>
      <p:sp>
        <p:nvSpPr>
          <p:cNvPr id="19" name="Text 17"/>
          <p:cNvSpPr/>
          <p:nvPr/>
        </p:nvSpPr>
        <p:spPr>
          <a:xfrm>
            <a:off x="3995928" y="2834640"/>
            <a:ext cx="3200400" cy="493776"/>
          </a:xfrm>
          <a:prstGeom prst="rect">
            <a:avLst/>
          </a:prstGeom>
          <a:noFill/>
          <a:ln/>
        </p:spPr>
        <p:txBody>
          <a:bodyPr wrap="square" rtlCol="0" anchor="ctr"/>
          <a:lstStyle/>
          <a:p>
            <a:pPr indent="0" marL="0">
              <a:buNone/>
            </a:pPr>
            <a:r>
              <a:rPr lang="en-US" sz="1050" dirty="0">
                <a:solidFill>
                  <a:srgbClr val="5B6763"/>
                </a:solidFill>
                <a:latin typeface="Calibri" pitchFamily="34" charset="0"/>
                <a:ea typeface="Calibri" pitchFamily="34" charset="-122"/>
                <a:cs typeface="Calibri" pitchFamily="34" charset="-120"/>
              </a:rPr>
              <a:t>イノベーション連動で平滑化と追従を両立</a:t>
            </a:r>
            <a:endParaRPr lang="en-US" sz="1050" dirty="0"/>
          </a:p>
        </p:txBody>
      </p:sp>
      <p:sp>
        <p:nvSpPr>
          <p:cNvPr id="20" name="Shape 18"/>
          <p:cNvSpPr/>
          <p:nvPr/>
        </p:nvSpPr>
        <p:spPr>
          <a:xfrm>
            <a:off x="3904488" y="3360420"/>
            <a:ext cx="0" cy="59436"/>
          </a:xfrm>
          <a:prstGeom prst="line">
            <a:avLst/>
          </a:prstGeom>
          <a:noFill/>
          <a:ln w="27940">
            <a:solidFill>
              <a:srgbClr val="4FB8A5"/>
            </a:solidFill>
            <a:prstDash val="solid"/>
            <a:tailEnd type="triangle"/>
          </a:ln>
        </p:spPr>
      </p:sp>
      <p:sp>
        <p:nvSpPr>
          <p:cNvPr id="21" name="Shape 19"/>
          <p:cNvSpPr/>
          <p:nvPr/>
        </p:nvSpPr>
        <p:spPr>
          <a:xfrm>
            <a:off x="566928" y="3424428"/>
            <a:ext cx="6675120" cy="548640"/>
          </a:xfrm>
          <a:prstGeom prst="roundRect">
            <a:avLst>
              <a:gd name="adj" fmla="val 15000"/>
            </a:avLst>
          </a:prstGeom>
          <a:solidFill>
            <a:srgbClr val="FFFFFF"/>
          </a:solidFill>
          <a:ln w="12700">
            <a:solidFill>
              <a:srgbClr val="DADFDC"/>
            </a:solidFill>
            <a:prstDash val="solid"/>
          </a:ln>
        </p:spPr>
      </p:sp>
      <p:sp>
        <p:nvSpPr>
          <p:cNvPr id="22" name="Shape 20"/>
          <p:cNvSpPr/>
          <p:nvPr/>
        </p:nvSpPr>
        <p:spPr>
          <a:xfrm>
            <a:off x="676656" y="3525012"/>
            <a:ext cx="347472" cy="347472"/>
          </a:xfrm>
          <a:prstGeom prst="roundRect">
            <a:avLst>
              <a:gd name="adj" fmla="val 13158"/>
            </a:avLst>
          </a:prstGeom>
          <a:solidFill>
            <a:srgbClr val="12766B"/>
          </a:solidFill>
          <a:ln/>
        </p:spPr>
      </p:sp>
      <p:sp>
        <p:nvSpPr>
          <p:cNvPr id="23" name="Text 21"/>
          <p:cNvSpPr/>
          <p:nvPr/>
        </p:nvSpPr>
        <p:spPr>
          <a:xfrm>
            <a:off x="1161288" y="3451860"/>
            <a:ext cx="3657600" cy="493776"/>
          </a:xfrm>
          <a:prstGeom prst="rect">
            <a:avLst/>
          </a:prstGeom>
          <a:noFill/>
          <a:ln/>
        </p:spPr>
        <p:txBody>
          <a:bodyPr wrap="square"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S3  ベースライン学習</a:t>
            </a:r>
            <a:endParaRPr lang="en-US" sz="1300" dirty="0"/>
          </a:p>
        </p:txBody>
      </p:sp>
      <p:sp>
        <p:nvSpPr>
          <p:cNvPr id="24" name="Text 22"/>
          <p:cNvSpPr/>
          <p:nvPr/>
        </p:nvSpPr>
        <p:spPr>
          <a:xfrm>
            <a:off x="3995928" y="3451860"/>
            <a:ext cx="3200400" cy="493776"/>
          </a:xfrm>
          <a:prstGeom prst="rect">
            <a:avLst/>
          </a:prstGeom>
          <a:noFill/>
          <a:ln/>
        </p:spPr>
        <p:txBody>
          <a:bodyPr wrap="square" rtlCol="0" anchor="ctr"/>
          <a:lstStyle/>
          <a:p>
            <a:pPr indent="0" marL="0">
              <a:buNone/>
            </a:pPr>
            <a:r>
              <a:rPr lang="en-US" sz="1050" dirty="0">
                <a:solidFill>
                  <a:srgbClr val="5B6763"/>
                </a:solidFill>
                <a:latin typeface="Calibri" pitchFamily="34" charset="0"/>
                <a:ea typeface="Calibri" pitchFamily="34" charset="-122"/>
                <a:cs typeface="Calibri" pitchFamily="34" charset="-120"/>
              </a:rPr>
              <a:t>quiet-gate EMA でドリフト補償</a:t>
            </a:r>
            <a:endParaRPr lang="en-US" sz="1050" dirty="0"/>
          </a:p>
        </p:txBody>
      </p:sp>
      <p:sp>
        <p:nvSpPr>
          <p:cNvPr id="25" name="Shape 23"/>
          <p:cNvSpPr/>
          <p:nvPr/>
        </p:nvSpPr>
        <p:spPr>
          <a:xfrm>
            <a:off x="3904488" y="3977640"/>
            <a:ext cx="0" cy="59436"/>
          </a:xfrm>
          <a:prstGeom prst="line">
            <a:avLst/>
          </a:prstGeom>
          <a:noFill/>
          <a:ln w="27940">
            <a:solidFill>
              <a:srgbClr val="4FB8A5"/>
            </a:solidFill>
            <a:prstDash val="solid"/>
            <a:tailEnd type="triangle"/>
          </a:ln>
        </p:spPr>
      </p:sp>
      <p:sp>
        <p:nvSpPr>
          <p:cNvPr id="26" name="Shape 24"/>
          <p:cNvSpPr/>
          <p:nvPr/>
        </p:nvSpPr>
        <p:spPr>
          <a:xfrm>
            <a:off x="566928" y="4041648"/>
            <a:ext cx="6675120" cy="548640"/>
          </a:xfrm>
          <a:prstGeom prst="roundRect">
            <a:avLst>
              <a:gd name="adj" fmla="val 15000"/>
            </a:avLst>
          </a:prstGeom>
          <a:solidFill>
            <a:srgbClr val="FFFFFF"/>
          </a:solidFill>
          <a:ln w="12700">
            <a:solidFill>
              <a:srgbClr val="DADFDC"/>
            </a:solidFill>
            <a:prstDash val="solid"/>
          </a:ln>
        </p:spPr>
      </p:sp>
      <p:sp>
        <p:nvSpPr>
          <p:cNvPr id="27" name="Shape 25"/>
          <p:cNvSpPr/>
          <p:nvPr/>
        </p:nvSpPr>
        <p:spPr>
          <a:xfrm>
            <a:off x="676656" y="4142232"/>
            <a:ext cx="347472" cy="347472"/>
          </a:xfrm>
          <a:prstGeom prst="roundRect">
            <a:avLst>
              <a:gd name="adj" fmla="val 13158"/>
            </a:avLst>
          </a:prstGeom>
          <a:solidFill>
            <a:srgbClr val="12766B"/>
          </a:solidFill>
          <a:ln/>
        </p:spPr>
      </p:sp>
      <p:sp>
        <p:nvSpPr>
          <p:cNvPr id="28" name="Text 26"/>
          <p:cNvSpPr/>
          <p:nvPr/>
        </p:nvSpPr>
        <p:spPr>
          <a:xfrm>
            <a:off x="1161288" y="4069080"/>
            <a:ext cx="3657600" cy="493776"/>
          </a:xfrm>
          <a:prstGeom prst="rect">
            <a:avLst/>
          </a:prstGeom>
          <a:noFill/>
          <a:ln/>
        </p:spPr>
        <p:txBody>
          <a:bodyPr wrap="square"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S4  呼気セグメンテーション</a:t>
            </a:r>
            <a:endParaRPr lang="en-US" sz="1300" dirty="0"/>
          </a:p>
        </p:txBody>
      </p:sp>
      <p:sp>
        <p:nvSpPr>
          <p:cNvPr id="29" name="Text 27"/>
          <p:cNvSpPr/>
          <p:nvPr/>
        </p:nvSpPr>
        <p:spPr>
          <a:xfrm>
            <a:off x="3995928" y="4069080"/>
            <a:ext cx="3200400" cy="493776"/>
          </a:xfrm>
          <a:prstGeom prst="rect">
            <a:avLst/>
          </a:prstGeom>
          <a:noFill/>
          <a:ln/>
        </p:spPr>
        <p:txBody>
          <a:bodyPr wrap="square" rtlCol="0" anchor="ctr"/>
          <a:lstStyle/>
          <a:p>
            <a:pPr indent="0" marL="0">
              <a:buNone/>
            </a:pPr>
            <a:r>
              <a:rPr lang="en-US" sz="1050" dirty="0">
                <a:solidFill>
                  <a:srgbClr val="5B6763"/>
                </a:solidFill>
                <a:latin typeface="Calibri" pitchFamily="34" charset="0"/>
                <a:ea typeface="Calibri" pitchFamily="34" charset="-122"/>
                <a:cs typeface="Calibri" pitchFamily="34" charset="-120"/>
              </a:rPr>
              <a:t>onset / offset でイベント切り出し</a:t>
            </a:r>
            <a:endParaRPr lang="en-US" sz="1050" dirty="0"/>
          </a:p>
        </p:txBody>
      </p:sp>
      <p:sp>
        <p:nvSpPr>
          <p:cNvPr id="30" name="Shape 28"/>
          <p:cNvSpPr/>
          <p:nvPr/>
        </p:nvSpPr>
        <p:spPr>
          <a:xfrm>
            <a:off x="3904488" y="4594860"/>
            <a:ext cx="0" cy="59436"/>
          </a:xfrm>
          <a:prstGeom prst="line">
            <a:avLst/>
          </a:prstGeom>
          <a:noFill/>
          <a:ln w="27940">
            <a:solidFill>
              <a:srgbClr val="4FB8A5"/>
            </a:solidFill>
            <a:prstDash val="solid"/>
            <a:tailEnd type="triangle"/>
          </a:ln>
        </p:spPr>
      </p:sp>
      <p:sp>
        <p:nvSpPr>
          <p:cNvPr id="31" name="Shape 29"/>
          <p:cNvSpPr/>
          <p:nvPr/>
        </p:nvSpPr>
        <p:spPr>
          <a:xfrm>
            <a:off x="566928" y="4658868"/>
            <a:ext cx="6675120" cy="548640"/>
          </a:xfrm>
          <a:prstGeom prst="roundRect">
            <a:avLst>
              <a:gd name="adj" fmla="val 15000"/>
            </a:avLst>
          </a:prstGeom>
          <a:solidFill>
            <a:srgbClr val="FFFFFF"/>
          </a:solidFill>
          <a:ln w="12700">
            <a:solidFill>
              <a:srgbClr val="DADFDC"/>
            </a:solidFill>
            <a:prstDash val="solid"/>
          </a:ln>
        </p:spPr>
      </p:sp>
      <p:sp>
        <p:nvSpPr>
          <p:cNvPr id="32" name="Shape 30"/>
          <p:cNvSpPr/>
          <p:nvPr/>
        </p:nvSpPr>
        <p:spPr>
          <a:xfrm>
            <a:off x="676656" y="4759452"/>
            <a:ext cx="347472" cy="347472"/>
          </a:xfrm>
          <a:prstGeom prst="roundRect">
            <a:avLst>
              <a:gd name="adj" fmla="val 13158"/>
            </a:avLst>
          </a:prstGeom>
          <a:solidFill>
            <a:srgbClr val="12766B"/>
          </a:solidFill>
          <a:ln/>
        </p:spPr>
      </p:sp>
      <p:sp>
        <p:nvSpPr>
          <p:cNvPr id="33" name="Text 31"/>
          <p:cNvSpPr/>
          <p:nvPr/>
        </p:nvSpPr>
        <p:spPr>
          <a:xfrm>
            <a:off x="1161288" y="4686300"/>
            <a:ext cx="3657600" cy="493776"/>
          </a:xfrm>
          <a:prstGeom prst="rect">
            <a:avLst/>
          </a:prstGeom>
          <a:noFill/>
          <a:ln/>
        </p:spPr>
        <p:txBody>
          <a:bodyPr wrap="square"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S5  特徴量抽出</a:t>
            </a:r>
            <a:endParaRPr lang="en-US" sz="1300" dirty="0"/>
          </a:p>
        </p:txBody>
      </p:sp>
      <p:sp>
        <p:nvSpPr>
          <p:cNvPr id="34" name="Text 32"/>
          <p:cNvSpPr/>
          <p:nvPr/>
        </p:nvSpPr>
        <p:spPr>
          <a:xfrm>
            <a:off x="3995928" y="4686300"/>
            <a:ext cx="3200400" cy="493776"/>
          </a:xfrm>
          <a:prstGeom prst="rect">
            <a:avLst/>
          </a:prstGeom>
          <a:noFill/>
          <a:ln/>
        </p:spPr>
        <p:txBody>
          <a:bodyPr wrap="square" rtlCol="0" anchor="ctr"/>
          <a:lstStyle/>
          <a:p>
            <a:pPr indent="0" marL="0">
              <a:buNone/>
            </a:pPr>
            <a:r>
              <a:rPr lang="en-US" sz="1050" dirty="0">
                <a:solidFill>
                  <a:srgbClr val="5B6763"/>
                </a:solidFill>
                <a:latin typeface="Calibri" pitchFamily="34" charset="0"/>
                <a:ea typeface="Calibri" pitchFamily="34" charset="-122"/>
                <a:cs typeface="Calibri" pitchFamily="34" charset="-120"/>
              </a:rPr>
              <a:t>peak / plateau / AUC / rise / duration</a:t>
            </a:r>
            <a:endParaRPr lang="en-US" sz="1050" dirty="0"/>
          </a:p>
        </p:txBody>
      </p:sp>
      <p:sp>
        <p:nvSpPr>
          <p:cNvPr id="35" name="Shape 33"/>
          <p:cNvSpPr/>
          <p:nvPr/>
        </p:nvSpPr>
        <p:spPr>
          <a:xfrm>
            <a:off x="3904488" y="5212080"/>
            <a:ext cx="0" cy="59436"/>
          </a:xfrm>
          <a:prstGeom prst="line">
            <a:avLst/>
          </a:prstGeom>
          <a:noFill/>
          <a:ln w="27940">
            <a:solidFill>
              <a:srgbClr val="4FB8A5"/>
            </a:solidFill>
            <a:prstDash val="solid"/>
            <a:tailEnd type="triangle"/>
          </a:ln>
        </p:spPr>
      </p:sp>
      <p:sp>
        <p:nvSpPr>
          <p:cNvPr id="36" name="Shape 34"/>
          <p:cNvSpPr/>
          <p:nvPr/>
        </p:nvSpPr>
        <p:spPr>
          <a:xfrm>
            <a:off x="566928" y="5276088"/>
            <a:ext cx="6675120" cy="548640"/>
          </a:xfrm>
          <a:prstGeom prst="roundRect">
            <a:avLst>
              <a:gd name="adj" fmla="val 15000"/>
            </a:avLst>
          </a:prstGeom>
          <a:solidFill>
            <a:srgbClr val="FFFFFF"/>
          </a:solidFill>
          <a:ln w="12700">
            <a:solidFill>
              <a:srgbClr val="DADFDC"/>
            </a:solidFill>
            <a:prstDash val="solid"/>
          </a:ln>
        </p:spPr>
      </p:sp>
      <p:sp>
        <p:nvSpPr>
          <p:cNvPr id="37" name="Shape 35"/>
          <p:cNvSpPr/>
          <p:nvPr/>
        </p:nvSpPr>
        <p:spPr>
          <a:xfrm>
            <a:off x="676656" y="5376672"/>
            <a:ext cx="347472" cy="347472"/>
          </a:xfrm>
          <a:prstGeom prst="roundRect">
            <a:avLst>
              <a:gd name="adj" fmla="val 13158"/>
            </a:avLst>
          </a:prstGeom>
          <a:solidFill>
            <a:srgbClr val="C8811F"/>
          </a:solidFill>
          <a:ln/>
        </p:spPr>
      </p:sp>
      <p:sp>
        <p:nvSpPr>
          <p:cNvPr id="38" name="Text 36"/>
          <p:cNvSpPr/>
          <p:nvPr/>
        </p:nvSpPr>
        <p:spPr>
          <a:xfrm>
            <a:off x="1161288" y="5303520"/>
            <a:ext cx="3657600" cy="493776"/>
          </a:xfrm>
          <a:prstGeom prst="rect">
            <a:avLst/>
          </a:prstGeom>
          <a:noFill/>
          <a:ln/>
        </p:spPr>
        <p:txBody>
          <a:bodyPr wrap="square"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S6·S7  Q × C 採点</a:t>
            </a:r>
            <a:endParaRPr lang="en-US" sz="1300" dirty="0"/>
          </a:p>
        </p:txBody>
      </p:sp>
      <p:sp>
        <p:nvSpPr>
          <p:cNvPr id="39" name="Text 37"/>
          <p:cNvSpPr/>
          <p:nvPr/>
        </p:nvSpPr>
        <p:spPr>
          <a:xfrm>
            <a:off x="3995928" y="5303520"/>
            <a:ext cx="3200400" cy="493776"/>
          </a:xfrm>
          <a:prstGeom prst="rect">
            <a:avLst/>
          </a:prstGeom>
          <a:noFill/>
          <a:ln/>
        </p:spPr>
        <p:txBody>
          <a:bodyPr wrap="square" rtlCol="0" anchor="ctr"/>
          <a:lstStyle/>
          <a:p>
            <a:pPr indent="0" marL="0">
              <a:buNone/>
            </a:pPr>
            <a:r>
              <a:rPr lang="en-US" sz="1050" dirty="0">
                <a:solidFill>
                  <a:srgbClr val="5B6763"/>
                </a:solidFill>
                <a:latin typeface="Calibri" pitchFamily="34" charset="0"/>
                <a:ea typeface="Calibri" pitchFamily="34" charset="-122"/>
                <a:cs typeface="Calibri" pitchFamily="34" charset="-120"/>
              </a:rPr>
              <a:t>測定の質 と 計測器の健全性（二軸）</a:t>
            </a:r>
            <a:endParaRPr lang="en-US" sz="1050" dirty="0"/>
          </a:p>
        </p:txBody>
      </p:sp>
      <p:sp>
        <p:nvSpPr>
          <p:cNvPr id="40" name="Shape 38"/>
          <p:cNvSpPr/>
          <p:nvPr/>
        </p:nvSpPr>
        <p:spPr>
          <a:xfrm>
            <a:off x="3904488" y="5829300"/>
            <a:ext cx="0" cy="59436"/>
          </a:xfrm>
          <a:prstGeom prst="line">
            <a:avLst/>
          </a:prstGeom>
          <a:noFill/>
          <a:ln w="27940">
            <a:solidFill>
              <a:srgbClr val="4FB8A5"/>
            </a:solidFill>
            <a:prstDash val="solid"/>
            <a:tailEnd type="triangle"/>
          </a:ln>
        </p:spPr>
      </p:sp>
      <p:sp>
        <p:nvSpPr>
          <p:cNvPr id="41" name="Shape 39"/>
          <p:cNvSpPr/>
          <p:nvPr/>
        </p:nvSpPr>
        <p:spPr>
          <a:xfrm>
            <a:off x="566928" y="5893308"/>
            <a:ext cx="6675120" cy="548640"/>
          </a:xfrm>
          <a:prstGeom prst="roundRect">
            <a:avLst>
              <a:gd name="adj" fmla="val 15000"/>
            </a:avLst>
          </a:prstGeom>
          <a:solidFill>
            <a:srgbClr val="FFFFFF"/>
          </a:solidFill>
          <a:ln w="12700">
            <a:solidFill>
              <a:srgbClr val="DADFDC"/>
            </a:solidFill>
            <a:prstDash val="solid"/>
          </a:ln>
        </p:spPr>
      </p:sp>
      <p:sp>
        <p:nvSpPr>
          <p:cNvPr id="42" name="Shape 40"/>
          <p:cNvSpPr/>
          <p:nvPr/>
        </p:nvSpPr>
        <p:spPr>
          <a:xfrm>
            <a:off x="676656" y="5993892"/>
            <a:ext cx="347472" cy="347472"/>
          </a:xfrm>
          <a:prstGeom prst="roundRect">
            <a:avLst>
              <a:gd name="adj" fmla="val 13158"/>
            </a:avLst>
          </a:prstGeom>
          <a:solidFill>
            <a:srgbClr val="CE544C"/>
          </a:solidFill>
          <a:ln/>
        </p:spPr>
      </p:sp>
      <p:sp>
        <p:nvSpPr>
          <p:cNvPr id="43" name="Text 41"/>
          <p:cNvSpPr/>
          <p:nvPr/>
        </p:nvSpPr>
        <p:spPr>
          <a:xfrm>
            <a:off x="1161288" y="5920740"/>
            <a:ext cx="3657600" cy="493776"/>
          </a:xfrm>
          <a:prstGeom prst="rect">
            <a:avLst/>
          </a:prstGeom>
          <a:noFill/>
          <a:ln/>
        </p:spPr>
        <p:txBody>
          <a:bodyPr wrap="square"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S8  検証 → EVT_RESULT</a:t>
            </a:r>
            <a:endParaRPr lang="en-US" sz="1300" dirty="0"/>
          </a:p>
        </p:txBody>
      </p:sp>
      <p:sp>
        <p:nvSpPr>
          <p:cNvPr id="44" name="Text 42"/>
          <p:cNvSpPr/>
          <p:nvPr/>
        </p:nvSpPr>
        <p:spPr>
          <a:xfrm>
            <a:off x="3995928" y="5920740"/>
            <a:ext cx="3200400" cy="493776"/>
          </a:xfrm>
          <a:prstGeom prst="rect">
            <a:avLst/>
          </a:prstGeom>
          <a:noFill/>
          <a:ln/>
        </p:spPr>
        <p:txBody>
          <a:bodyPr wrap="square" rtlCol="0" anchor="ctr"/>
          <a:lstStyle/>
          <a:p>
            <a:pPr indent="0" marL="0">
              <a:buNone/>
            </a:pPr>
            <a:r>
              <a:rPr lang="en-US" sz="1050" dirty="0">
                <a:solidFill>
                  <a:srgbClr val="5B6763"/>
                </a:solidFill>
                <a:latin typeface="Calibri" pitchFamily="34" charset="0"/>
                <a:ea typeface="Calibri" pitchFamily="34" charset="-122"/>
                <a:cs typeface="Calibri" pitchFamily="34" charset="-120"/>
              </a:rPr>
              <a:t>自動再測定判定 → ARQで確実に届ける</a:t>
            </a:r>
            <a:endParaRPr lang="en-US" sz="1050" dirty="0"/>
          </a:p>
        </p:txBody>
      </p:sp>
      <p:sp>
        <p:nvSpPr>
          <p:cNvPr id="45" name="Shape 43"/>
          <p:cNvSpPr/>
          <p:nvPr/>
        </p:nvSpPr>
        <p:spPr>
          <a:xfrm>
            <a:off x="7452360" y="1572768"/>
            <a:ext cx="4160520" cy="4279392"/>
          </a:xfrm>
          <a:prstGeom prst="roundRect">
            <a:avLst>
              <a:gd name="adj" fmla="val 1978"/>
            </a:avLst>
          </a:prstGeom>
          <a:solidFill>
            <a:srgbClr val="FFFFFF"/>
          </a:solidFill>
          <a:ln w="12700">
            <a:solidFill>
              <a:srgbClr val="DADFDC"/>
            </a:solidFill>
            <a:prstDash val="solid"/>
          </a:ln>
          <a:effectLst>
            <a:outerShdw sx="100000" sy="100000" kx="0" ky="0" algn="bl" rotWithShape="0" blurRad="101600" dist="38100" dir="5400000">
              <a:srgbClr val="9AA5A0">
                <a:alpha val="28000"/>
              </a:srgbClr>
            </a:outerShdw>
          </a:effectLst>
        </p:spPr>
      </p:sp>
      <p:sp>
        <p:nvSpPr>
          <p:cNvPr id="46" name="Text 44"/>
          <p:cNvSpPr/>
          <p:nvPr/>
        </p:nvSpPr>
        <p:spPr>
          <a:xfrm>
            <a:off x="7680960" y="1691640"/>
            <a:ext cx="3657600" cy="32004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呼気1回の断面</a:t>
            </a:r>
            <a:endParaRPr lang="en-US" sz="1300" dirty="0"/>
          </a:p>
        </p:txBody>
      </p:sp>
      <p:sp>
        <p:nvSpPr>
          <p:cNvPr id="47" name="Shape 45"/>
          <p:cNvSpPr/>
          <p:nvPr/>
        </p:nvSpPr>
        <p:spPr>
          <a:xfrm>
            <a:off x="7772400" y="5303520"/>
            <a:ext cx="3566160" cy="0"/>
          </a:xfrm>
          <a:prstGeom prst="line">
            <a:avLst/>
          </a:prstGeom>
          <a:noFill/>
          <a:ln w="12700">
            <a:solidFill>
              <a:srgbClr val="DADFDC"/>
            </a:solidFill>
            <a:prstDash val="solid"/>
          </a:ln>
        </p:spPr>
      </p:sp>
      <p:sp>
        <p:nvSpPr>
          <p:cNvPr id="48" name="Shape 46"/>
          <p:cNvSpPr/>
          <p:nvPr/>
        </p:nvSpPr>
        <p:spPr>
          <a:xfrm>
            <a:off x="7772400" y="2194560"/>
            <a:ext cx="0" cy="3108960"/>
          </a:xfrm>
          <a:prstGeom prst="line">
            <a:avLst/>
          </a:prstGeom>
          <a:noFill/>
          <a:ln w="12700">
            <a:solidFill>
              <a:srgbClr val="DADFDC"/>
            </a:solidFill>
            <a:prstDash val="solid"/>
          </a:ln>
        </p:spPr>
      </p:sp>
      <p:sp>
        <p:nvSpPr>
          <p:cNvPr id="49" name="Shape 47"/>
          <p:cNvSpPr/>
          <p:nvPr/>
        </p:nvSpPr>
        <p:spPr>
          <a:xfrm>
            <a:off x="7772400" y="4663440"/>
            <a:ext cx="3566160" cy="640080"/>
          </a:xfrm>
          <a:prstGeom prst="rect">
            <a:avLst/>
          </a:prstGeom>
          <a:solidFill>
            <a:srgbClr val="D9EBE7">
              <a:alpha val="60000"/>
            </a:srgbClr>
          </a:solidFill>
          <a:ln/>
        </p:spPr>
      </p:sp>
      <p:sp>
        <p:nvSpPr>
          <p:cNvPr id="50" name="Shape 48"/>
          <p:cNvSpPr/>
          <p:nvPr/>
        </p:nvSpPr>
        <p:spPr>
          <a:xfrm>
            <a:off x="7772400" y="4800600"/>
            <a:ext cx="3566160" cy="0"/>
          </a:xfrm>
          <a:prstGeom prst="line">
            <a:avLst/>
          </a:prstGeom>
          <a:noFill/>
          <a:ln w="12700">
            <a:solidFill>
              <a:srgbClr val="5B6763"/>
            </a:solidFill>
            <a:prstDash val="dash"/>
          </a:ln>
        </p:spPr>
      </p:sp>
      <p:sp>
        <p:nvSpPr>
          <p:cNvPr id="51" name="Shape 49"/>
          <p:cNvSpPr/>
          <p:nvPr/>
        </p:nvSpPr>
        <p:spPr>
          <a:xfrm>
            <a:off x="7772400" y="4800600"/>
            <a:ext cx="822960" cy="45720"/>
          </a:xfrm>
          <a:prstGeom prst="line">
            <a:avLst/>
          </a:prstGeom>
          <a:noFill/>
          <a:ln w="31750">
            <a:solidFill>
              <a:srgbClr val="12766B"/>
            </a:solidFill>
            <a:prstDash val="solid"/>
          </a:ln>
        </p:spPr>
      </p:sp>
      <p:sp>
        <p:nvSpPr>
          <p:cNvPr id="52" name="Shape 50"/>
          <p:cNvSpPr/>
          <p:nvPr/>
        </p:nvSpPr>
        <p:spPr>
          <a:xfrm>
            <a:off x="8595360" y="4846320"/>
            <a:ext cx="548640" cy="-1371600"/>
          </a:xfrm>
          <a:prstGeom prst="line">
            <a:avLst/>
          </a:prstGeom>
          <a:noFill/>
          <a:ln w="31750">
            <a:solidFill>
              <a:srgbClr val="12766B"/>
            </a:solidFill>
            <a:prstDash val="solid"/>
          </a:ln>
        </p:spPr>
      </p:sp>
      <p:sp>
        <p:nvSpPr>
          <p:cNvPr id="53" name="Shape 51"/>
          <p:cNvSpPr/>
          <p:nvPr/>
        </p:nvSpPr>
        <p:spPr>
          <a:xfrm>
            <a:off x="9144000" y="3474720"/>
            <a:ext cx="457200" cy="-640080"/>
          </a:xfrm>
          <a:prstGeom prst="line">
            <a:avLst/>
          </a:prstGeom>
          <a:noFill/>
          <a:ln w="31750">
            <a:solidFill>
              <a:srgbClr val="12766B"/>
            </a:solidFill>
            <a:prstDash val="solid"/>
          </a:ln>
        </p:spPr>
      </p:sp>
      <p:sp>
        <p:nvSpPr>
          <p:cNvPr id="54" name="Shape 52"/>
          <p:cNvSpPr/>
          <p:nvPr/>
        </p:nvSpPr>
        <p:spPr>
          <a:xfrm>
            <a:off x="9601200" y="2834640"/>
            <a:ext cx="548640" cy="-137160"/>
          </a:xfrm>
          <a:prstGeom prst="line">
            <a:avLst/>
          </a:prstGeom>
          <a:noFill/>
          <a:ln w="31750">
            <a:solidFill>
              <a:srgbClr val="12766B"/>
            </a:solidFill>
            <a:prstDash val="solid"/>
          </a:ln>
        </p:spPr>
      </p:sp>
      <p:sp>
        <p:nvSpPr>
          <p:cNvPr id="55" name="Shape 53"/>
          <p:cNvSpPr/>
          <p:nvPr/>
        </p:nvSpPr>
        <p:spPr>
          <a:xfrm>
            <a:off x="10149840" y="2697480"/>
            <a:ext cx="457200" cy="45720"/>
          </a:xfrm>
          <a:prstGeom prst="line">
            <a:avLst/>
          </a:prstGeom>
          <a:noFill/>
          <a:ln w="31750">
            <a:solidFill>
              <a:srgbClr val="12766B"/>
            </a:solidFill>
            <a:prstDash val="solid"/>
          </a:ln>
        </p:spPr>
      </p:sp>
      <p:sp>
        <p:nvSpPr>
          <p:cNvPr id="56" name="Shape 54"/>
          <p:cNvSpPr/>
          <p:nvPr/>
        </p:nvSpPr>
        <p:spPr>
          <a:xfrm>
            <a:off x="10607040" y="2743200"/>
            <a:ext cx="365760" cy="1280160"/>
          </a:xfrm>
          <a:prstGeom prst="line">
            <a:avLst/>
          </a:prstGeom>
          <a:noFill/>
          <a:ln w="31750">
            <a:solidFill>
              <a:srgbClr val="12766B"/>
            </a:solidFill>
            <a:prstDash val="solid"/>
          </a:ln>
        </p:spPr>
      </p:sp>
      <p:sp>
        <p:nvSpPr>
          <p:cNvPr id="57" name="Shape 55"/>
          <p:cNvSpPr/>
          <p:nvPr/>
        </p:nvSpPr>
        <p:spPr>
          <a:xfrm>
            <a:off x="10972800" y="4023360"/>
            <a:ext cx="365760" cy="731520"/>
          </a:xfrm>
          <a:prstGeom prst="line">
            <a:avLst/>
          </a:prstGeom>
          <a:noFill/>
          <a:ln w="31750">
            <a:solidFill>
              <a:srgbClr val="12766B"/>
            </a:solidFill>
            <a:prstDash val="solid"/>
          </a:ln>
        </p:spPr>
      </p:sp>
      <p:sp>
        <p:nvSpPr>
          <p:cNvPr id="58" name="Text 56"/>
          <p:cNvSpPr/>
          <p:nvPr/>
        </p:nvSpPr>
        <p:spPr>
          <a:xfrm>
            <a:off x="9692640" y="2148840"/>
            <a:ext cx="9144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peak</a:t>
            </a:r>
            <a:endParaRPr lang="en-US" sz="900" dirty="0"/>
          </a:p>
        </p:txBody>
      </p:sp>
      <p:sp>
        <p:nvSpPr>
          <p:cNvPr id="59" name="Text 57"/>
          <p:cNvSpPr/>
          <p:nvPr/>
        </p:nvSpPr>
        <p:spPr>
          <a:xfrm>
            <a:off x="10104120" y="2697480"/>
            <a:ext cx="1097280" cy="274320"/>
          </a:xfrm>
          <a:prstGeom prst="rect">
            <a:avLst/>
          </a:prstGeom>
          <a:noFill/>
          <a:ln/>
        </p:spPr>
        <p:txBody>
          <a:bodyPr wrap="square" rtlCol="0" anchor="ctr"/>
          <a:lstStyle/>
          <a:p>
            <a:pPr indent="0" marL="0">
              <a:buNone/>
            </a:pPr>
            <a:r>
              <a:rPr lang="en-US" sz="900" dirty="0">
                <a:solidFill>
                  <a:srgbClr val="5B6763"/>
                </a:solidFill>
                <a:latin typeface="Calibri" pitchFamily="34" charset="0"/>
                <a:ea typeface="Calibri" pitchFamily="34" charset="-122"/>
                <a:cs typeface="Calibri" pitchFamily="34" charset="-120"/>
              </a:rPr>
              <a:t>plateau</a:t>
            </a:r>
            <a:endParaRPr lang="en-US" sz="900" dirty="0"/>
          </a:p>
        </p:txBody>
      </p:sp>
      <p:sp>
        <p:nvSpPr>
          <p:cNvPr id="60" name="Text 58"/>
          <p:cNvSpPr/>
          <p:nvPr/>
        </p:nvSpPr>
        <p:spPr>
          <a:xfrm>
            <a:off x="8732520" y="4434840"/>
            <a:ext cx="914400" cy="274320"/>
          </a:xfrm>
          <a:prstGeom prst="rect">
            <a:avLst/>
          </a:prstGeom>
          <a:noFill/>
          <a:ln/>
        </p:spPr>
        <p:txBody>
          <a:bodyPr wrap="square" rtlCol="0" anchor="ctr"/>
          <a:lstStyle/>
          <a:p>
            <a:pPr indent="0" marL="0">
              <a:buNone/>
            </a:pPr>
            <a:r>
              <a:rPr lang="en-US" sz="900" b="1" dirty="0">
                <a:solidFill>
                  <a:srgbClr val="C8811F"/>
                </a:solidFill>
                <a:latin typeface="Calibri" pitchFamily="34" charset="0"/>
                <a:ea typeface="Calibri" pitchFamily="34" charset="-122"/>
                <a:cs typeface="Calibri" pitchFamily="34" charset="-120"/>
              </a:rPr>
              <a:t>onset</a:t>
            </a:r>
            <a:endParaRPr lang="en-US" sz="900" dirty="0"/>
          </a:p>
        </p:txBody>
      </p:sp>
      <p:sp>
        <p:nvSpPr>
          <p:cNvPr id="61" name="Text 59"/>
          <p:cNvSpPr/>
          <p:nvPr/>
        </p:nvSpPr>
        <p:spPr>
          <a:xfrm>
            <a:off x="10744200" y="4343400"/>
            <a:ext cx="914400" cy="274320"/>
          </a:xfrm>
          <a:prstGeom prst="rect">
            <a:avLst/>
          </a:prstGeom>
          <a:noFill/>
          <a:ln/>
        </p:spPr>
        <p:txBody>
          <a:bodyPr wrap="square" rtlCol="0" anchor="ctr"/>
          <a:lstStyle/>
          <a:p>
            <a:pPr indent="0" marL="0">
              <a:buNone/>
            </a:pPr>
            <a:r>
              <a:rPr lang="en-US" sz="900" b="1" dirty="0">
                <a:solidFill>
                  <a:srgbClr val="C8811F"/>
                </a:solidFill>
                <a:latin typeface="Calibri" pitchFamily="34" charset="0"/>
                <a:ea typeface="Calibri" pitchFamily="34" charset="-122"/>
                <a:cs typeface="Calibri" pitchFamily="34" charset="-120"/>
              </a:rPr>
              <a:t>offset</a:t>
            </a:r>
            <a:endParaRPr lang="en-US" sz="900" dirty="0"/>
          </a:p>
        </p:txBody>
      </p:sp>
      <p:sp>
        <p:nvSpPr>
          <p:cNvPr id="62" name="Shape 60"/>
          <p:cNvSpPr/>
          <p:nvPr/>
        </p:nvSpPr>
        <p:spPr>
          <a:xfrm>
            <a:off x="7680960" y="5486400"/>
            <a:ext cx="3703320" cy="0"/>
          </a:xfrm>
          <a:prstGeom prst="line">
            <a:avLst/>
          </a:prstGeom>
          <a:noFill/>
          <a:ln w="9525">
            <a:solidFill>
              <a:srgbClr val="DADFDC"/>
            </a:solidFill>
            <a:prstDash val="solid"/>
          </a:ln>
        </p:spPr>
      </p:sp>
      <p:sp>
        <p:nvSpPr>
          <p:cNvPr id="63" name="Text 61"/>
          <p:cNvSpPr/>
          <p:nvPr/>
        </p:nvSpPr>
        <p:spPr>
          <a:xfrm>
            <a:off x="7680960" y="5532120"/>
            <a:ext cx="3749040" cy="256032"/>
          </a:xfrm>
          <a:prstGeom prst="rect">
            <a:avLst/>
          </a:prstGeom>
          <a:noFill/>
          <a:ln/>
        </p:spPr>
        <p:txBody>
          <a:bodyPr wrap="square" rtlCol="0" anchor="ctr"/>
          <a:lstStyle/>
          <a:p>
            <a:pPr indent="0" marL="0">
              <a:buNone/>
            </a:pPr>
            <a:r>
              <a:rPr lang="en-US" sz="1000" i="1" dirty="0">
                <a:solidFill>
                  <a:srgbClr val="5B6763"/>
                </a:solidFill>
                <a:latin typeface="Calibri" pitchFamily="34" charset="0"/>
                <a:ea typeface="Calibri" pitchFamily="34" charset="-122"/>
                <a:cs typeface="Calibri" pitchFamily="34" charset="-120"/>
              </a:rPr>
              <a:t>AUC = ΣΔ·1s（総排出量に比例）</a:t>
            </a:r>
            <a:endParaRPr lang="en-US" sz="1000" dirty="0"/>
          </a:p>
        </p:txBody>
      </p:sp>
      <p:sp>
        <p:nvSpPr>
          <p:cNvPr id="64" name="Text 62"/>
          <p:cNvSpPr/>
          <p:nvPr/>
        </p:nvSpPr>
        <p:spPr>
          <a:xfrm>
            <a:off x="7680960" y="5806440"/>
            <a:ext cx="3749040" cy="256032"/>
          </a:xfrm>
          <a:prstGeom prst="rect">
            <a:avLst/>
          </a:prstGeom>
          <a:noFill/>
          <a:ln/>
        </p:spPr>
        <p:txBody>
          <a:bodyPr wrap="square" rtlCol="0" anchor="t"/>
          <a:lstStyle/>
          <a:p>
            <a:pPr indent="0" marL="0">
              <a:buNone/>
            </a:pPr>
            <a:r>
              <a:rPr lang="en-US" sz="1000" b="1" dirty="0">
                <a:solidFill>
                  <a:srgbClr val="12766B"/>
                </a:solidFill>
                <a:latin typeface="Calibri" pitchFamily="34" charset="0"/>
                <a:ea typeface="Calibri" pitchFamily="34" charset="-122"/>
                <a:cs typeface="Calibri" pitchFamily="34" charset="-120"/>
              </a:rPr>
              <a:t>RH・温度は捨てず「呼気の独立証拠」に転用</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BAP · S1</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スパイク除去：Hampelフィルタ + 持続性判定</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05</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600200"/>
            <a:ext cx="5486400" cy="2148840"/>
          </a:xfrm>
          <a:prstGeom prst="roundRect">
            <a:avLst>
              <a:gd name="adj" fmla="val 3830"/>
            </a:avLst>
          </a:prstGeom>
          <a:solidFill>
            <a:srgbClr val="FFFFFF"/>
          </a:solidFill>
          <a:ln w="12700">
            <a:solidFill>
              <a:srgbClr val="DADFDC"/>
            </a:solidFill>
            <a:prstDash val="solid"/>
          </a:ln>
          <a:effectLst>
            <a:outerShdw sx="100000" sy="100000" kx="0" ky="0" algn="bl" rotWithShape="0" blurRad="101600" dist="38100" dir="5400000">
              <a:srgbClr val="9AA5A0">
                <a:alpha val="28000"/>
              </a:srgbClr>
            </a:outerShdw>
          </a:effectLst>
        </p:spPr>
      </p:sp>
      <p:sp>
        <p:nvSpPr>
          <p:cNvPr id="7" name="Text 5"/>
          <p:cNvSpPr/>
          <p:nvPr/>
        </p:nvSpPr>
        <p:spPr>
          <a:xfrm>
            <a:off x="795528" y="1737360"/>
            <a:ext cx="45720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判定式</a:t>
            </a:r>
            <a:endParaRPr lang="en-US" sz="1300" dirty="0"/>
          </a:p>
        </p:txBody>
      </p:sp>
      <p:sp>
        <p:nvSpPr>
          <p:cNvPr id="8" name="Text 6"/>
          <p:cNvSpPr/>
          <p:nvPr/>
        </p:nvSpPr>
        <p:spPr>
          <a:xfrm>
            <a:off x="795528" y="2057400"/>
            <a:ext cx="5029200" cy="365760"/>
          </a:xfrm>
          <a:prstGeom prst="rect">
            <a:avLst/>
          </a:prstGeom>
          <a:noFill/>
          <a:ln/>
        </p:spPr>
        <p:txBody>
          <a:bodyPr wrap="square" rtlCol="0" anchor="ctr"/>
          <a:lstStyle/>
          <a:p>
            <a:pPr indent="0" marL="0">
              <a:buNone/>
            </a:pPr>
            <a:r>
              <a:rPr lang="en-US" sz="1300" dirty="0">
                <a:solidFill>
                  <a:srgbClr val="1C1C1E"/>
                </a:solidFill>
                <a:latin typeface="Courier New" pitchFamily="34" charset="0"/>
                <a:ea typeface="Courier New" pitchFamily="34" charset="-122"/>
                <a:cs typeface="Courier New" pitchFamily="34" charset="-120"/>
              </a:rPr>
              <a:t>|x − median| &gt; k·MAD + floor  →  中央値に置換</a:t>
            </a:r>
            <a:endParaRPr lang="en-US" sz="1300" dirty="0"/>
          </a:p>
        </p:txBody>
      </p:sp>
      <p:sp>
        <p:nvSpPr>
          <p:cNvPr id="9" name="Text 7"/>
          <p:cNvSpPr/>
          <p:nvPr/>
        </p:nvSpPr>
        <p:spPr>
          <a:xfrm>
            <a:off x="795528" y="2468880"/>
            <a:ext cx="5074920" cy="1188720"/>
          </a:xfrm>
          <a:prstGeom prst="rect">
            <a:avLst/>
          </a:prstGeom>
          <a:noFill/>
          <a:ln/>
        </p:spPr>
        <p:txBody>
          <a:bodyPr wrap="square" rtlCol="0" anchor="t"/>
          <a:lstStyle/>
          <a:p>
            <a:pPr marL="177800" indent="-177800">
              <a:spcAft>
                <a:spcPts val="600"/>
              </a:spcAft>
              <a:buSzPct val="100000"/>
              <a:buChar char="•"/>
            </a:pPr>
            <a:r>
              <a:rPr lang="en-US" sz="1200" dirty="0">
                <a:solidFill>
                  <a:srgbClr val="1C1C1E"/>
                </a:solidFill>
                <a:latin typeface="Calibri" pitchFamily="34" charset="0"/>
                <a:ea typeface="Calibri" pitchFamily="34" charset="-122"/>
                <a:cs typeface="Calibri" pitchFamily="34" charset="-120"/>
              </a:rPr>
              <a:t>w=5の窓・k=3。MADでスケール不変の閾値</a:t>
            </a:r>
            <a:endParaRPr lang="en-US" sz="1200" dirty="0"/>
          </a:p>
          <a:p>
            <a:pPr marL="177800" indent="-177800">
              <a:spcAft>
                <a:spcPts val="600"/>
              </a:spcAft>
              <a:buSzPct val="100000"/>
              <a:buChar char="•"/>
            </a:pPr>
            <a:r>
              <a:rPr lang="en-US" sz="1200" dirty="0">
                <a:solidFill>
                  <a:srgbClr val="1C1C1E"/>
                </a:solidFill>
                <a:latin typeface="Calibri" pitchFamily="34" charset="0"/>
                <a:ea typeface="Calibri" pitchFamily="34" charset="-122"/>
                <a:cs typeface="Calibri" pitchFamily="34" charset="-120"/>
              </a:rPr>
              <a:t>「異常な時だけ介入」→ 正常値の分解能を落とさない</a:t>
            </a:r>
            <a:endParaRPr lang="en-US" sz="1200" dirty="0"/>
          </a:p>
          <a:p>
            <a:pPr marL="177800" indent="-177800">
              <a:spcAft>
                <a:spcPts val="600"/>
              </a:spcAft>
              <a:buSzPct val="100000"/>
              <a:buChar char="•"/>
            </a:pPr>
            <a:r>
              <a:rPr lang="en-US" sz="1200" b="1" dirty="0">
                <a:solidFill>
                  <a:srgbClr val="12766B"/>
                </a:solidFill>
                <a:latin typeface="Calibri" pitchFamily="34" charset="0"/>
                <a:ea typeface="Calibri" pitchFamily="34" charset="-122"/>
                <a:cs typeface="Calibri" pitchFamily="34" charset="-120"/>
              </a:rPr>
              <a:t>持続性判定：同方向2連続の逸脱は"本物のステップ"として受理</a:t>
            </a:r>
            <a:endParaRPr lang="en-US" sz="1200" dirty="0"/>
          </a:p>
        </p:txBody>
      </p:sp>
      <p:sp>
        <p:nvSpPr>
          <p:cNvPr id="10" name="Shape 8"/>
          <p:cNvSpPr/>
          <p:nvPr/>
        </p:nvSpPr>
        <p:spPr>
          <a:xfrm>
            <a:off x="6263640" y="1600200"/>
            <a:ext cx="5349240" cy="2148840"/>
          </a:xfrm>
          <a:prstGeom prst="roundRect">
            <a:avLst>
              <a:gd name="adj" fmla="val 3830"/>
            </a:avLst>
          </a:prstGeom>
          <a:solidFill>
            <a:srgbClr val="D9EBE7"/>
          </a:solidFill>
          <a:ln/>
        </p:spPr>
      </p:sp>
      <p:sp>
        <p:nvSpPr>
          <p:cNvPr id="11" name="Text 9"/>
          <p:cNvSpPr/>
          <p:nvPr/>
        </p:nvSpPr>
        <p:spPr>
          <a:xfrm>
            <a:off x="6492240" y="1737360"/>
            <a:ext cx="484632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なぜ移動平均ではダメか</a:t>
            </a:r>
            <a:endParaRPr lang="en-US" sz="1300" dirty="0"/>
          </a:p>
        </p:txBody>
      </p:sp>
      <p:sp>
        <p:nvSpPr>
          <p:cNvPr id="12" name="Text 10"/>
          <p:cNvSpPr/>
          <p:nvPr/>
        </p:nvSpPr>
        <p:spPr>
          <a:xfrm>
            <a:off x="6492240" y="2084832"/>
            <a:ext cx="4937760" cy="1371600"/>
          </a:xfrm>
          <a:prstGeom prst="rect">
            <a:avLst/>
          </a:prstGeom>
          <a:noFill/>
          <a:ln/>
        </p:spPr>
        <p:txBody>
          <a:bodyPr wrap="square" rtlCol="0" anchor="t"/>
          <a:lstStyle/>
          <a:p>
            <a:pPr marL="177800" indent="-177800">
              <a:spcAft>
                <a:spcPts val="600"/>
              </a:spcAft>
              <a:buSzPct val="100000"/>
              <a:buChar char="•"/>
            </a:pPr>
            <a:r>
              <a:rPr lang="en-US" sz="1200" dirty="0">
                <a:solidFill>
                  <a:srgbClr val="1C1C1E"/>
                </a:solidFill>
                <a:latin typeface="Calibri" pitchFamily="34" charset="0"/>
                <a:ea typeface="Calibri" pitchFamily="34" charset="-122"/>
                <a:cs typeface="Calibri" pitchFamily="34" charset="-120"/>
              </a:rPr>
              <a:t>移動平均：スパイクを窓幅ぶん"なまして混ぜる" → ピーク過大評価</a:t>
            </a:r>
            <a:endParaRPr lang="en-US" sz="1200" dirty="0"/>
          </a:p>
          <a:p>
            <a:pPr marL="177800" indent="-177800">
              <a:spcAft>
                <a:spcPts val="600"/>
              </a:spcAft>
              <a:buSzPct val="100000"/>
              <a:buChar char="•"/>
            </a:pPr>
            <a:r>
              <a:rPr lang="en-US" sz="1200" dirty="0">
                <a:solidFill>
                  <a:srgbClr val="1C1C1E"/>
                </a:solidFill>
                <a:latin typeface="Calibri" pitchFamily="34" charset="0"/>
                <a:ea typeface="Calibri" pitchFamily="34" charset="-122"/>
                <a:cs typeface="Calibri" pitchFamily="34" charset="-120"/>
              </a:rPr>
              <a:t>中央値のみ：正常値も常に置換され分解能低下</a:t>
            </a:r>
            <a:endParaRPr lang="en-US" sz="1200" dirty="0"/>
          </a:p>
          <a:p>
            <a:pPr marL="177800" indent="-177800">
              <a:spcAft>
                <a:spcPts val="600"/>
              </a:spcAft>
              <a:buSzPct val="100000"/>
              <a:buChar char="•"/>
            </a:pPr>
            <a:r>
              <a:rPr lang="en-US" sz="1200" b="1" dirty="0">
                <a:solidFill>
                  <a:srgbClr val="12766B"/>
                </a:solidFill>
                <a:latin typeface="Calibri" pitchFamily="34" charset="0"/>
                <a:ea typeface="Calibri" pitchFamily="34" charset="-122"/>
                <a:cs typeface="Calibri" pitchFamily="34" charset="-120"/>
              </a:rPr>
              <a:t>Hampelは両者の弱点を回避（異常時のみ中央値へ）</a:t>
            </a:r>
            <a:endParaRPr lang="en-US" sz="1200" dirty="0"/>
          </a:p>
        </p:txBody>
      </p:sp>
      <p:sp>
        <p:nvSpPr>
          <p:cNvPr id="13" name="Shape 11"/>
          <p:cNvSpPr/>
          <p:nvPr/>
        </p:nvSpPr>
        <p:spPr>
          <a:xfrm>
            <a:off x="566928" y="3977640"/>
            <a:ext cx="11064240" cy="960120"/>
          </a:xfrm>
          <a:prstGeom prst="roundRect">
            <a:avLst>
              <a:gd name="adj" fmla="val 8571"/>
            </a:avLst>
          </a:prstGeom>
          <a:solidFill>
            <a:srgbClr val="FFFFFF"/>
          </a:solidFill>
          <a:ln w="12700">
            <a:solidFill>
              <a:srgbClr val="C8811F"/>
            </a:solidFill>
            <a:prstDash val="solid"/>
          </a:ln>
        </p:spPr>
      </p:sp>
      <p:sp>
        <p:nvSpPr>
          <p:cNvPr id="14" name="Text 12"/>
          <p:cNvSpPr/>
          <p:nvPr/>
        </p:nvSpPr>
        <p:spPr>
          <a:xfrm>
            <a:off x="795528" y="4096512"/>
            <a:ext cx="5486400" cy="274320"/>
          </a:xfrm>
          <a:prstGeom prst="rect">
            <a:avLst/>
          </a:prstGeom>
          <a:noFill/>
          <a:ln/>
        </p:spPr>
        <p:txBody>
          <a:bodyPr wrap="square" rtlCol="0" anchor="ctr"/>
          <a:lstStyle/>
          <a:p>
            <a:pPr indent="0" marL="0">
              <a:buNone/>
            </a:pPr>
            <a:r>
              <a:rPr lang="en-US" sz="1250" b="1" dirty="0">
                <a:solidFill>
                  <a:srgbClr val="C8811F"/>
                </a:solidFill>
                <a:latin typeface="Calibri" pitchFamily="34" charset="0"/>
                <a:ea typeface="Calibri" pitchFamily="34" charset="-122"/>
                <a:cs typeface="Calibri" pitchFamily="34" charset="-120"/>
              </a:rPr>
              <a:t>⚙ テスト駆動で発見・修正した欠陥</a:t>
            </a:r>
            <a:endParaRPr lang="en-US" sz="1250" dirty="0"/>
          </a:p>
        </p:txBody>
      </p:sp>
      <p:sp>
        <p:nvSpPr>
          <p:cNvPr id="15" name="Text 13"/>
          <p:cNvSpPr/>
          <p:nvPr/>
        </p:nvSpPr>
        <p:spPr>
          <a:xfrm>
            <a:off x="795528" y="4370832"/>
            <a:ext cx="10607040" cy="502920"/>
          </a:xfrm>
          <a:prstGeom prst="rect">
            <a:avLst/>
          </a:prstGeom>
          <a:noFill/>
          <a:ln/>
        </p:spPr>
        <p:txBody>
          <a:bodyPr wrap="square" rtlCol="0" anchor="t"/>
          <a:lstStyle/>
          <a:p>
            <a:pPr indent="0" marL="0">
              <a:buNone/>
            </a:pPr>
            <a:r>
              <a:rPr lang="en-US" sz="1200" dirty="0">
                <a:solidFill>
                  <a:srgbClr val="1C1C1E"/>
                </a:solidFill>
                <a:latin typeface="Calibri" pitchFamily="34" charset="0"/>
                <a:ea typeface="Calibri" pitchFamily="34" charset="-122"/>
                <a:cs typeface="Calibri" pitchFamily="34" charset="-120"/>
              </a:rPr>
              <a:t>呼気前の静穏窓はMADが極小 → 本物の立ち上がりの先頭をスパイク誤判定していた。「同方向2連続の逸脱＝ステップ」で解決（孤立スパイクは1点なので従来通り除去）。ホストテストが自動検出。</a:t>
            </a:r>
            <a:endParaRPr lang="en-US" sz="1200" dirty="0"/>
          </a:p>
        </p:txBody>
      </p:sp>
      <p:sp>
        <p:nvSpPr>
          <p:cNvPr id="16" name="Shape 14"/>
          <p:cNvSpPr/>
          <p:nvPr/>
        </p:nvSpPr>
        <p:spPr>
          <a:xfrm>
            <a:off x="566928" y="5120640"/>
            <a:ext cx="3520440" cy="960120"/>
          </a:xfrm>
          <a:prstGeom prst="roundRect">
            <a:avLst>
              <a:gd name="adj" fmla="val 8571"/>
            </a:avLst>
          </a:prstGeom>
          <a:solidFill>
            <a:srgbClr val="D9EBE7"/>
          </a:solidFill>
          <a:ln/>
        </p:spPr>
      </p:sp>
      <p:sp>
        <p:nvSpPr>
          <p:cNvPr id="17" name="Text 15"/>
          <p:cNvSpPr/>
          <p:nvPr/>
        </p:nvSpPr>
        <p:spPr>
          <a:xfrm>
            <a:off x="768096" y="5230368"/>
            <a:ext cx="3108960" cy="274320"/>
          </a:xfrm>
          <a:prstGeom prst="rect">
            <a:avLst/>
          </a:prstGeom>
          <a:noFill/>
          <a:ln/>
        </p:spPr>
        <p:txBody>
          <a:bodyPr wrap="square" rtlCol="0" anchor="ctr"/>
          <a:lstStyle/>
          <a:p>
            <a:pPr indent="0" marL="0">
              <a:buNone/>
            </a:pPr>
            <a:r>
              <a:rPr lang="en-US" sz="1150" b="1" dirty="0">
                <a:solidFill>
                  <a:srgbClr val="12766B"/>
                </a:solidFill>
                <a:latin typeface="Calibri" pitchFamily="34" charset="0"/>
                <a:ea typeface="Calibri" pitchFamily="34" charset="-122"/>
                <a:cs typeface="Calibri" pitchFamily="34" charset="-120"/>
              </a:rPr>
              <a:t>計算量</a:t>
            </a:r>
            <a:endParaRPr lang="en-US" sz="1150" dirty="0"/>
          </a:p>
        </p:txBody>
      </p:sp>
      <p:sp>
        <p:nvSpPr>
          <p:cNvPr id="18" name="Text 16"/>
          <p:cNvSpPr/>
          <p:nvPr/>
        </p:nvSpPr>
        <p:spPr>
          <a:xfrm>
            <a:off x="768096" y="5504688"/>
            <a:ext cx="3154680" cy="502920"/>
          </a:xfrm>
          <a:prstGeom prst="rect">
            <a:avLst/>
          </a:prstGeom>
          <a:noFill/>
          <a:ln/>
        </p:spPr>
        <p:txBody>
          <a:bodyPr wrap="square" rtlCol="0" anchor="t"/>
          <a:lstStyle/>
          <a:p>
            <a:pPr indent="0" marL="0">
              <a:buNone/>
            </a:pPr>
            <a:r>
              <a:rPr lang="en-US" sz="1200" dirty="0">
                <a:solidFill>
                  <a:srgbClr val="1C1C1E"/>
                </a:solidFill>
                <a:latin typeface="Calibri" pitchFamily="34" charset="0"/>
                <a:ea typeface="Calibri" pitchFamily="34" charset="-122"/>
                <a:cs typeface="Calibri" pitchFamily="34" charset="-120"/>
              </a:rPr>
              <a:t>挿入ソート×2 ≈ &lt;300 cycle/sample</a:t>
            </a:r>
            <a:endParaRPr lang="en-US" sz="1200" dirty="0"/>
          </a:p>
        </p:txBody>
      </p:sp>
      <p:sp>
        <p:nvSpPr>
          <p:cNvPr id="19" name="Shape 17"/>
          <p:cNvSpPr/>
          <p:nvPr/>
        </p:nvSpPr>
        <p:spPr>
          <a:xfrm>
            <a:off x="4279392" y="5120640"/>
            <a:ext cx="3520440" cy="960120"/>
          </a:xfrm>
          <a:prstGeom prst="roundRect">
            <a:avLst>
              <a:gd name="adj" fmla="val 8571"/>
            </a:avLst>
          </a:prstGeom>
          <a:solidFill>
            <a:srgbClr val="D9EBE7"/>
          </a:solidFill>
          <a:ln/>
        </p:spPr>
      </p:sp>
      <p:sp>
        <p:nvSpPr>
          <p:cNvPr id="20" name="Text 18"/>
          <p:cNvSpPr/>
          <p:nvPr/>
        </p:nvSpPr>
        <p:spPr>
          <a:xfrm>
            <a:off x="4480560" y="5230368"/>
            <a:ext cx="3108960" cy="274320"/>
          </a:xfrm>
          <a:prstGeom prst="rect">
            <a:avLst/>
          </a:prstGeom>
          <a:noFill/>
          <a:ln/>
        </p:spPr>
        <p:txBody>
          <a:bodyPr wrap="square" rtlCol="0" anchor="ctr"/>
          <a:lstStyle/>
          <a:p>
            <a:pPr indent="0" marL="0">
              <a:buNone/>
            </a:pPr>
            <a:r>
              <a:rPr lang="en-US" sz="1150" b="1" dirty="0">
                <a:solidFill>
                  <a:srgbClr val="12766B"/>
                </a:solidFill>
                <a:latin typeface="Calibri" pitchFamily="34" charset="0"/>
                <a:ea typeface="Calibri" pitchFamily="34" charset="-122"/>
                <a:cs typeface="Calibri" pitchFamily="34" charset="-120"/>
              </a:rPr>
              <a:t>メモリ</a:t>
            </a:r>
            <a:endParaRPr lang="en-US" sz="1150" dirty="0"/>
          </a:p>
        </p:txBody>
      </p:sp>
      <p:sp>
        <p:nvSpPr>
          <p:cNvPr id="21" name="Text 19"/>
          <p:cNvSpPr/>
          <p:nvPr/>
        </p:nvSpPr>
        <p:spPr>
          <a:xfrm>
            <a:off x="4480560" y="5504688"/>
            <a:ext cx="3154680" cy="502920"/>
          </a:xfrm>
          <a:prstGeom prst="rect">
            <a:avLst/>
          </a:prstGeom>
          <a:noFill/>
          <a:ln/>
        </p:spPr>
        <p:txBody>
          <a:bodyPr wrap="square" rtlCol="0" anchor="t"/>
          <a:lstStyle/>
          <a:p>
            <a:pPr indent="0" marL="0">
              <a:buNone/>
            </a:pPr>
            <a:r>
              <a:rPr lang="en-US" sz="1200" dirty="0">
                <a:solidFill>
                  <a:srgbClr val="1C1C1E"/>
                </a:solidFill>
                <a:latin typeface="Calibri" pitchFamily="34" charset="0"/>
                <a:ea typeface="Calibri" pitchFamily="34" charset="-122"/>
                <a:cs typeface="Calibri" pitchFamily="34" charset="-120"/>
              </a:rPr>
              <a:t>窓+作業で 44 B</a:t>
            </a:r>
            <a:endParaRPr lang="en-US" sz="1200" dirty="0"/>
          </a:p>
        </p:txBody>
      </p:sp>
      <p:sp>
        <p:nvSpPr>
          <p:cNvPr id="22" name="Shape 20"/>
          <p:cNvSpPr/>
          <p:nvPr/>
        </p:nvSpPr>
        <p:spPr>
          <a:xfrm>
            <a:off x="7991856" y="5120640"/>
            <a:ext cx="3520440" cy="960120"/>
          </a:xfrm>
          <a:prstGeom prst="roundRect">
            <a:avLst>
              <a:gd name="adj" fmla="val 8571"/>
            </a:avLst>
          </a:prstGeom>
          <a:solidFill>
            <a:srgbClr val="D9EBE7"/>
          </a:solidFill>
          <a:ln/>
        </p:spPr>
      </p:sp>
      <p:sp>
        <p:nvSpPr>
          <p:cNvPr id="23" name="Text 21"/>
          <p:cNvSpPr/>
          <p:nvPr/>
        </p:nvSpPr>
        <p:spPr>
          <a:xfrm>
            <a:off x="8193024" y="5230368"/>
            <a:ext cx="3108960" cy="274320"/>
          </a:xfrm>
          <a:prstGeom prst="rect">
            <a:avLst/>
          </a:prstGeom>
          <a:noFill/>
          <a:ln/>
        </p:spPr>
        <p:txBody>
          <a:bodyPr wrap="square" rtlCol="0" anchor="ctr"/>
          <a:lstStyle/>
          <a:p>
            <a:pPr indent="0" marL="0">
              <a:buNone/>
            </a:pPr>
            <a:r>
              <a:rPr lang="en-US" sz="1150" b="1" dirty="0">
                <a:solidFill>
                  <a:srgbClr val="12766B"/>
                </a:solidFill>
                <a:latin typeface="Calibri" pitchFamily="34" charset="0"/>
                <a:ea typeface="Calibri" pitchFamily="34" charset="-122"/>
                <a:cs typeface="Calibri" pitchFamily="34" charset="-120"/>
              </a:rPr>
              <a:t>電力影響</a:t>
            </a:r>
            <a:endParaRPr lang="en-US" sz="1150" dirty="0"/>
          </a:p>
        </p:txBody>
      </p:sp>
      <p:sp>
        <p:nvSpPr>
          <p:cNvPr id="24" name="Text 22"/>
          <p:cNvSpPr/>
          <p:nvPr/>
        </p:nvSpPr>
        <p:spPr>
          <a:xfrm>
            <a:off x="8193024" y="5504688"/>
            <a:ext cx="3154680" cy="502920"/>
          </a:xfrm>
          <a:prstGeom prst="rect">
            <a:avLst/>
          </a:prstGeom>
          <a:noFill/>
          <a:ln/>
        </p:spPr>
        <p:txBody>
          <a:bodyPr wrap="square" rtlCol="0" anchor="t"/>
          <a:lstStyle/>
          <a:p>
            <a:pPr indent="0" marL="0">
              <a:buNone/>
            </a:pPr>
            <a:r>
              <a:rPr lang="en-US" sz="1200" dirty="0">
                <a:solidFill>
                  <a:srgbClr val="1C1C1E"/>
                </a:solidFill>
                <a:latin typeface="Calibri" pitchFamily="34" charset="0"/>
                <a:ea typeface="Calibri" pitchFamily="34" charset="-122"/>
                <a:cs typeface="Calibri" pitchFamily="34" charset="-120"/>
              </a:rPr>
              <a:t>実質ゼロ（毎秒&lt;10µs処理）</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BAP · S2 / S3</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追従と補償：適応EMA と ベースライン学習</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06</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600200"/>
            <a:ext cx="5440680" cy="2331720"/>
          </a:xfrm>
          <a:prstGeom prst="roundRect">
            <a:avLst>
              <a:gd name="adj" fmla="val 3529"/>
            </a:avLst>
          </a:prstGeom>
          <a:solidFill>
            <a:srgbClr val="FFFFFF"/>
          </a:solidFill>
          <a:ln w="12700">
            <a:solidFill>
              <a:srgbClr val="DADFDC"/>
            </a:solidFill>
            <a:prstDash val="solid"/>
          </a:ln>
          <a:effectLst>
            <a:outerShdw sx="100000" sy="100000" kx="0" ky="0" algn="bl" rotWithShape="0" blurRad="101600" dist="38100" dir="5400000">
              <a:srgbClr val="9AA5A0">
                <a:alpha val="28000"/>
              </a:srgbClr>
            </a:outerShdw>
          </a:effectLst>
        </p:spPr>
      </p:sp>
      <p:sp>
        <p:nvSpPr>
          <p:cNvPr id="7" name="Text 5"/>
          <p:cNvSpPr/>
          <p:nvPr/>
        </p:nvSpPr>
        <p:spPr>
          <a:xfrm>
            <a:off x="795528" y="1737360"/>
            <a:ext cx="5029200" cy="274320"/>
          </a:xfrm>
          <a:prstGeom prst="rect">
            <a:avLst/>
          </a:prstGeom>
          <a:noFill/>
          <a:ln/>
        </p:spPr>
        <p:txBody>
          <a:bodyPr wrap="square" rtlCol="0" anchor="ctr"/>
          <a:lstStyle/>
          <a:p>
            <a:pPr indent="0" marL="0">
              <a:buNone/>
            </a:pPr>
            <a:r>
              <a:rPr lang="en-US" sz="1400" b="1" dirty="0">
                <a:solidFill>
                  <a:srgbClr val="12766B"/>
                </a:solidFill>
                <a:latin typeface="Calibri" pitchFamily="34" charset="0"/>
                <a:ea typeface="Calibri" pitchFamily="34" charset="-122"/>
                <a:cs typeface="Calibri" pitchFamily="34" charset="-120"/>
              </a:rPr>
              <a:t>S2 · 適応EMA（Q8固定小数）</a:t>
            </a:r>
            <a:endParaRPr lang="en-US" sz="1400" dirty="0"/>
          </a:p>
        </p:txBody>
      </p:sp>
      <p:sp>
        <p:nvSpPr>
          <p:cNvPr id="8" name="Text 6"/>
          <p:cNvSpPr/>
          <p:nvPr/>
        </p:nvSpPr>
        <p:spPr>
          <a:xfrm>
            <a:off x="795528" y="2057400"/>
            <a:ext cx="5029200" cy="320040"/>
          </a:xfrm>
          <a:prstGeom prst="rect">
            <a:avLst/>
          </a:prstGeom>
          <a:noFill/>
          <a:ln/>
        </p:spPr>
        <p:txBody>
          <a:bodyPr wrap="square" rtlCol="0" anchor="ctr"/>
          <a:lstStyle/>
          <a:p>
            <a:pPr indent="0" marL="0">
              <a:buNone/>
            </a:pPr>
            <a:r>
              <a:rPr lang="en-US" sz="1200" dirty="0">
                <a:solidFill>
                  <a:srgbClr val="1C1C1E"/>
                </a:solidFill>
                <a:latin typeface="Courier New" pitchFamily="34" charset="0"/>
                <a:ea typeface="Courier New" pitchFamily="34" charset="-122"/>
                <a:cs typeface="Courier New" pitchFamily="34" charset="-120"/>
              </a:rPr>
              <a:t>y += α·(x − y)  をシフト演算のみで</a:t>
            </a:r>
            <a:endParaRPr lang="en-US" sz="1200" dirty="0"/>
          </a:p>
        </p:txBody>
      </p:sp>
      <p:sp>
        <p:nvSpPr>
          <p:cNvPr id="9" name="Text 7"/>
          <p:cNvSpPr/>
          <p:nvPr/>
        </p:nvSpPr>
        <p:spPr>
          <a:xfrm>
            <a:off x="795528" y="2450592"/>
            <a:ext cx="5029200" cy="1463040"/>
          </a:xfrm>
          <a:prstGeom prst="rect">
            <a:avLst/>
          </a:prstGeom>
          <a:noFill/>
          <a:ln/>
        </p:spPr>
        <p:txBody>
          <a:bodyPr wrap="square" rtlCol="0" anchor="t"/>
          <a:lstStyle/>
          <a:p>
            <a:pPr marL="177800" indent="-177800">
              <a:spcAft>
                <a:spcPts val="500"/>
              </a:spcAft>
              <a:buSzPct val="100000"/>
              <a:buChar char="•"/>
            </a:pPr>
            <a:r>
              <a:rPr lang="en-US" sz="1200" dirty="0">
                <a:solidFill>
                  <a:srgbClr val="1C1C1E"/>
                </a:solidFill>
                <a:latin typeface="Calibri" pitchFamily="34" charset="0"/>
                <a:ea typeface="Calibri" pitchFamily="34" charset="-122"/>
                <a:cs typeface="Calibri" pitchFamily="34" charset="-120"/>
              </a:rPr>
              <a:t>イノベーションが大 → α=1/2（追従優先）</a:t>
            </a:r>
            <a:endParaRPr lang="en-US" sz="1200" dirty="0"/>
          </a:p>
          <a:p>
            <a:pPr marL="177800" indent="-177800">
              <a:spcAft>
                <a:spcPts val="500"/>
              </a:spcAft>
              <a:buSzPct val="100000"/>
              <a:buChar char="•"/>
            </a:pPr>
            <a:r>
              <a:rPr lang="en-US" sz="1200" dirty="0">
                <a:solidFill>
                  <a:srgbClr val="1C1C1E"/>
                </a:solidFill>
                <a:latin typeface="Calibri" pitchFamily="34" charset="0"/>
                <a:ea typeface="Calibri" pitchFamily="34" charset="-122"/>
                <a:cs typeface="Calibri" pitchFamily="34" charset="-120"/>
              </a:rPr>
              <a:t>小 → α=1/8（平滑優先）の2段切替</a:t>
            </a:r>
            <a:endParaRPr lang="en-US" sz="1200" dirty="0"/>
          </a:p>
          <a:p>
            <a:pPr marL="177800" indent="-177800">
              <a:spcAft>
                <a:spcPts val="500"/>
              </a:spcAft>
              <a:buSzPct val="100000"/>
              <a:buChar char="•"/>
            </a:pPr>
            <a:r>
              <a:rPr lang="en-US" sz="1150" dirty="0">
                <a:solidFill>
                  <a:srgbClr val="5B6763"/>
                </a:solidFill>
                <a:latin typeface="Calibri" pitchFamily="34" charset="0"/>
                <a:ea typeface="Calibri" pitchFamily="34" charset="-122"/>
                <a:cs typeface="Calibri" pitchFamily="34" charset="-120"/>
              </a:rPr>
              <a:t>固定αでは「静穏のノイズ抑制」と「立上り追従」が両立しない</a:t>
            </a:r>
            <a:endParaRPr lang="en-US" sz="1200" dirty="0"/>
          </a:p>
          <a:p>
            <a:pPr marL="177800" indent="-177800">
              <a:spcAft>
                <a:spcPts val="500"/>
              </a:spcAft>
              <a:buSzPct val="100000"/>
              <a:buChar char="•"/>
            </a:pPr>
            <a:r>
              <a:rPr lang="en-US" sz="1200" b="1" dirty="0">
                <a:solidFill>
                  <a:srgbClr val="12766B"/>
                </a:solidFill>
                <a:latin typeface="Calibri" pitchFamily="34" charset="0"/>
                <a:ea typeface="Calibri" pitchFamily="34" charset="-122"/>
                <a:cs typeface="Calibri" pitchFamily="34" charset="-120"/>
              </a:rPr>
              <a:t>除算なし・浮動小数点なし → ホストと実機でビット一致</a:t>
            </a:r>
            <a:endParaRPr lang="en-US" sz="1200" dirty="0"/>
          </a:p>
        </p:txBody>
      </p:sp>
      <p:sp>
        <p:nvSpPr>
          <p:cNvPr id="10" name="Shape 8"/>
          <p:cNvSpPr/>
          <p:nvPr/>
        </p:nvSpPr>
        <p:spPr>
          <a:xfrm>
            <a:off x="6217920" y="1600200"/>
            <a:ext cx="5394960" cy="2331720"/>
          </a:xfrm>
          <a:prstGeom prst="roundRect">
            <a:avLst>
              <a:gd name="adj" fmla="val 3529"/>
            </a:avLst>
          </a:prstGeom>
          <a:solidFill>
            <a:srgbClr val="FFFFFF"/>
          </a:solidFill>
          <a:ln w="12700">
            <a:solidFill>
              <a:srgbClr val="DADFDC"/>
            </a:solidFill>
            <a:prstDash val="solid"/>
          </a:ln>
          <a:effectLst>
            <a:outerShdw sx="100000" sy="100000" kx="0" ky="0" algn="bl" rotWithShape="0" blurRad="101600" dist="38100" dir="5400000">
              <a:srgbClr val="9AA5A0">
                <a:alpha val="28000"/>
              </a:srgbClr>
            </a:outerShdw>
          </a:effectLst>
        </p:spPr>
      </p:sp>
      <p:sp>
        <p:nvSpPr>
          <p:cNvPr id="11" name="Text 9"/>
          <p:cNvSpPr/>
          <p:nvPr/>
        </p:nvSpPr>
        <p:spPr>
          <a:xfrm>
            <a:off x="6446520" y="1737360"/>
            <a:ext cx="5029200" cy="274320"/>
          </a:xfrm>
          <a:prstGeom prst="rect">
            <a:avLst/>
          </a:prstGeom>
          <a:noFill/>
          <a:ln/>
        </p:spPr>
        <p:txBody>
          <a:bodyPr wrap="square" rtlCol="0" anchor="ctr"/>
          <a:lstStyle/>
          <a:p>
            <a:pPr indent="0" marL="0">
              <a:buNone/>
            </a:pPr>
            <a:r>
              <a:rPr lang="en-US" sz="1400" b="1" dirty="0">
                <a:solidFill>
                  <a:srgbClr val="12766B"/>
                </a:solidFill>
                <a:latin typeface="Calibri" pitchFamily="34" charset="0"/>
                <a:ea typeface="Calibri" pitchFamily="34" charset="-122"/>
                <a:cs typeface="Calibri" pitchFamily="34" charset="-120"/>
              </a:rPr>
              <a:t>S3 · ベースライン学習（quiet-gate）</a:t>
            </a:r>
            <a:endParaRPr lang="en-US" sz="1400" dirty="0"/>
          </a:p>
        </p:txBody>
      </p:sp>
      <p:sp>
        <p:nvSpPr>
          <p:cNvPr id="12" name="Text 10"/>
          <p:cNvSpPr/>
          <p:nvPr/>
        </p:nvSpPr>
        <p:spPr>
          <a:xfrm>
            <a:off x="6446520" y="2084832"/>
            <a:ext cx="4983480" cy="1737360"/>
          </a:xfrm>
          <a:prstGeom prst="rect">
            <a:avLst/>
          </a:prstGeom>
          <a:noFill/>
          <a:ln/>
        </p:spPr>
        <p:txBody>
          <a:bodyPr wrap="square" rtlCol="0" anchor="t"/>
          <a:lstStyle/>
          <a:p>
            <a:pPr marL="177800" indent="-177800">
              <a:spcAft>
                <a:spcPts val="500"/>
              </a:spcAft>
              <a:buSzPct val="100000"/>
              <a:buChar char="•"/>
            </a:pPr>
            <a:r>
              <a:rPr lang="en-US" sz="1200" dirty="0">
                <a:solidFill>
                  <a:srgbClr val="1C1C1E"/>
                </a:solidFill>
                <a:latin typeface="Calibri" pitchFamily="34" charset="0"/>
                <a:ea typeface="Calibri" pitchFamily="34" charset="-122"/>
                <a:cs typeface="Calibri" pitchFamily="34" charset="-120"/>
              </a:rPr>
              <a:t>呼気の意味＝ベースラインからの上昇分Δ</a:t>
            </a:r>
            <a:endParaRPr lang="en-US" sz="1200" dirty="0"/>
          </a:p>
          <a:p>
            <a:pPr marL="177800" indent="-177800">
              <a:spcAft>
                <a:spcPts val="500"/>
              </a:spcAft>
              <a:buSzPct val="100000"/>
              <a:buChar char="•"/>
            </a:pPr>
            <a:r>
              <a:rPr lang="en-US" sz="1200" b="1" dirty="0">
                <a:solidFill>
                  <a:srgbClr val="12766B"/>
                </a:solidFill>
                <a:latin typeface="Calibri" pitchFamily="34" charset="0"/>
                <a:ea typeface="Calibri" pitchFamily="34" charset="-122"/>
                <a:cs typeface="Calibri" pitchFamily="34" charset="-120"/>
              </a:rPr>
              <a:t>更新ゲート：窓が静穏 ∧ Δ が onset閾値の半分未満</a:t>
            </a:r>
            <a:endParaRPr lang="en-US" sz="1200" dirty="0"/>
          </a:p>
          <a:p>
            <a:pPr marL="177800" indent="-177800">
              <a:spcAft>
                <a:spcPts val="500"/>
              </a:spcAft>
              <a:buSzPct val="100000"/>
              <a:buChar char="•"/>
            </a:pPr>
            <a:r>
              <a:rPr lang="en-US" sz="1200" dirty="0">
                <a:solidFill>
                  <a:srgbClr val="1C1C1E"/>
                </a:solidFill>
                <a:latin typeface="Calibri" pitchFamily="34" charset="0"/>
                <a:ea typeface="Calibri" pitchFamily="34" charset="-122"/>
                <a:cs typeface="Calibri" pitchFamily="34" charset="-120"/>
              </a:rPr>
              <a:t>α=1/64（時定数≈64s）の遅い学習・呼気中は凍結</a:t>
            </a:r>
            <a:endParaRPr lang="en-US" sz="1200" dirty="0"/>
          </a:p>
          <a:p>
            <a:pPr marL="177800" indent="-177800">
              <a:spcAft>
                <a:spcPts val="500"/>
              </a:spcAft>
              <a:buSzPct val="100000"/>
              <a:buChar char="•"/>
            </a:pPr>
            <a:r>
              <a:rPr lang="en-US" sz="1150" dirty="0">
                <a:solidFill>
                  <a:srgbClr val="C8811F"/>
                </a:solidFill>
                <a:latin typeface="Calibri" pitchFamily="34" charset="0"/>
                <a:ea typeface="Calibri" pitchFamily="34" charset="-122"/>
                <a:cs typeface="Calibri" pitchFamily="34" charset="-120"/>
              </a:rPr>
              <a:t>「静穏だけ」ではプラトーで汚染 → Δ条件が必須（テストで検出）</a:t>
            </a:r>
            <a:endParaRPr lang="en-US" sz="1200" dirty="0"/>
          </a:p>
        </p:txBody>
      </p:sp>
      <p:sp>
        <p:nvSpPr>
          <p:cNvPr id="13" name="Shape 11"/>
          <p:cNvSpPr/>
          <p:nvPr/>
        </p:nvSpPr>
        <p:spPr>
          <a:xfrm>
            <a:off x="566928" y="4160520"/>
            <a:ext cx="11064240" cy="2148840"/>
          </a:xfrm>
          <a:prstGeom prst="roundRect">
            <a:avLst>
              <a:gd name="adj" fmla="val 3830"/>
            </a:avLst>
          </a:prstGeom>
          <a:solidFill>
            <a:srgbClr val="FFFFFF"/>
          </a:solidFill>
          <a:ln w="12700">
            <a:solidFill>
              <a:srgbClr val="DADFDC"/>
            </a:solidFill>
            <a:prstDash val="solid"/>
          </a:ln>
        </p:spPr>
      </p:sp>
      <p:sp>
        <p:nvSpPr>
          <p:cNvPr id="14" name="Text 12"/>
          <p:cNvSpPr/>
          <p:nvPr/>
        </p:nvSpPr>
        <p:spPr>
          <a:xfrm>
            <a:off x="795528" y="4279392"/>
            <a:ext cx="45720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他方式との比較</a:t>
            </a:r>
            <a:endParaRPr lang="en-US" sz="1300" dirty="0"/>
          </a:p>
        </p:txBody>
      </p:sp>
      <p:sp>
        <p:nvSpPr>
          <p:cNvPr id="15" name="Text 13"/>
          <p:cNvSpPr/>
          <p:nvPr/>
        </p:nvSpPr>
        <p:spPr>
          <a:xfrm>
            <a:off x="841248" y="4626864"/>
            <a:ext cx="2834640" cy="329184"/>
          </a:xfrm>
          <a:prstGeom prst="rect">
            <a:avLst/>
          </a:prstGeom>
          <a:noFill/>
          <a:ln/>
        </p:spPr>
        <p:txBody>
          <a:bodyPr wrap="square" rtlCol="0" anchor="ctr"/>
          <a:lstStyle/>
          <a:p>
            <a:pPr indent="0" marL="0">
              <a:buNone/>
            </a:pPr>
            <a:r>
              <a:rPr lang="en-US" sz="1150" b="1" dirty="0">
                <a:solidFill>
                  <a:srgbClr val="1C1C1E"/>
                </a:solidFill>
                <a:latin typeface="Calibri" pitchFamily="34" charset="0"/>
                <a:ea typeface="Calibri" pitchFamily="34" charset="-122"/>
                <a:cs typeface="Calibri" pitchFamily="34" charset="-120"/>
              </a:rPr>
              <a:t>方式</a:t>
            </a:r>
            <a:endParaRPr lang="en-US" sz="1150" dirty="0"/>
          </a:p>
        </p:txBody>
      </p:sp>
      <p:sp>
        <p:nvSpPr>
          <p:cNvPr id="16" name="Text 14"/>
          <p:cNvSpPr/>
          <p:nvPr/>
        </p:nvSpPr>
        <p:spPr>
          <a:xfrm>
            <a:off x="3767328" y="4626864"/>
            <a:ext cx="6400800" cy="329184"/>
          </a:xfrm>
          <a:prstGeom prst="rect">
            <a:avLst/>
          </a:prstGeom>
          <a:noFill/>
          <a:ln/>
        </p:spPr>
        <p:txBody>
          <a:bodyPr wrap="square" rtlCol="0" anchor="ctr"/>
          <a:lstStyle/>
          <a:p>
            <a:pPr indent="0" marL="0">
              <a:buNone/>
            </a:pPr>
            <a:r>
              <a:rPr lang="en-US" sz="1100" dirty="0">
                <a:solidFill>
                  <a:srgbClr val="1C1C1E"/>
                </a:solidFill>
                <a:latin typeface="Calibri" pitchFamily="34" charset="0"/>
                <a:ea typeface="Calibri" pitchFamily="34" charset="-122"/>
                <a:cs typeface="Calibri" pitchFamily="34" charset="-120"/>
              </a:rPr>
              <a:t>却下・採用の理由</a:t>
            </a:r>
            <a:endParaRPr lang="en-US" sz="1100" dirty="0"/>
          </a:p>
        </p:txBody>
      </p:sp>
      <p:sp>
        <p:nvSpPr>
          <p:cNvPr id="17" name="Shape 15"/>
          <p:cNvSpPr/>
          <p:nvPr/>
        </p:nvSpPr>
        <p:spPr>
          <a:xfrm>
            <a:off x="795528" y="4956048"/>
            <a:ext cx="10607040" cy="0"/>
          </a:xfrm>
          <a:prstGeom prst="line">
            <a:avLst/>
          </a:prstGeom>
          <a:noFill/>
          <a:ln w="9525">
            <a:solidFill>
              <a:srgbClr val="DADFDC"/>
            </a:solidFill>
            <a:prstDash val="solid"/>
          </a:ln>
        </p:spPr>
      </p:sp>
      <p:sp>
        <p:nvSpPr>
          <p:cNvPr id="18" name="Text 16"/>
          <p:cNvSpPr/>
          <p:nvPr/>
        </p:nvSpPr>
        <p:spPr>
          <a:xfrm>
            <a:off x="841248" y="4992624"/>
            <a:ext cx="2834640" cy="329184"/>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カルマンフィルタ</a:t>
            </a:r>
            <a:endParaRPr lang="en-US" sz="1150" dirty="0"/>
          </a:p>
        </p:txBody>
      </p:sp>
      <p:sp>
        <p:nvSpPr>
          <p:cNvPr id="19" name="Text 17"/>
          <p:cNvSpPr/>
          <p:nvPr/>
        </p:nvSpPr>
        <p:spPr>
          <a:xfrm>
            <a:off x="3767328" y="4992624"/>
            <a:ext cx="6400800" cy="329184"/>
          </a:xfrm>
          <a:prstGeom prst="rect">
            <a:avLst/>
          </a:prstGeom>
          <a:noFill/>
          <a:ln/>
        </p:spPr>
        <p:txBody>
          <a:bodyPr wrap="square" rtlCol="0" anchor="ctr"/>
          <a:lstStyle/>
          <a:p>
            <a:pPr indent="0" marL="0">
              <a:buNone/>
            </a:pPr>
            <a:r>
              <a:rPr lang="en-US" sz="1100" dirty="0">
                <a:solidFill>
                  <a:srgbClr val="5B6763"/>
                </a:solidFill>
                <a:latin typeface="Calibri" pitchFamily="34" charset="0"/>
                <a:ea typeface="Calibri" pitchFamily="34" charset="-122"/>
                <a:cs typeface="Calibri" pitchFamily="34" charset="-120"/>
              </a:rPr>
              <a:t>プロセスモデル（呼気動力学）とノイズ共分散が未同定 → 恣意的。float必須で検証が不透明</a:t>
            </a:r>
            <a:endParaRPr lang="en-US" sz="1100" dirty="0"/>
          </a:p>
        </p:txBody>
      </p:sp>
      <p:sp>
        <p:nvSpPr>
          <p:cNvPr id="20" name="Text 18"/>
          <p:cNvSpPr/>
          <p:nvPr/>
        </p:nvSpPr>
        <p:spPr>
          <a:xfrm>
            <a:off x="10259568" y="4992624"/>
            <a:ext cx="1097280" cy="329184"/>
          </a:xfrm>
          <a:prstGeom prst="rect">
            <a:avLst/>
          </a:prstGeom>
          <a:noFill/>
          <a:ln/>
        </p:spPr>
        <p:txBody>
          <a:bodyPr wrap="square" rtlCol="0" anchor="ctr"/>
          <a:lstStyle/>
          <a:p>
            <a:pPr algn="ctr" indent="0" marL="0">
              <a:buNone/>
            </a:pPr>
            <a:r>
              <a:rPr lang="en-US" sz="1100" b="1" dirty="0">
                <a:solidFill>
                  <a:srgbClr val="CE544C"/>
                </a:solidFill>
                <a:latin typeface="Calibri" pitchFamily="34" charset="0"/>
                <a:ea typeface="Calibri" pitchFamily="34" charset="-122"/>
                <a:cs typeface="Calibri" pitchFamily="34" charset="-120"/>
              </a:rPr>
              <a:t>却下</a:t>
            </a:r>
            <a:endParaRPr lang="en-US" sz="1100" dirty="0"/>
          </a:p>
        </p:txBody>
      </p:sp>
      <p:sp>
        <p:nvSpPr>
          <p:cNvPr id="21" name="Shape 19"/>
          <p:cNvSpPr/>
          <p:nvPr/>
        </p:nvSpPr>
        <p:spPr>
          <a:xfrm>
            <a:off x="795528" y="5358384"/>
            <a:ext cx="10607040" cy="0"/>
          </a:xfrm>
          <a:prstGeom prst="line">
            <a:avLst/>
          </a:prstGeom>
          <a:noFill/>
          <a:ln w="9525">
            <a:solidFill>
              <a:srgbClr val="DADFDC"/>
            </a:solidFill>
            <a:prstDash val="solid"/>
          </a:ln>
        </p:spPr>
      </p:sp>
      <p:sp>
        <p:nvSpPr>
          <p:cNvPr id="22" name="Text 20"/>
          <p:cNvSpPr/>
          <p:nvPr/>
        </p:nvSpPr>
        <p:spPr>
          <a:xfrm>
            <a:off x="841248" y="5394960"/>
            <a:ext cx="2834640" cy="329184"/>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ハイパスフィルタ (S3代替)</a:t>
            </a:r>
            <a:endParaRPr lang="en-US" sz="1150" dirty="0"/>
          </a:p>
        </p:txBody>
      </p:sp>
      <p:sp>
        <p:nvSpPr>
          <p:cNvPr id="23" name="Text 21"/>
          <p:cNvSpPr/>
          <p:nvPr/>
        </p:nvSpPr>
        <p:spPr>
          <a:xfrm>
            <a:off x="3767328" y="5394960"/>
            <a:ext cx="6400800" cy="329184"/>
          </a:xfrm>
          <a:prstGeom prst="rect">
            <a:avLst/>
          </a:prstGeom>
          <a:noFill/>
          <a:ln/>
        </p:spPr>
        <p:txBody>
          <a:bodyPr wrap="square" rtlCol="0" anchor="ctr"/>
          <a:lstStyle/>
          <a:p>
            <a:pPr indent="0" marL="0">
              <a:buNone/>
            </a:pPr>
            <a:r>
              <a:rPr lang="en-US" sz="1100" dirty="0">
                <a:solidFill>
                  <a:srgbClr val="5B6763"/>
                </a:solidFill>
                <a:latin typeface="Calibri" pitchFamily="34" charset="0"/>
                <a:ea typeface="Calibri" pitchFamily="34" charset="-122"/>
                <a:cs typeface="Calibri" pitchFamily="34" charset="-120"/>
              </a:rPr>
              <a:t>プラトー（維持相）まで減衰させ AUC が歪む</a:t>
            </a:r>
            <a:endParaRPr lang="en-US" sz="1100" dirty="0"/>
          </a:p>
        </p:txBody>
      </p:sp>
      <p:sp>
        <p:nvSpPr>
          <p:cNvPr id="24" name="Text 22"/>
          <p:cNvSpPr/>
          <p:nvPr/>
        </p:nvSpPr>
        <p:spPr>
          <a:xfrm>
            <a:off x="10259568" y="5394960"/>
            <a:ext cx="1097280" cy="329184"/>
          </a:xfrm>
          <a:prstGeom prst="rect">
            <a:avLst/>
          </a:prstGeom>
          <a:noFill/>
          <a:ln/>
        </p:spPr>
        <p:txBody>
          <a:bodyPr wrap="square" rtlCol="0" anchor="ctr"/>
          <a:lstStyle/>
          <a:p>
            <a:pPr algn="ctr" indent="0" marL="0">
              <a:buNone/>
            </a:pPr>
            <a:r>
              <a:rPr lang="en-US" sz="1100" b="1" dirty="0">
                <a:solidFill>
                  <a:srgbClr val="CE544C"/>
                </a:solidFill>
                <a:latin typeface="Calibri" pitchFamily="34" charset="0"/>
                <a:ea typeface="Calibri" pitchFamily="34" charset="-122"/>
                <a:cs typeface="Calibri" pitchFamily="34" charset="-120"/>
              </a:rPr>
              <a:t>却下</a:t>
            </a:r>
            <a:endParaRPr lang="en-US" sz="1100" dirty="0"/>
          </a:p>
        </p:txBody>
      </p:sp>
      <p:sp>
        <p:nvSpPr>
          <p:cNvPr id="25" name="Shape 23"/>
          <p:cNvSpPr/>
          <p:nvPr/>
        </p:nvSpPr>
        <p:spPr>
          <a:xfrm>
            <a:off x="795528" y="5760720"/>
            <a:ext cx="10607040" cy="0"/>
          </a:xfrm>
          <a:prstGeom prst="line">
            <a:avLst/>
          </a:prstGeom>
          <a:noFill/>
          <a:ln w="9525">
            <a:solidFill>
              <a:srgbClr val="DADFDC"/>
            </a:solidFill>
            <a:prstDash val="solid"/>
          </a:ln>
        </p:spPr>
      </p:sp>
      <p:sp>
        <p:nvSpPr>
          <p:cNvPr id="26" name="Text 24"/>
          <p:cNvSpPr/>
          <p:nvPr/>
        </p:nvSpPr>
        <p:spPr>
          <a:xfrm>
            <a:off x="841248" y="5797296"/>
            <a:ext cx="2834640" cy="329184"/>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毎回ゼロ校正 Z (S3代替)</a:t>
            </a:r>
            <a:endParaRPr lang="en-US" sz="1150" dirty="0"/>
          </a:p>
        </p:txBody>
      </p:sp>
      <p:sp>
        <p:nvSpPr>
          <p:cNvPr id="27" name="Text 25"/>
          <p:cNvSpPr/>
          <p:nvPr/>
        </p:nvSpPr>
        <p:spPr>
          <a:xfrm>
            <a:off x="3767328" y="5797296"/>
            <a:ext cx="6400800" cy="329184"/>
          </a:xfrm>
          <a:prstGeom prst="rect">
            <a:avLst/>
          </a:prstGeom>
          <a:noFill/>
          <a:ln/>
        </p:spPr>
        <p:txBody>
          <a:bodyPr wrap="square" rtlCol="0" anchor="ctr"/>
          <a:lstStyle/>
          <a:p>
            <a:pPr indent="0" marL="0">
              <a:buNone/>
            </a:pPr>
            <a:r>
              <a:rPr lang="en-US" sz="1100" dirty="0">
                <a:solidFill>
                  <a:srgbClr val="5B6763"/>
                </a:solidFill>
                <a:latin typeface="Calibri" pitchFamily="34" charset="0"/>
                <a:ea typeface="Calibri" pitchFamily="34" charset="-122"/>
                <a:cs typeface="Calibri" pitchFamily="34" charset="-120"/>
              </a:rPr>
              <a:t>工場校正を上書き。飼い主宅ではクリーンエア保証不可能 → 破壊的</a:t>
            </a:r>
            <a:endParaRPr lang="en-US" sz="1100" dirty="0"/>
          </a:p>
        </p:txBody>
      </p:sp>
      <p:sp>
        <p:nvSpPr>
          <p:cNvPr id="28" name="Text 26"/>
          <p:cNvSpPr/>
          <p:nvPr/>
        </p:nvSpPr>
        <p:spPr>
          <a:xfrm>
            <a:off x="10259568" y="5797296"/>
            <a:ext cx="1097280" cy="329184"/>
          </a:xfrm>
          <a:prstGeom prst="rect">
            <a:avLst/>
          </a:prstGeom>
          <a:noFill/>
          <a:ln/>
        </p:spPr>
        <p:txBody>
          <a:bodyPr wrap="square" rtlCol="0" anchor="ctr"/>
          <a:lstStyle/>
          <a:p>
            <a:pPr algn="ctr" indent="0" marL="0">
              <a:buNone/>
            </a:pPr>
            <a:r>
              <a:rPr lang="en-US" sz="1100" b="1" dirty="0">
                <a:solidFill>
                  <a:srgbClr val="CE544C"/>
                </a:solidFill>
                <a:latin typeface="Calibri" pitchFamily="34" charset="0"/>
                <a:ea typeface="Calibri" pitchFamily="34" charset="-122"/>
                <a:cs typeface="Calibri" pitchFamily="34" charset="-120"/>
              </a:rPr>
              <a:t>却下</a:t>
            </a:r>
            <a:endParaRPr lang="en-US" sz="1100" dirty="0"/>
          </a:p>
        </p:txBody>
      </p:sp>
      <p:sp>
        <p:nvSpPr>
          <p:cNvPr id="29" name="Shape 27"/>
          <p:cNvSpPr/>
          <p:nvPr/>
        </p:nvSpPr>
        <p:spPr>
          <a:xfrm>
            <a:off x="795528" y="6163056"/>
            <a:ext cx="10607040" cy="0"/>
          </a:xfrm>
          <a:prstGeom prst="line">
            <a:avLst/>
          </a:prstGeom>
          <a:noFill/>
          <a:ln w="9525">
            <a:solidFill>
              <a:srgbClr val="DADFDC"/>
            </a:solidFill>
            <a:prstDash val="solid"/>
          </a:ln>
        </p:spPr>
      </p:sp>
      <p:sp>
        <p:nvSpPr>
          <p:cNvPr id="30" name="Text 28"/>
          <p:cNvSpPr/>
          <p:nvPr/>
        </p:nvSpPr>
        <p:spPr>
          <a:xfrm>
            <a:off x="841248" y="6199632"/>
            <a:ext cx="2834640" cy="329184"/>
          </a:xfrm>
          <a:prstGeom prst="rect">
            <a:avLst/>
          </a:prstGeom>
          <a:noFill/>
          <a:ln/>
        </p:spPr>
        <p:txBody>
          <a:bodyPr wrap="square" rtlCol="0" anchor="ctr"/>
          <a:lstStyle/>
          <a:p>
            <a:pPr indent="0" marL="0">
              <a:buNone/>
            </a:pPr>
            <a:r>
              <a:rPr lang="en-US" sz="1150" b="1" dirty="0">
                <a:solidFill>
                  <a:srgbClr val="12766B"/>
                </a:solidFill>
                <a:latin typeface="Calibri" pitchFamily="34" charset="0"/>
                <a:ea typeface="Calibri" pitchFamily="34" charset="-122"/>
                <a:cs typeface="Calibri" pitchFamily="34" charset="-120"/>
              </a:rPr>
              <a:t>適応EMA + quiet-gate学習</a:t>
            </a:r>
            <a:endParaRPr lang="en-US" sz="1150" dirty="0"/>
          </a:p>
        </p:txBody>
      </p:sp>
      <p:sp>
        <p:nvSpPr>
          <p:cNvPr id="31" name="Text 29"/>
          <p:cNvSpPr/>
          <p:nvPr/>
        </p:nvSpPr>
        <p:spPr>
          <a:xfrm>
            <a:off x="3767328" y="6199632"/>
            <a:ext cx="6400800" cy="329184"/>
          </a:xfrm>
          <a:prstGeom prst="rect">
            <a:avLst/>
          </a:prstGeom>
          <a:noFill/>
          <a:ln/>
        </p:spPr>
        <p:txBody>
          <a:bodyPr wrap="square" rtlCol="0" anchor="ctr"/>
          <a:lstStyle/>
          <a:p>
            <a:pPr indent="0" marL="0">
              <a:buNone/>
            </a:pPr>
            <a:r>
              <a:rPr lang="en-US" sz="1100" dirty="0">
                <a:solidFill>
                  <a:srgbClr val="5B6763"/>
                </a:solidFill>
                <a:latin typeface="Calibri" pitchFamily="34" charset="0"/>
                <a:ea typeface="Calibri" pitchFamily="34" charset="-122"/>
                <a:cs typeface="Calibri" pitchFamily="34" charset="-120"/>
              </a:rPr>
              <a:t>整数・説明可能・検証容易。1Hz・単調立上りでは時変ゲインKalmanと同型</a:t>
            </a:r>
            <a:endParaRPr lang="en-US" sz="1100" dirty="0"/>
          </a:p>
        </p:txBody>
      </p:sp>
      <p:sp>
        <p:nvSpPr>
          <p:cNvPr id="32" name="Text 30"/>
          <p:cNvSpPr/>
          <p:nvPr/>
        </p:nvSpPr>
        <p:spPr>
          <a:xfrm>
            <a:off x="10259568" y="6199632"/>
            <a:ext cx="1097280" cy="329184"/>
          </a:xfrm>
          <a:prstGeom prst="rect">
            <a:avLst/>
          </a:prstGeom>
          <a:noFill/>
          <a:ln/>
        </p:spPr>
        <p:txBody>
          <a:bodyPr wrap="square" rtlCol="0" anchor="ctr"/>
          <a:lstStyle/>
          <a:p>
            <a:pPr algn="ctr" indent="0" marL="0">
              <a:buNone/>
            </a:pPr>
            <a:r>
              <a:rPr lang="en-US" sz="1100" b="1" dirty="0">
                <a:solidFill>
                  <a:srgbClr val="12766B"/>
                </a:solidFill>
                <a:latin typeface="Calibri" pitchFamily="34" charset="0"/>
                <a:ea typeface="Calibri" pitchFamily="34" charset="-122"/>
                <a:cs typeface="Calibri" pitchFamily="34" charset="-120"/>
              </a:rPr>
              <a:t>採用</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BAP · S4</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呼気セグメンテーション — onset / offset の二重条件</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07</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600200"/>
            <a:ext cx="5440680" cy="1737360"/>
          </a:xfrm>
          <a:prstGeom prst="roundRect">
            <a:avLst>
              <a:gd name="adj" fmla="val 4737"/>
            </a:avLst>
          </a:prstGeom>
          <a:solidFill>
            <a:srgbClr val="FFFFFF"/>
          </a:solidFill>
          <a:ln w="12700">
            <a:solidFill>
              <a:srgbClr val="DADFDC"/>
            </a:solidFill>
            <a:prstDash val="solid"/>
          </a:ln>
          <a:effectLst>
            <a:outerShdw sx="100000" sy="100000" kx="0" ky="0" algn="bl" rotWithShape="0" blurRad="101600" dist="38100" dir="5400000">
              <a:srgbClr val="9AA5A0">
                <a:alpha val="28000"/>
              </a:srgbClr>
            </a:outerShdw>
          </a:effectLst>
        </p:spPr>
      </p:sp>
      <p:sp>
        <p:nvSpPr>
          <p:cNvPr id="7" name="Text 5"/>
          <p:cNvSpPr/>
          <p:nvPr/>
        </p:nvSpPr>
        <p:spPr>
          <a:xfrm>
            <a:off x="795528" y="1737360"/>
            <a:ext cx="45720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ONSET（呼気開始）</a:t>
            </a:r>
            <a:endParaRPr lang="en-US" sz="1300" dirty="0"/>
          </a:p>
        </p:txBody>
      </p:sp>
      <p:sp>
        <p:nvSpPr>
          <p:cNvPr id="8" name="Text 6"/>
          <p:cNvSpPr/>
          <p:nvPr/>
        </p:nvSpPr>
        <p:spPr>
          <a:xfrm>
            <a:off x="795528" y="2048256"/>
            <a:ext cx="4937760" cy="320040"/>
          </a:xfrm>
          <a:prstGeom prst="rect">
            <a:avLst/>
          </a:prstGeom>
          <a:noFill/>
          <a:ln/>
        </p:spPr>
        <p:txBody>
          <a:bodyPr wrap="square" rtlCol="0" anchor="ctr"/>
          <a:lstStyle/>
          <a:p>
            <a:pPr indent="0" marL="0">
              <a:buNone/>
            </a:pPr>
            <a:r>
              <a:rPr lang="en-US" sz="1300" dirty="0">
                <a:solidFill>
                  <a:srgbClr val="1C1C1E"/>
                </a:solidFill>
                <a:latin typeface="Courier New" pitchFamily="34" charset="0"/>
                <a:ea typeface="Courier New" pitchFamily="34" charset="-122"/>
                <a:cs typeface="Courier New" pitchFamily="34" charset="-120"/>
              </a:rPr>
              <a:t>Δ ≥ 500 ppb が 連続3回</a:t>
            </a:r>
            <a:endParaRPr lang="en-US" sz="1300" dirty="0"/>
          </a:p>
        </p:txBody>
      </p:sp>
      <p:sp>
        <p:nvSpPr>
          <p:cNvPr id="9" name="Text 7"/>
          <p:cNvSpPr/>
          <p:nvPr/>
        </p:nvSpPr>
        <p:spPr>
          <a:xfrm>
            <a:off x="795528" y="2450592"/>
            <a:ext cx="5029200" cy="822960"/>
          </a:xfrm>
          <a:prstGeom prst="rect">
            <a:avLst/>
          </a:prstGeom>
          <a:noFill/>
          <a:ln/>
        </p:spPr>
        <p:txBody>
          <a:bodyPr wrap="square" rtlCol="0" anchor="t"/>
          <a:lstStyle/>
          <a:p>
            <a:pPr marL="177800" indent="-177800">
              <a:spcAft>
                <a:spcPts val="600"/>
              </a:spcAft>
              <a:buSzPct val="100000"/>
              <a:buChar char="•"/>
            </a:pPr>
            <a:r>
              <a:rPr lang="en-US" sz="1200" dirty="0">
                <a:solidFill>
                  <a:srgbClr val="1C1C1E"/>
                </a:solidFill>
                <a:latin typeface="Calibri" pitchFamily="34" charset="0"/>
                <a:ea typeface="Calibri" pitchFamily="34" charset="-122"/>
                <a:cs typeface="Calibri" pitchFamily="34" charset="-120"/>
              </a:rPr>
              <a:t>ヒステリシス＋持続時間の二重条件で誤起動を防ぐ</a:t>
            </a:r>
            <a:endParaRPr lang="en-US" sz="1200" dirty="0"/>
          </a:p>
          <a:p>
            <a:pPr marL="177800" indent="-177800">
              <a:spcAft>
                <a:spcPts val="600"/>
              </a:spcAft>
              <a:buSzPct val="100000"/>
              <a:buChar char="•"/>
            </a:pPr>
            <a:r>
              <a:rPr lang="en-US" sz="1200" dirty="0">
                <a:solidFill>
                  <a:srgbClr val="5B6763"/>
                </a:solidFill>
                <a:latin typeface="Calibri" pitchFamily="34" charset="0"/>
                <a:ea typeface="Calibri" pitchFamily="34" charset="-122"/>
                <a:cs typeface="Calibri" pitchFamily="34" charset="-120"/>
              </a:rPr>
              <a:t>判定に使った3サンプルも呼気に含める</a:t>
            </a:r>
            <a:endParaRPr lang="en-US" sz="1200" dirty="0"/>
          </a:p>
        </p:txBody>
      </p:sp>
      <p:sp>
        <p:nvSpPr>
          <p:cNvPr id="10" name="Shape 8"/>
          <p:cNvSpPr/>
          <p:nvPr/>
        </p:nvSpPr>
        <p:spPr>
          <a:xfrm>
            <a:off x="6217920" y="1600200"/>
            <a:ext cx="5394960" cy="1737360"/>
          </a:xfrm>
          <a:prstGeom prst="roundRect">
            <a:avLst>
              <a:gd name="adj" fmla="val 4737"/>
            </a:avLst>
          </a:prstGeom>
          <a:solidFill>
            <a:srgbClr val="FFFFFF"/>
          </a:solidFill>
          <a:ln w="12700">
            <a:solidFill>
              <a:srgbClr val="DADFDC"/>
            </a:solidFill>
            <a:prstDash val="solid"/>
          </a:ln>
          <a:effectLst>
            <a:outerShdw sx="100000" sy="100000" kx="0" ky="0" algn="bl" rotWithShape="0" blurRad="101600" dist="38100" dir="5400000">
              <a:srgbClr val="9AA5A0">
                <a:alpha val="28000"/>
              </a:srgbClr>
            </a:outerShdw>
          </a:effectLst>
        </p:spPr>
      </p:sp>
      <p:sp>
        <p:nvSpPr>
          <p:cNvPr id="11" name="Text 9"/>
          <p:cNvSpPr/>
          <p:nvPr/>
        </p:nvSpPr>
        <p:spPr>
          <a:xfrm>
            <a:off x="6446520" y="1737360"/>
            <a:ext cx="45720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OFFSET（呼気終了）</a:t>
            </a:r>
            <a:endParaRPr lang="en-US" sz="1300" dirty="0"/>
          </a:p>
        </p:txBody>
      </p:sp>
      <p:sp>
        <p:nvSpPr>
          <p:cNvPr id="12" name="Text 10"/>
          <p:cNvSpPr/>
          <p:nvPr/>
        </p:nvSpPr>
        <p:spPr>
          <a:xfrm>
            <a:off x="6446520" y="2048256"/>
            <a:ext cx="4937760" cy="1188720"/>
          </a:xfrm>
          <a:prstGeom prst="rect">
            <a:avLst/>
          </a:prstGeom>
          <a:noFill/>
          <a:ln/>
        </p:spPr>
        <p:txBody>
          <a:bodyPr wrap="square" rtlCol="0" anchor="t"/>
          <a:lstStyle/>
          <a:p>
            <a:pPr marL="177800" indent="-177800">
              <a:spcAft>
                <a:spcPts val="600"/>
              </a:spcAft>
              <a:buSzPct val="100000"/>
              <a:buChar char="•"/>
            </a:pPr>
            <a:r>
              <a:rPr lang="en-US" sz="1200" dirty="0">
                <a:solidFill>
                  <a:srgbClr val="1C1C1E"/>
                </a:solidFill>
                <a:latin typeface="Calibri" pitchFamily="34" charset="0"/>
                <a:ea typeface="Calibri" pitchFamily="34" charset="-122"/>
                <a:cs typeface="Calibri" pitchFamily="34" charset="-120"/>
              </a:rPr>
              <a:t>(a) Δがピークの40%未満に連続3回</a:t>
            </a:r>
            <a:endParaRPr lang="en-US" sz="1200" dirty="0"/>
          </a:p>
          <a:p>
            <a:pPr marL="177800" indent="-177800">
              <a:spcAft>
                <a:spcPts val="600"/>
              </a:spcAft>
              <a:buSzPct val="100000"/>
              <a:buChar char="•"/>
            </a:pPr>
            <a:r>
              <a:rPr lang="en-US" sz="1200" dirty="0">
                <a:solidFill>
                  <a:srgbClr val="1C1C1E"/>
                </a:solidFill>
                <a:latin typeface="Calibri" pitchFamily="34" charset="0"/>
                <a:ea typeface="Calibri" pitchFamily="34" charset="-122"/>
                <a:cs typeface="Calibri" pitchFamily="34" charset="-120"/>
              </a:rPr>
              <a:t>(b) 捕捉窓上限 90s（truncatedフラグ付き）</a:t>
            </a:r>
            <a:endParaRPr lang="en-US" sz="1200" dirty="0"/>
          </a:p>
          <a:p>
            <a:pPr marL="177800" indent="-177800">
              <a:spcAft>
                <a:spcPts val="600"/>
              </a:spcAft>
              <a:buSzPct val="100000"/>
              <a:buChar char="•"/>
            </a:pPr>
            <a:r>
              <a:rPr lang="en-US" sz="1200" dirty="0">
                <a:solidFill>
                  <a:srgbClr val="1C1C1E"/>
                </a:solidFill>
                <a:latin typeface="Calibri" pitchFamily="34" charset="0"/>
                <a:ea typeface="Calibri" pitchFamily="34" charset="-122"/>
                <a:cs typeface="Calibri" pitchFamily="34" charset="-120"/>
              </a:rPr>
              <a:t>(c) 手動停止</a:t>
            </a:r>
            <a:endParaRPr lang="en-US" sz="1200" dirty="0"/>
          </a:p>
        </p:txBody>
      </p:sp>
      <p:sp>
        <p:nvSpPr>
          <p:cNvPr id="13" name="Shape 11"/>
          <p:cNvSpPr/>
          <p:nvPr/>
        </p:nvSpPr>
        <p:spPr>
          <a:xfrm>
            <a:off x="566928" y="3520440"/>
            <a:ext cx="11064240" cy="1234440"/>
          </a:xfrm>
          <a:prstGeom prst="roundRect">
            <a:avLst>
              <a:gd name="adj" fmla="val 6667"/>
            </a:avLst>
          </a:prstGeom>
          <a:solidFill>
            <a:srgbClr val="D9EBE7"/>
          </a:solidFill>
          <a:ln/>
        </p:spPr>
      </p:sp>
      <p:sp>
        <p:nvSpPr>
          <p:cNvPr id="14" name="Text 12"/>
          <p:cNvSpPr/>
          <p:nvPr/>
        </p:nvSpPr>
        <p:spPr>
          <a:xfrm>
            <a:off x="795528" y="3639312"/>
            <a:ext cx="54864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なぜ微分（傾き）で検出しないのか</a:t>
            </a:r>
            <a:endParaRPr lang="en-US" sz="1300" dirty="0"/>
          </a:p>
        </p:txBody>
      </p:sp>
      <p:sp>
        <p:nvSpPr>
          <p:cNvPr id="15" name="Text 13"/>
          <p:cNvSpPr/>
          <p:nvPr/>
        </p:nvSpPr>
        <p:spPr>
          <a:xfrm>
            <a:off x="795528" y="3931920"/>
            <a:ext cx="10607040" cy="731520"/>
          </a:xfrm>
          <a:prstGeom prst="rect">
            <a:avLst/>
          </a:prstGeom>
          <a:noFill/>
          <a:ln/>
        </p:spPr>
        <p:txBody>
          <a:bodyPr wrap="square" rtlCol="0" anchor="t"/>
          <a:lstStyle/>
          <a:p>
            <a:pPr indent="0" marL="0">
              <a:buNone/>
            </a:pPr>
            <a:r>
              <a:rPr lang="en-US" sz="1250" dirty="0">
                <a:solidFill>
                  <a:srgbClr val="1C1C1E"/>
                </a:solidFill>
                <a:latin typeface="Calibri" pitchFamily="34" charset="0"/>
                <a:ea typeface="Calibri" pitchFamily="34" charset="-122"/>
                <a:cs typeface="Calibri" pitchFamily="34" charset="-120"/>
              </a:rPr>
              <a:t>1Hz・電気化学センサの応答時定数（t90が十秒オーダー）では傾きが浅く、ノイズ微分は不安定で悪名高い。振幅＋持続時間の条件のほうが頑健。傾きは特徴量（立ち上がり時間）としてのみ使用する。</a:t>
            </a:r>
            <a:endParaRPr lang="en-US" sz="1250" dirty="0"/>
          </a:p>
        </p:txBody>
      </p:sp>
      <p:sp>
        <p:nvSpPr>
          <p:cNvPr id="16" name="Shape 14"/>
          <p:cNvSpPr/>
          <p:nvPr/>
        </p:nvSpPr>
        <p:spPr>
          <a:xfrm>
            <a:off x="566928" y="4937760"/>
            <a:ext cx="11064240" cy="1280160"/>
          </a:xfrm>
          <a:prstGeom prst="roundRect">
            <a:avLst>
              <a:gd name="adj" fmla="val 6429"/>
            </a:avLst>
          </a:prstGeom>
          <a:solidFill>
            <a:srgbClr val="FFFFFF"/>
          </a:solidFill>
          <a:ln w="12700">
            <a:solidFill>
              <a:srgbClr val="C8811F"/>
            </a:solidFill>
            <a:prstDash val="solid"/>
          </a:ln>
        </p:spPr>
      </p:sp>
      <p:sp>
        <p:nvSpPr>
          <p:cNvPr id="17" name="Text 15"/>
          <p:cNvSpPr/>
          <p:nvPr/>
        </p:nvSpPr>
        <p:spPr>
          <a:xfrm>
            <a:off x="795528" y="5056632"/>
            <a:ext cx="5486400" cy="274320"/>
          </a:xfrm>
          <a:prstGeom prst="rect">
            <a:avLst/>
          </a:prstGeom>
          <a:noFill/>
          <a:ln/>
        </p:spPr>
        <p:txBody>
          <a:bodyPr wrap="square" rtlCol="0" anchor="ctr"/>
          <a:lstStyle/>
          <a:p>
            <a:pPr indent="0" marL="0">
              <a:buNone/>
            </a:pPr>
            <a:r>
              <a:rPr lang="en-US" sz="1250" b="1" dirty="0">
                <a:solidFill>
                  <a:srgbClr val="C8811F"/>
                </a:solidFill>
                <a:latin typeface="Calibri" pitchFamily="34" charset="0"/>
                <a:ea typeface="Calibri" pitchFamily="34" charset="-122"/>
                <a:cs typeface="Calibri" pitchFamily="34" charset="-120"/>
              </a:rPr>
              <a:t>⚙ 閾値はすべて PROVISIONAL（仮値）</a:t>
            </a:r>
            <a:endParaRPr lang="en-US" sz="1250" dirty="0"/>
          </a:p>
        </p:txBody>
      </p:sp>
      <p:sp>
        <p:nvSpPr>
          <p:cNvPr id="18" name="Text 16"/>
          <p:cNvSpPr/>
          <p:nvPr/>
        </p:nvSpPr>
        <p:spPr>
          <a:xfrm>
            <a:off x="795528" y="5349240"/>
            <a:ext cx="10607040" cy="777240"/>
          </a:xfrm>
          <a:prstGeom prst="rect">
            <a:avLst/>
          </a:prstGeom>
          <a:noFill/>
          <a:ln/>
        </p:spPr>
        <p:txBody>
          <a:bodyPr wrap="square" rtlCol="0" anchor="t"/>
          <a:lstStyle/>
          <a:p>
            <a:pPr indent="0" marL="0">
              <a:buNone/>
            </a:pPr>
            <a:r>
              <a:rPr lang="en-US" sz="1250" dirty="0">
                <a:solidFill>
                  <a:srgbClr val="1C1C1E"/>
                </a:solidFill>
                <a:latin typeface="Calibri" pitchFamily="34" charset="0"/>
                <a:ea typeface="Calibri" pitchFamily="34" charset="-122"/>
                <a:cs typeface="Calibri" pitchFamily="34" charset="-120"/>
              </a:rPr>
              <a:t>onset 500ppb・3回、offset 40%・90s上限などは実犬データで較正するまでの仮置き。app_config.h に集約し、由来を明記。「未知」ではなく「計画済みの未実施」として扱う（→ 実験計画・S18）。</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BAP · S5</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特徴量抽出 — 呼気1回を5つの数へ</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08</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Text 4"/>
          <p:cNvSpPr/>
          <p:nvPr/>
        </p:nvSpPr>
        <p:spPr>
          <a:xfrm>
            <a:off x="704088" y="1572768"/>
            <a:ext cx="1463040" cy="274320"/>
          </a:xfrm>
          <a:prstGeom prst="rect">
            <a:avLst/>
          </a:prstGeom>
          <a:noFill/>
          <a:ln/>
        </p:spPr>
        <p:txBody>
          <a:bodyPr wrap="square" rtlCol="0" anchor="ctr"/>
          <a:lstStyle/>
          <a:p>
            <a:pPr indent="0" marL="0">
              <a:buNone/>
            </a:pPr>
            <a:r>
              <a:rPr lang="en-US" sz="1200" b="1" dirty="0">
                <a:solidFill>
                  <a:srgbClr val="5B6763"/>
                </a:solidFill>
                <a:latin typeface="Calibri" pitchFamily="34" charset="0"/>
                <a:ea typeface="Calibri" pitchFamily="34" charset="-122"/>
                <a:cs typeface="Calibri" pitchFamily="34" charset="-120"/>
              </a:rPr>
              <a:t>特徴量</a:t>
            </a:r>
            <a:endParaRPr lang="en-US" sz="1200" dirty="0"/>
          </a:p>
        </p:txBody>
      </p:sp>
      <p:sp>
        <p:nvSpPr>
          <p:cNvPr id="7" name="Text 5"/>
          <p:cNvSpPr/>
          <p:nvPr/>
        </p:nvSpPr>
        <p:spPr>
          <a:xfrm>
            <a:off x="2304288" y="1572768"/>
            <a:ext cx="3291840" cy="274320"/>
          </a:xfrm>
          <a:prstGeom prst="rect">
            <a:avLst/>
          </a:prstGeom>
          <a:noFill/>
          <a:ln/>
        </p:spPr>
        <p:txBody>
          <a:bodyPr wrap="square" rtlCol="0" anchor="ctr"/>
          <a:lstStyle/>
          <a:p>
            <a:pPr indent="0" marL="0">
              <a:buNone/>
            </a:pPr>
            <a:r>
              <a:rPr lang="en-US" sz="1200" b="1" dirty="0">
                <a:solidFill>
                  <a:srgbClr val="5B6763"/>
                </a:solidFill>
                <a:latin typeface="Calibri" pitchFamily="34" charset="0"/>
                <a:ea typeface="Calibri" pitchFamily="34" charset="-122"/>
                <a:cs typeface="Calibri" pitchFamily="34" charset="-120"/>
              </a:rPr>
              <a:t>定義</a:t>
            </a:r>
            <a:endParaRPr lang="en-US" sz="1200" dirty="0"/>
          </a:p>
        </p:txBody>
      </p:sp>
      <p:sp>
        <p:nvSpPr>
          <p:cNvPr id="8" name="Text 6"/>
          <p:cNvSpPr/>
          <p:nvPr/>
        </p:nvSpPr>
        <p:spPr>
          <a:xfrm>
            <a:off x="5687568" y="1572768"/>
            <a:ext cx="1097280" cy="274320"/>
          </a:xfrm>
          <a:prstGeom prst="rect">
            <a:avLst/>
          </a:prstGeom>
          <a:noFill/>
          <a:ln/>
        </p:spPr>
        <p:txBody>
          <a:bodyPr wrap="square" rtlCol="0" anchor="ctr"/>
          <a:lstStyle/>
          <a:p>
            <a:pPr indent="0" marL="0">
              <a:buNone/>
            </a:pPr>
            <a:r>
              <a:rPr lang="en-US" sz="1200" b="1" dirty="0">
                <a:solidFill>
                  <a:srgbClr val="5B6763"/>
                </a:solidFill>
                <a:latin typeface="Calibri" pitchFamily="34" charset="0"/>
                <a:ea typeface="Calibri" pitchFamily="34" charset="-122"/>
                <a:cs typeface="Calibri" pitchFamily="34" charset="-120"/>
              </a:rPr>
              <a:t>単位</a:t>
            </a:r>
            <a:endParaRPr lang="en-US" sz="1200" dirty="0"/>
          </a:p>
        </p:txBody>
      </p:sp>
      <p:sp>
        <p:nvSpPr>
          <p:cNvPr id="9" name="Text 7"/>
          <p:cNvSpPr/>
          <p:nvPr/>
        </p:nvSpPr>
        <p:spPr>
          <a:xfrm>
            <a:off x="6876288" y="1572768"/>
            <a:ext cx="4114800" cy="274320"/>
          </a:xfrm>
          <a:prstGeom prst="rect">
            <a:avLst/>
          </a:prstGeom>
          <a:noFill/>
          <a:ln/>
        </p:spPr>
        <p:txBody>
          <a:bodyPr wrap="square" rtlCol="0" anchor="ctr"/>
          <a:lstStyle/>
          <a:p>
            <a:pPr indent="0" marL="0">
              <a:buNone/>
            </a:pPr>
            <a:r>
              <a:rPr lang="en-US" sz="1200" b="1" dirty="0">
                <a:solidFill>
                  <a:srgbClr val="5B6763"/>
                </a:solidFill>
                <a:latin typeface="Calibri" pitchFamily="34" charset="0"/>
                <a:ea typeface="Calibri" pitchFamily="34" charset="-122"/>
                <a:cs typeface="Calibri" pitchFamily="34" charset="-120"/>
              </a:rPr>
              <a:t>意図</a:t>
            </a:r>
            <a:endParaRPr lang="en-US" sz="1200" dirty="0"/>
          </a:p>
        </p:txBody>
      </p:sp>
      <p:sp>
        <p:nvSpPr>
          <p:cNvPr id="10" name="Shape 8"/>
          <p:cNvSpPr/>
          <p:nvPr/>
        </p:nvSpPr>
        <p:spPr>
          <a:xfrm>
            <a:off x="566928" y="1920240"/>
            <a:ext cx="11064240" cy="603504"/>
          </a:xfrm>
          <a:prstGeom prst="roundRect">
            <a:avLst>
              <a:gd name="adj" fmla="val 13636"/>
            </a:avLst>
          </a:prstGeom>
          <a:solidFill>
            <a:srgbClr val="FFFFFF"/>
          </a:solidFill>
          <a:ln w="12700">
            <a:solidFill>
              <a:srgbClr val="DADFDC"/>
            </a:solidFill>
            <a:prstDash val="solid"/>
          </a:ln>
        </p:spPr>
      </p:sp>
      <p:sp>
        <p:nvSpPr>
          <p:cNvPr id="11" name="Text 9"/>
          <p:cNvSpPr/>
          <p:nvPr/>
        </p:nvSpPr>
        <p:spPr>
          <a:xfrm>
            <a:off x="749808" y="1965960"/>
            <a:ext cx="1554480" cy="512064"/>
          </a:xfrm>
          <a:prstGeom prst="rect">
            <a:avLst/>
          </a:prstGeom>
          <a:noFill/>
          <a:ln/>
        </p:spPr>
        <p:txBody>
          <a:bodyPr wrap="square" rtlCol="0" anchor="ctr"/>
          <a:lstStyle/>
          <a:p>
            <a:pPr indent="0" marL="0">
              <a:buNone/>
            </a:pPr>
            <a:r>
              <a:rPr lang="en-US" sz="1500" b="1" dirty="0">
                <a:solidFill>
                  <a:srgbClr val="12766B"/>
                </a:solidFill>
                <a:latin typeface="Courier New" pitchFamily="34" charset="0"/>
                <a:ea typeface="Courier New" pitchFamily="34" charset="-122"/>
                <a:cs typeface="Courier New" pitchFamily="34" charset="-120"/>
              </a:rPr>
              <a:t>peak</a:t>
            </a:r>
            <a:endParaRPr lang="en-US" sz="1500" dirty="0"/>
          </a:p>
        </p:txBody>
      </p:sp>
      <p:sp>
        <p:nvSpPr>
          <p:cNvPr id="12" name="Text 10"/>
          <p:cNvSpPr/>
          <p:nvPr/>
        </p:nvSpPr>
        <p:spPr>
          <a:xfrm>
            <a:off x="2304288" y="1965960"/>
            <a:ext cx="3291840" cy="512064"/>
          </a:xfrm>
          <a:prstGeom prst="rect">
            <a:avLst/>
          </a:prstGeom>
          <a:noFill/>
          <a:ln/>
        </p:spPr>
        <p:txBody>
          <a:bodyPr wrap="square" rtlCol="0" anchor="ctr"/>
          <a:lstStyle/>
          <a:p>
            <a:pPr indent="0" marL="0">
              <a:buNone/>
            </a:pPr>
            <a:r>
              <a:rPr lang="en-US" sz="1250" dirty="0">
                <a:solidFill>
                  <a:srgbClr val="1C1C1E"/>
                </a:solidFill>
                <a:latin typeface="Calibri" pitchFamily="34" charset="0"/>
                <a:ea typeface="Calibri" pitchFamily="34" charset="-122"/>
                <a:cs typeface="Calibri" pitchFamily="34" charset="-120"/>
              </a:rPr>
              <a:t>max(Δ)</a:t>
            </a:r>
            <a:endParaRPr lang="en-US" sz="1250" dirty="0"/>
          </a:p>
        </p:txBody>
      </p:sp>
      <p:sp>
        <p:nvSpPr>
          <p:cNvPr id="13" name="Text 11"/>
          <p:cNvSpPr/>
          <p:nvPr/>
        </p:nvSpPr>
        <p:spPr>
          <a:xfrm>
            <a:off x="5687568" y="1965960"/>
            <a:ext cx="1097280" cy="512064"/>
          </a:xfrm>
          <a:prstGeom prst="rect">
            <a:avLst/>
          </a:prstGeom>
          <a:noFill/>
          <a:ln/>
        </p:spPr>
        <p:txBody>
          <a:bodyPr wrap="square" rtlCol="0" anchor="ctr"/>
          <a:lstStyle/>
          <a:p>
            <a:pPr indent="0" marL="0">
              <a:buNone/>
            </a:pPr>
            <a:r>
              <a:rPr lang="en-US" sz="1200" dirty="0">
                <a:solidFill>
                  <a:srgbClr val="5B6763"/>
                </a:solidFill>
                <a:latin typeface="Calibri" pitchFamily="34" charset="0"/>
                <a:ea typeface="Calibri" pitchFamily="34" charset="-122"/>
                <a:cs typeface="Calibri" pitchFamily="34" charset="-120"/>
              </a:rPr>
              <a:t>ppb</a:t>
            </a:r>
            <a:endParaRPr lang="en-US" sz="1200" dirty="0"/>
          </a:p>
        </p:txBody>
      </p:sp>
      <p:sp>
        <p:nvSpPr>
          <p:cNvPr id="14" name="Text 12"/>
          <p:cNvSpPr/>
          <p:nvPr/>
        </p:nvSpPr>
        <p:spPr>
          <a:xfrm>
            <a:off x="6876288" y="1965960"/>
            <a:ext cx="4480560" cy="512064"/>
          </a:xfrm>
          <a:prstGeom prst="rect">
            <a:avLst/>
          </a:prstGeom>
          <a:noFill/>
          <a:ln/>
        </p:spPr>
        <p:txBody>
          <a:bodyPr wrap="square" rtlCol="0" anchor="ctr"/>
          <a:lstStyle/>
          <a:p>
            <a:pPr indent="0" marL="0">
              <a:buNone/>
            </a:pPr>
            <a:r>
              <a:rPr lang="en-US" sz="1250" dirty="0">
                <a:solidFill>
                  <a:srgbClr val="5B6763"/>
                </a:solidFill>
                <a:latin typeface="Calibri" pitchFamily="34" charset="0"/>
                <a:ea typeface="Calibri" pitchFamily="34" charset="-122"/>
                <a:cs typeface="Calibri" pitchFamily="34" charset="-120"/>
              </a:rPr>
              <a:t>従来の代表値</a:t>
            </a:r>
            <a:endParaRPr lang="en-US" sz="1250" dirty="0"/>
          </a:p>
        </p:txBody>
      </p:sp>
      <p:sp>
        <p:nvSpPr>
          <p:cNvPr id="15" name="Shape 13"/>
          <p:cNvSpPr/>
          <p:nvPr/>
        </p:nvSpPr>
        <p:spPr>
          <a:xfrm>
            <a:off x="566928" y="2578608"/>
            <a:ext cx="11064240" cy="603504"/>
          </a:xfrm>
          <a:prstGeom prst="roundRect">
            <a:avLst>
              <a:gd name="adj" fmla="val 13636"/>
            </a:avLst>
          </a:prstGeom>
          <a:solidFill>
            <a:srgbClr val="FFFFFF"/>
          </a:solidFill>
          <a:ln w="12700">
            <a:solidFill>
              <a:srgbClr val="DADFDC"/>
            </a:solidFill>
            <a:prstDash val="solid"/>
          </a:ln>
        </p:spPr>
      </p:sp>
      <p:sp>
        <p:nvSpPr>
          <p:cNvPr id="16" name="Text 14"/>
          <p:cNvSpPr/>
          <p:nvPr/>
        </p:nvSpPr>
        <p:spPr>
          <a:xfrm>
            <a:off x="749808" y="2624328"/>
            <a:ext cx="1554480" cy="512064"/>
          </a:xfrm>
          <a:prstGeom prst="rect">
            <a:avLst/>
          </a:prstGeom>
          <a:noFill/>
          <a:ln/>
        </p:spPr>
        <p:txBody>
          <a:bodyPr wrap="square" rtlCol="0" anchor="ctr"/>
          <a:lstStyle/>
          <a:p>
            <a:pPr indent="0" marL="0">
              <a:buNone/>
            </a:pPr>
            <a:r>
              <a:rPr lang="en-US" sz="1500" b="1" dirty="0">
                <a:solidFill>
                  <a:srgbClr val="12766B"/>
                </a:solidFill>
                <a:latin typeface="Courier New" pitchFamily="34" charset="0"/>
                <a:ea typeface="Courier New" pitchFamily="34" charset="-122"/>
                <a:cs typeface="Courier New" pitchFamily="34" charset="-120"/>
              </a:rPr>
              <a:t>plateau</a:t>
            </a:r>
            <a:endParaRPr lang="en-US" sz="1500" dirty="0"/>
          </a:p>
        </p:txBody>
      </p:sp>
      <p:sp>
        <p:nvSpPr>
          <p:cNvPr id="17" name="Text 15"/>
          <p:cNvSpPr/>
          <p:nvPr/>
        </p:nvSpPr>
        <p:spPr>
          <a:xfrm>
            <a:off x="2304288" y="2624328"/>
            <a:ext cx="3291840" cy="512064"/>
          </a:xfrm>
          <a:prstGeom prst="rect">
            <a:avLst/>
          </a:prstGeom>
          <a:noFill/>
          <a:ln/>
        </p:spPr>
        <p:txBody>
          <a:bodyPr wrap="square" rtlCol="0" anchor="ctr"/>
          <a:lstStyle/>
          <a:p>
            <a:pPr indent="0" marL="0">
              <a:buNone/>
            </a:pPr>
            <a:r>
              <a:rPr lang="en-US" sz="1250" dirty="0">
                <a:solidFill>
                  <a:srgbClr val="1C1C1E"/>
                </a:solidFill>
                <a:latin typeface="Calibri" pitchFamily="34" charset="0"/>
                <a:ea typeface="Calibri" pitchFamily="34" charset="-122"/>
                <a:cs typeface="Calibri" pitchFamily="34" charset="-120"/>
              </a:rPr>
              <a:t>ピークの50%以上の平均</a:t>
            </a:r>
            <a:endParaRPr lang="en-US" sz="1250" dirty="0"/>
          </a:p>
        </p:txBody>
      </p:sp>
      <p:sp>
        <p:nvSpPr>
          <p:cNvPr id="18" name="Text 16"/>
          <p:cNvSpPr/>
          <p:nvPr/>
        </p:nvSpPr>
        <p:spPr>
          <a:xfrm>
            <a:off x="5687568" y="2624328"/>
            <a:ext cx="1097280" cy="512064"/>
          </a:xfrm>
          <a:prstGeom prst="rect">
            <a:avLst/>
          </a:prstGeom>
          <a:noFill/>
          <a:ln/>
        </p:spPr>
        <p:txBody>
          <a:bodyPr wrap="square" rtlCol="0" anchor="ctr"/>
          <a:lstStyle/>
          <a:p>
            <a:pPr indent="0" marL="0">
              <a:buNone/>
            </a:pPr>
            <a:r>
              <a:rPr lang="en-US" sz="1200" dirty="0">
                <a:solidFill>
                  <a:srgbClr val="5B6763"/>
                </a:solidFill>
                <a:latin typeface="Calibri" pitchFamily="34" charset="0"/>
                <a:ea typeface="Calibri" pitchFamily="34" charset="-122"/>
                <a:cs typeface="Calibri" pitchFamily="34" charset="-120"/>
              </a:rPr>
              <a:t>ppb</a:t>
            </a:r>
            <a:endParaRPr lang="en-US" sz="1200" dirty="0"/>
          </a:p>
        </p:txBody>
      </p:sp>
      <p:sp>
        <p:nvSpPr>
          <p:cNvPr id="19" name="Text 17"/>
          <p:cNvSpPr/>
          <p:nvPr/>
        </p:nvSpPr>
        <p:spPr>
          <a:xfrm>
            <a:off x="6876288" y="2624328"/>
            <a:ext cx="4480560" cy="512064"/>
          </a:xfrm>
          <a:prstGeom prst="rect">
            <a:avLst/>
          </a:prstGeom>
          <a:noFill/>
          <a:ln/>
        </p:spPr>
        <p:txBody>
          <a:bodyPr wrap="square" rtlCol="0" anchor="ctr"/>
          <a:lstStyle/>
          <a:p>
            <a:pPr indent="0" marL="0">
              <a:buNone/>
            </a:pPr>
            <a:r>
              <a:rPr lang="en-US" sz="1250" dirty="0">
                <a:solidFill>
                  <a:srgbClr val="5B6763"/>
                </a:solidFill>
                <a:latin typeface="Calibri" pitchFamily="34" charset="0"/>
                <a:ea typeface="Calibri" pitchFamily="34" charset="-122"/>
                <a:cs typeface="Calibri" pitchFamily="34" charset="-120"/>
              </a:rPr>
              <a:t>ピークより外乱に強い代表値</a:t>
            </a:r>
            <a:endParaRPr lang="en-US" sz="1250" dirty="0"/>
          </a:p>
        </p:txBody>
      </p:sp>
      <p:sp>
        <p:nvSpPr>
          <p:cNvPr id="20" name="Shape 18"/>
          <p:cNvSpPr/>
          <p:nvPr/>
        </p:nvSpPr>
        <p:spPr>
          <a:xfrm>
            <a:off x="566928" y="3236976"/>
            <a:ext cx="11064240" cy="603504"/>
          </a:xfrm>
          <a:prstGeom prst="roundRect">
            <a:avLst>
              <a:gd name="adj" fmla="val 13636"/>
            </a:avLst>
          </a:prstGeom>
          <a:solidFill>
            <a:srgbClr val="FFFFFF"/>
          </a:solidFill>
          <a:ln w="12700">
            <a:solidFill>
              <a:srgbClr val="DADFDC"/>
            </a:solidFill>
            <a:prstDash val="solid"/>
          </a:ln>
        </p:spPr>
      </p:sp>
      <p:sp>
        <p:nvSpPr>
          <p:cNvPr id="21" name="Text 19"/>
          <p:cNvSpPr/>
          <p:nvPr/>
        </p:nvSpPr>
        <p:spPr>
          <a:xfrm>
            <a:off x="749808" y="3282696"/>
            <a:ext cx="1554480" cy="512064"/>
          </a:xfrm>
          <a:prstGeom prst="rect">
            <a:avLst/>
          </a:prstGeom>
          <a:noFill/>
          <a:ln/>
        </p:spPr>
        <p:txBody>
          <a:bodyPr wrap="square" rtlCol="0" anchor="ctr"/>
          <a:lstStyle/>
          <a:p>
            <a:pPr indent="0" marL="0">
              <a:buNone/>
            </a:pPr>
            <a:r>
              <a:rPr lang="en-US" sz="1500" b="1" dirty="0">
                <a:solidFill>
                  <a:srgbClr val="12766B"/>
                </a:solidFill>
                <a:latin typeface="Courier New" pitchFamily="34" charset="0"/>
                <a:ea typeface="Courier New" pitchFamily="34" charset="-122"/>
                <a:cs typeface="Courier New" pitchFamily="34" charset="-120"/>
              </a:rPr>
              <a:t>AUC</a:t>
            </a:r>
            <a:endParaRPr lang="en-US" sz="1500" dirty="0"/>
          </a:p>
        </p:txBody>
      </p:sp>
      <p:sp>
        <p:nvSpPr>
          <p:cNvPr id="22" name="Text 20"/>
          <p:cNvSpPr/>
          <p:nvPr/>
        </p:nvSpPr>
        <p:spPr>
          <a:xfrm>
            <a:off x="2304288" y="3282696"/>
            <a:ext cx="3291840" cy="512064"/>
          </a:xfrm>
          <a:prstGeom prst="rect">
            <a:avLst/>
          </a:prstGeom>
          <a:noFill/>
          <a:ln/>
        </p:spPr>
        <p:txBody>
          <a:bodyPr wrap="square" rtlCol="0" anchor="ctr"/>
          <a:lstStyle/>
          <a:p>
            <a:pPr indent="0" marL="0">
              <a:buNone/>
            </a:pPr>
            <a:r>
              <a:rPr lang="en-US" sz="1250" dirty="0">
                <a:solidFill>
                  <a:srgbClr val="1C1C1E"/>
                </a:solidFill>
                <a:latin typeface="Calibri" pitchFamily="34" charset="0"/>
                <a:ea typeface="Calibri" pitchFamily="34" charset="-122"/>
                <a:cs typeface="Calibri" pitchFamily="34" charset="-120"/>
              </a:rPr>
              <a:t>ΣΔ·1s（1Hz等間隔）</a:t>
            </a:r>
            <a:endParaRPr lang="en-US" sz="1250" dirty="0"/>
          </a:p>
        </p:txBody>
      </p:sp>
      <p:sp>
        <p:nvSpPr>
          <p:cNvPr id="23" name="Text 21"/>
          <p:cNvSpPr/>
          <p:nvPr/>
        </p:nvSpPr>
        <p:spPr>
          <a:xfrm>
            <a:off x="5687568" y="3282696"/>
            <a:ext cx="1097280" cy="512064"/>
          </a:xfrm>
          <a:prstGeom prst="rect">
            <a:avLst/>
          </a:prstGeom>
          <a:noFill/>
          <a:ln/>
        </p:spPr>
        <p:txBody>
          <a:bodyPr wrap="square" rtlCol="0" anchor="ctr"/>
          <a:lstStyle/>
          <a:p>
            <a:pPr indent="0" marL="0">
              <a:buNone/>
            </a:pPr>
            <a:r>
              <a:rPr lang="en-US" sz="1200" dirty="0">
                <a:solidFill>
                  <a:srgbClr val="5B6763"/>
                </a:solidFill>
                <a:latin typeface="Calibri" pitchFamily="34" charset="0"/>
                <a:ea typeface="Calibri" pitchFamily="34" charset="-122"/>
                <a:cs typeface="Calibri" pitchFamily="34" charset="-120"/>
              </a:rPr>
              <a:t>ppb·s</a:t>
            </a:r>
            <a:endParaRPr lang="en-US" sz="1200" dirty="0"/>
          </a:p>
        </p:txBody>
      </p:sp>
      <p:sp>
        <p:nvSpPr>
          <p:cNvPr id="24" name="Text 22"/>
          <p:cNvSpPr/>
          <p:nvPr/>
        </p:nvSpPr>
        <p:spPr>
          <a:xfrm>
            <a:off x="6876288" y="3282696"/>
            <a:ext cx="4480560" cy="512064"/>
          </a:xfrm>
          <a:prstGeom prst="rect">
            <a:avLst/>
          </a:prstGeom>
          <a:noFill/>
          <a:ln/>
        </p:spPr>
        <p:txBody>
          <a:bodyPr wrap="square" rtlCol="0" anchor="ctr"/>
          <a:lstStyle/>
          <a:p>
            <a:pPr indent="0" marL="0">
              <a:buNone/>
            </a:pPr>
            <a:r>
              <a:rPr lang="en-US" sz="1250" dirty="0">
                <a:solidFill>
                  <a:srgbClr val="5B6763"/>
                </a:solidFill>
                <a:latin typeface="Calibri" pitchFamily="34" charset="0"/>
                <a:ea typeface="Calibri" pitchFamily="34" charset="-122"/>
                <a:cs typeface="Calibri" pitchFamily="34" charset="-120"/>
              </a:rPr>
              <a:t>総排出量に比例する生理指標</a:t>
            </a:r>
            <a:endParaRPr lang="en-US" sz="1250" dirty="0"/>
          </a:p>
        </p:txBody>
      </p:sp>
      <p:sp>
        <p:nvSpPr>
          <p:cNvPr id="25" name="Shape 23"/>
          <p:cNvSpPr/>
          <p:nvPr/>
        </p:nvSpPr>
        <p:spPr>
          <a:xfrm>
            <a:off x="566928" y="3895344"/>
            <a:ext cx="11064240" cy="603504"/>
          </a:xfrm>
          <a:prstGeom prst="roundRect">
            <a:avLst>
              <a:gd name="adj" fmla="val 13636"/>
            </a:avLst>
          </a:prstGeom>
          <a:solidFill>
            <a:srgbClr val="FFFFFF"/>
          </a:solidFill>
          <a:ln w="12700">
            <a:solidFill>
              <a:srgbClr val="DADFDC"/>
            </a:solidFill>
            <a:prstDash val="solid"/>
          </a:ln>
        </p:spPr>
      </p:sp>
      <p:sp>
        <p:nvSpPr>
          <p:cNvPr id="26" name="Text 24"/>
          <p:cNvSpPr/>
          <p:nvPr/>
        </p:nvSpPr>
        <p:spPr>
          <a:xfrm>
            <a:off x="749808" y="3941064"/>
            <a:ext cx="1554480" cy="512064"/>
          </a:xfrm>
          <a:prstGeom prst="rect">
            <a:avLst/>
          </a:prstGeom>
          <a:noFill/>
          <a:ln/>
        </p:spPr>
        <p:txBody>
          <a:bodyPr wrap="square" rtlCol="0" anchor="ctr"/>
          <a:lstStyle/>
          <a:p>
            <a:pPr indent="0" marL="0">
              <a:buNone/>
            </a:pPr>
            <a:r>
              <a:rPr lang="en-US" sz="1500" b="1" dirty="0">
                <a:solidFill>
                  <a:srgbClr val="12766B"/>
                </a:solidFill>
                <a:latin typeface="Courier New" pitchFamily="34" charset="0"/>
                <a:ea typeface="Courier New" pitchFamily="34" charset="-122"/>
                <a:cs typeface="Courier New" pitchFamily="34" charset="-120"/>
              </a:rPr>
              <a:t>rise</a:t>
            </a:r>
            <a:endParaRPr lang="en-US" sz="1500" dirty="0"/>
          </a:p>
        </p:txBody>
      </p:sp>
      <p:sp>
        <p:nvSpPr>
          <p:cNvPr id="27" name="Text 25"/>
          <p:cNvSpPr/>
          <p:nvPr/>
        </p:nvSpPr>
        <p:spPr>
          <a:xfrm>
            <a:off x="2304288" y="3941064"/>
            <a:ext cx="3291840" cy="512064"/>
          </a:xfrm>
          <a:prstGeom prst="rect">
            <a:avLst/>
          </a:prstGeom>
          <a:noFill/>
          <a:ln/>
        </p:spPr>
        <p:txBody>
          <a:bodyPr wrap="square" rtlCol="0" anchor="ctr"/>
          <a:lstStyle/>
          <a:p>
            <a:pPr indent="0" marL="0">
              <a:buNone/>
            </a:pPr>
            <a:r>
              <a:rPr lang="en-US" sz="1250" dirty="0">
                <a:solidFill>
                  <a:srgbClr val="1C1C1E"/>
                </a:solidFill>
                <a:latin typeface="Calibri" pitchFamily="34" charset="0"/>
                <a:ea typeface="Calibri" pitchFamily="34" charset="-122"/>
                <a:cs typeface="Calibri" pitchFamily="34" charset="-120"/>
              </a:rPr>
              <a:t>Δ 10%→90% 到達時間</a:t>
            </a:r>
            <a:endParaRPr lang="en-US" sz="1250" dirty="0"/>
          </a:p>
        </p:txBody>
      </p:sp>
      <p:sp>
        <p:nvSpPr>
          <p:cNvPr id="28" name="Text 26"/>
          <p:cNvSpPr/>
          <p:nvPr/>
        </p:nvSpPr>
        <p:spPr>
          <a:xfrm>
            <a:off x="5687568" y="3941064"/>
            <a:ext cx="1097280" cy="512064"/>
          </a:xfrm>
          <a:prstGeom prst="rect">
            <a:avLst/>
          </a:prstGeom>
          <a:noFill/>
          <a:ln/>
        </p:spPr>
        <p:txBody>
          <a:bodyPr wrap="square" rtlCol="0" anchor="ctr"/>
          <a:lstStyle/>
          <a:p>
            <a:pPr indent="0" marL="0">
              <a:buNone/>
            </a:pPr>
            <a:r>
              <a:rPr lang="en-US" sz="1200" dirty="0">
                <a:solidFill>
                  <a:srgbClr val="5B6763"/>
                </a:solidFill>
                <a:latin typeface="Calibri" pitchFamily="34" charset="0"/>
                <a:ea typeface="Calibri" pitchFamily="34" charset="-122"/>
                <a:cs typeface="Calibri" pitchFamily="34" charset="-120"/>
              </a:rPr>
              <a:t>0.1s</a:t>
            </a:r>
            <a:endParaRPr lang="en-US" sz="1200" dirty="0"/>
          </a:p>
        </p:txBody>
      </p:sp>
      <p:sp>
        <p:nvSpPr>
          <p:cNvPr id="29" name="Text 27"/>
          <p:cNvSpPr/>
          <p:nvPr/>
        </p:nvSpPr>
        <p:spPr>
          <a:xfrm>
            <a:off x="6876288" y="3941064"/>
            <a:ext cx="4480560" cy="512064"/>
          </a:xfrm>
          <a:prstGeom prst="rect">
            <a:avLst/>
          </a:prstGeom>
          <a:noFill/>
          <a:ln/>
        </p:spPr>
        <p:txBody>
          <a:bodyPr wrap="square" rtlCol="0" anchor="ctr"/>
          <a:lstStyle/>
          <a:p>
            <a:pPr indent="0" marL="0">
              <a:buNone/>
            </a:pPr>
            <a:r>
              <a:rPr lang="en-US" sz="1250" dirty="0">
                <a:solidFill>
                  <a:srgbClr val="5B6763"/>
                </a:solidFill>
                <a:latin typeface="Calibri" pitchFamily="34" charset="0"/>
                <a:ea typeface="Calibri" pitchFamily="34" charset="-122"/>
                <a:cs typeface="Calibri" pitchFamily="34" charset="-120"/>
              </a:rPr>
              <a:t>センサ応答＋呼気の勢い</a:t>
            </a:r>
            <a:endParaRPr lang="en-US" sz="1250" dirty="0"/>
          </a:p>
        </p:txBody>
      </p:sp>
      <p:sp>
        <p:nvSpPr>
          <p:cNvPr id="30" name="Shape 28"/>
          <p:cNvSpPr/>
          <p:nvPr/>
        </p:nvSpPr>
        <p:spPr>
          <a:xfrm>
            <a:off x="566928" y="4553712"/>
            <a:ext cx="11064240" cy="603504"/>
          </a:xfrm>
          <a:prstGeom prst="roundRect">
            <a:avLst>
              <a:gd name="adj" fmla="val 13636"/>
            </a:avLst>
          </a:prstGeom>
          <a:solidFill>
            <a:srgbClr val="FFFFFF"/>
          </a:solidFill>
          <a:ln w="12700">
            <a:solidFill>
              <a:srgbClr val="DADFDC"/>
            </a:solidFill>
            <a:prstDash val="solid"/>
          </a:ln>
        </p:spPr>
      </p:sp>
      <p:sp>
        <p:nvSpPr>
          <p:cNvPr id="31" name="Text 29"/>
          <p:cNvSpPr/>
          <p:nvPr/>
        </p:nvSpPr>
        <p:spPr>
          <a:xfrm>
            <a:off x="749808" y="4599432"/>
            <a:ext cx="1554480" cy="512064"/>
          </a:xfrm>
          <a:prstGeom prst="rect">
            <a:avLst/>
          </a:prstGeom>
          <a:noFill/>
          <a:ln/>
        </p:spPr>
        <p:txBody>
          <a:bodyPr wrap="square" rtlCol="0" anchor="ctr"/>
          <a:lstStyle/>
          <a:p>
            <a:pPr indent="0" marL="0">
              <a:buNone/>
            </a:pPr>
            <a:r>
              <a:rPr lang="en-US" sz="1500" b="1" dirty="0">
                <a:solidFill>
                  <a:srgbClr val="12766B"/>
                </a:solidFill>
                <a:latin typeface="Courier New" pitchFamily="34" charset="0"/>
                <a:ea typeface="Courier New" pitchFamily="34" charset="-122"/>
                <a:cs typeface="Courier New" pitchFamily="34" charset="-120"/>
              </a:rPr>
              <a:t>duration</a:t>
            </a:r>
            <a:endParaRPr lang="en-US" sz="1500" dirty="0"/>
          </a:p>
        </p:txBody>
      </p:sp>
      <p:sp>
        <p:nvSpPr>
          <p:cNvPr id="32" name="Text 30"/>
          <p:cNvSpPr/>
          <p:nvPr/>
        </p:nvSpPr>
        <p:spPr>
          <a:xfrm>
            <a:off x="2304288" y="4599432"/>
            <a:ext cx="3291840" cy="512064"/>
          </a:xfrm>
          <a:prstGeom prst="rect">
            <a:avLst/>
          </a:prstGeom>
          <a:noFill/>
          <a:ln/>
        </p:spPr>
        <p:txBody>
          <a:bodyPr wrap="square" rtlCol="0" anchor="ctr"/>
          <a:lstStyle/>
          <a:p>
            <a:pPr indent="0" marL="0">
              <a:buNone/>
            </a:pPr>
            <a:r>
              <a:rPr lang="en-US" sz="1250" dirty="0">
                <a:solidFill>
                  <a:srgbClr val="1C1C1E"/>
                </a:solidFill>
                <a:latin typeface="Calibri" pitchFamily="34" charset="0"/>
                <a:ea typeface="Calibri" pitchFamily="34" charset="-122"/>
                <a:cs typeface="Calibri" pitchFamily="34" charset="-120"/>
              </a:rPr>
              <a:t>onset→offset</a:t>
            </a:r>
            <a:endParaRPr lang="en-US" sz="1250" dirty="0"/>
          </a:p>
        </p:txBody>
      </p:sp>
      <p:sp>
        <p:nvSpPr>
          <p:cNvPr id="33" name="Text 31"/>
          <p:cNvSpPr/>
          <p:nvPr/>
        </p:nvSpPr>
        <p:spPr>
          <a:xfrm>
            <a:off x="5687568" y="4599432"/>
            <a:ext cx="1097280" cy="512064"/>
          </a:xfrm>
          <a:prstGeom prst="rect">
            <a:avLst/>
          </a:prstGeom>
          <a:noFill/>
          <a:ln/>
        </p:spPr>
        <p:txBody>
          <a:bodyPr wrap="square" rtlCol="0" anchor="ctr"/>
          <a:lstStyle/>
          <a:p>
            <a:pPr indent="0" marL="0">
              <a:buNone/>
            </a:pPr>
            <a:r>
              <a:rPr lang="en-US" sz="1200" dirty="0">
                <a:solidFill>
                  <a:srgbClr val="5B6763"/>
                </a:solidFill>
                <a:latin typeface="Calibri" pitchFamily="34" charset="0"/>
                <a:ea typeface="Calibri" pitchFamily="34" charset="-122"/>
                <a:cs typeface="Calibri" pitchFamily="34" charset="-120"/>
              </a:rPr>
              <a:t>0.1s</a:t>
            </a:r>
            <a:endParaRPr lang="en-US" sz="1200" dirty="0"/>
          </a:p>
        </p:txBody>
      </p:sp>
      <p:sp>
        <p:nvSpPr>
          <p:cNvPr id="34" name="Text 32"/>
          <p:cNvSpPr/>
          <p:nvPr/>
        </p:nvSpPr>
        <p:spPr>
          <a:xfrm>
            <a:off x="6876288" y="4599432"/>
            <a:ext cx="4480560" cy="512064"/>
          </a:xfrm>
          <a:prstGeom prst="rect">
            <a:avLst/>
          </a:prstGeom>
          <a:noFill/>
          <a:ln/>
        </p:spPr>
        <p:txBody>
          <a:bodyPr wrap="square" rtlCol="0" anchor="ctr"/>
          <a:lstStyle/>
          <a:p>
            <a:pPr indent="0" marL="0">
              <a:buNone/>
            </a:pPr>
            <a:r>
              <a:rPr lang="en-US" sz="1250" dirty="0">
                <a:solidFill>
                  <a:srgbClr val="5B6763"/>
                </a:solidFill>
                <a:latin typeface="Calibri" pitchFamily="34" charset="0"/>
                <a:ea typeface="Calibri" pitchFamily="34" charset="-122"/>
                <a:cs typeface="Calibri" pitchFamily="34" charset="-120"/>
              </a:rPr>
              <a:t>品質判定にも使用</a:t>
            </a:r>
            <a:endParaRPr lang="en-US" sz="1250" dirty="0"/>
          </a:p>
        </p:txBody>
      </p:sp>
      <p:sp>
        <p:nvSpPr>
          <p:cNvPr id="35" name="Shape 33"/>
          <p:cNvSpPr/>
          <p:nvPr/>
        </p:nvSpPr>
        <p:spPr>
          <a:xfrm>
            <a:off x="566928" y="5394960"/>
            <a:ext cx="11064240" cy="868680"/>
          </a:xfrm>
          <a:prstGeom prst="roundRect">
            <a:avLst>
              <a:gd name="adj" fmla="val 9474"/>
            </a:avLst>
          </a:prstGeom>
          <a:solidFill>
            <a:srgbClr val="D9EBE7"/>
          </a:solidFill>
          <a:ln/>
        </p:spPr>
      </p:sp>
      <p:sp>
        <p:nvSpPr>
          <p:cNvPr id="36" name="Text 34"/>
          <p:cNvSpPr/>
          <p:nvPr/>
        </p:nvSpPr>
        <p:spPr>
          <a:xfrm>
            <a:off x="795528" y="5486400"/>
            <a:ext cx="10607040" cy="685800"/>
          </a:xfrm>
          <a:prstGeom prst="rect">
            <a:avLst/>
          </a:prstGeom>
          <a:noFill/>
          <a:ln/>
        </p:spPr>
        <p:txBody>
          <a:bodyPr wrap="square" rtlCol="0" anchor="t"/>
          <a:lstStyle/>
          <a:p>
            <a:pPr indent="0" marL="0">
              <a:buNone/>
            </a:pPr>
            <a:r>
              <a:rPr lang="en-US" sz="1250" b="1" dirty="0">
                <a:solidFill>
                  <a:srgbClr val="12766B"/>
                </a:solidFill>
                <a:latin typeface="Calibri" pitchFamily="34" charset="0"/>
                <a:ea typeface="Calibri" pitchFamily="34" charset="-122"/>
                <a:cs typeface="Calibri" pitchFamily="34" charset="-120"/>
              </a:rPr>
              <a:t>設計判断（メモリ vs 正確さ）：</a:t>
            </a:r>
            <a:pPr indent="0" marL="0">
              <a:buNone/>
            </a:pPr>
            <a:r>
              <a:rPr lang="en-US" sz="1250" dirty="0">
                <a:solidFill>
                  <a:srgbClr val="1C1C1E"/>
                </a:solidFill>
                <a:latin typeface="Calibri" pitchFamily="34" charset="0"/>
                <a:ea typeface="Calibri" pitchFamily="34" charset="-122"/>
                <a:cs typeface="Calibri" pitchFamily="34" charset="-120"/>
              </a:rPr>
              <a:t>呼気捕捉バッファ int32×96 = 384B を静的確保。O(1)逐次近似も検討したが、peak確定は offset後であり進行中peak基準では前半サンプルの帰属が系統誤差になる。384B は SRAM の 0.24% — 正確さを優先。</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BAP · S6 / S7</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Quality × Confidence — 二軸の自己評価</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09</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572768"/>
            <a:ext cx="5212080" cy="2788920"/>
          </a:xfrm>
          <a:prstGeom prst="roundRect">
            <a:avLst>
              <a:gd name="adj" fmla="val 2951"/>
            </a:avLst>
          </a:prstGeom>
          <a:solidFill>
            <a:srgbClr val="FFFFFF"/>
          </a:solidFill>
          <a:ln w="12700">
            <a:solidFill>
              <a:srgbClr val="DADFDC"/>
            </a:solidFill>
            <a:prstDash val="solid"/>
          </a:ln>
          <a:effectLst>
            <a:outerShdw sx="100000" sy="100000" kx="0" ky="0" algn="bl" rotWithShape="0" blurRad="101600" dist="38100" dir="5400000">
              <a:srgbClr val="9AA5A0">
                <a:alpha val="28000"/>
              </a:srgbClr>
            </a:outerShdw>
          </a:effectLst>
        </p:spPr>
      </p:sp>
      <p:sp>
        <p:nvSpPr>
          <p:cNvPr id="7" name="Text 5"/>
          <p:cNvSpPr/>
          <p:nvPr/>
        </p:nvSpPr>
        <p:spPr>
          <a:xfrm>
            <a:off x="768096" y="1691640"/>
            <a:ext cx="4846320" cy="274320"/>
          </a:xfrm>
          <a:prstGeom prst="rect">
            <a:avLst/>
          </a:prstGeom>
          <a:noFill/>
          <a:ln/>
        </p:spPr>
        <p:txBody>
          <a:bodyPr wrap="square" rtlCol="0" anchor="ctr"/>
          <a:lstStyle/>
          <a:p>
            <a:pPr indent="0" marL="0">
              <a:buNone/>
            </a:pPr>
            <a:r>
              <a:rPr lang="en-US" sz="1250" b="1" dirty="0">
                <a:solidFill>
                  <a:srgbClr val="12766B"/>
                </a:solidFill>
                <a:latin typeface="Calibri" pitchFamily="34" charset="0"/>
                <a:ea typeface="Calibri" pitchFamily="34" charset="-122"/>
                <a:cs typeface="Calibri" pitchFamily="34" charset="-120"/>
              </a:rPr>
              <a:t>Q（測定）×C（計測器）で状況を切り分ける</a:t>
            </a:r>
            <a:endParaRPr lang="en-US" sz="1250" dirty="0"/>
          </a:p>
        </p:txBody>
      </p:sp>
      <p:sp>
        <p:nvSpPr>
          <p:cNvPr id="8" name="Shape 6"/>
          <p:cNvSpPr/>
          <p:nvPr/>
        </p:nvSpPr>
        <p:spPr>
          <a:xfrm>
            <a:off x="1069848" y="4114800"/>
            <a:ext cx="4297680" cy="0"/>
          </a:xfrm>
          <a:prstGeom prst="line">
            <a:avLst/>
          </a:prstGeom>
          <a:noFill/>
          <a:ln w="15240">
            <a:solidFill>
              <a:srgbClr val="5B6763"/>
            </a:solidFill>
            <a:prstDash val="solid"/>
            <a:tailEnd type="triangle"/>
          </a:ln>
        </p:spPr>
      </p:sp>
      <p:sp>
        <p:nvSpPr>
          <p:cNvPr id="9" name="Shape 7"/>
          <p:cNvSpPr/>
          <p:nvPr/>
        </p:nvSpPr>
        <p:spPr>
          <a:xfrm>
            <a:off x="1069848" y="4114800"/>
            <a:ext cx="0" cy="-1965960"/>
          </a:xfrm>
          <a:prstGeom prst="line">
            <a:avLst/>
          </a:prstGeom>
          <a:noFill/>
          <a:ln w="15240">
            <a:solidFill>
              <a:srgbClr val="5B6763"/>
            </a:solidFill>
            <a:prstDash val="solid"/>
            <a:tailEnd type="triangle"/>
          </a:ln>
        </p:spPr>
      </p:sp>
      <p:sp>
        <p:nvSpPr>
          <p:cNvPr id="10" name="Text 8"/>
          <p:cNvSpPr/>
          <p:nvPr/>
        </p:nvSpPr>
        <p:spPr>
          <a:xfrm>
            <a:off x="4087368" y="4133088"/>
            <a:ext cx="1371600" cy="228600"/>
          </a:xfrm>
          <a:prstGeom prst="rect">
            <a:avLst/>
          </a:prstGeom>
          <a:noFill/>
          <a:ln/>
        </p:spPr>
        <p:txBody>
          <a:bodyPr wrap="square" rtlCol="0" anchor="ctr"/>
          <a:lstStyle/>
          <a:p>
            <a:pPr indent="0" marL="0">
              <a:buNone/>
            </a:pPr>
            <a:r>
              <a:rPr lang="en-US" sz="900" dirty="0">
                <a:solidFill>
                  <a:srgbClr val="5B6763"/>
                </a:solidFill>
                <a:latin typeface="Calibri" pitchFamily="34" charset="0"/>
                <a:ea typeface="Calibri" pitchFamily="34" charset="-122"/>
                <a:cs typeface="Calibri" pitchFamily="34" charset="-120"/>
              </a:rPr>
              <a:t>Quality →</a:t>
            </a:r>
            <a:endParaRPr lang="en-US" sz="900" dirty="0"/>
          </a:p>
        </p:txBody>
      </p:sp>
      <p:sp>
        <p:nvSpPr>
          <p:cNvPr id="11" name="Text 9"/>
          <p:cNvSpPr/>
          <p:nvPr/>
        </p:nvSpPr>
        <p:spPr>
          <a:xfrm>
            <a:off x="658368" y="2103120"/>
            <a:ext cx="1554480" cy="228600"/>
          </a:xfrm>
          <a:prstGeom prst="rect">
            <a:avLst/>
          </a:prstGeom>
          <a:noFill/>
          <a:ln/>
        </p:spPr>
        <p:txBody>
          <a:bodyPr wrap="square" rtlCol="0" anchor="ctr"/>
          <a:lstStyle/>
          <a:p>
            <a:pPr indent="0" marL="0">
              <a:buNone/>
            </a:pPr>
            <a:r>
              <a:rPr lang="en-US" sz="900" dirty="0">
                <a:solidFill>
                  <a:srgbClr val="5B6763"/>
                </a:solidFill>
                <a:latin typeface="Calibri" pitchFamily="34" charset="0"/>
                <a:ea typeface="Calibri" pitchFamily="34" charset="-122"/>
                <a:cs typeface="Calibri" pitchFamily="34" charset="-120"/>
              </a:rPr>
              <a:t>Confidence ↑</a:t>
            </a:r>
            <a:endParaRPr lang="en-US" sz="900" dirty="0"/>
          </a:p>
        </p:txBody>
      </p:sp>
      <p:sp>
        <p:nvSpPr>
          <p:cNvPr id="12" name="Shape 10"/>
          <p:cNvSpPr/>
          <p:nvPr/>
        </p:nvSpPr>
        <p:spPr>
          <a:xfrm>
            <a:off x="3218688" y="3131820"/>
            <a:ext cx="2148840" cy="982980"/>
          </a:xfrm>
          <a:prstGeom prst="rect">
            <a:avLst/>
          </a:prstGeom>
          <a:solidFill>
            <a:srgbClr val="D9EBE7">
              <a:alpha val="70000"/>
            </a:srgbClr>
          </a:solidFill>
          <a:ln/>
        </p:spPr>
      </p:sp>
      <p:sp>
        <p:nvSpPr>
          <p:cNvPr id="13" name="Text 11"/>
          <p:cNvSpPr/>
          <p:nvPr/>
        </p:nvSpPr>
        <p:spPr>
          <a:xfrm>
            <a:off x="3310128" y="3314700"/>
            <a:ext cx="1965960" cy="731520"/>
          </a:xfrm>
          <a:prstGeom prst="rect">
            <a:avLst/>
          </a:prstGeom>
          <a:noFill/>
          <a:ln/>
        </p:spPr>
        <p:txBody>
          <a:bodyPr wrap="square" rtlCol="0" anchor="ctr"/>
          <a:lstStyle/>
          <a:p>
            <a:pPr algn="ctr" indent="0" marL="0">
              <a:buNone/>
            </a:pPr>
            <a:r>
              <a:rPr lang="en-US" sz="1000" b="1" dirty="0">
                <a:solidFill>
                  <a:srgbClr val="12766B"/>
                </a:solidFill>
                <a:latin typeface="Calibri" pitchFamily="34" charset="0"/>
                <a:ea typeface="Calibri" pitchFamily="34" charset="-122"/>
                <a:cs typeface="Calibri" pitchFamily="34" charset="-120"/>
              </a:rPr>
              <a:t>機器◎/測定◎</a:t>
            </a:r>
            <a:endParaRPr lang="en-US" sz="1000" dirty="0"/>
          </a:p>
          <a:p>
            <a:pPr algn="ctr" indent="0" marL="0">
              <a:buNone/>
            </a:pPr>
            <a:r>
              <a:rPr lang="en-US" sz="1000" b="1" dirty="0">
                <a:solidFill>
                  <a:srgbClr val="12766B"/>
                </a:solidFill>
                <a:latin typeface="Calibri" pitchFamily="34" charset="0"/>
                <a:ea typeface="Calibri" pitchFamily="34" charset="-122"/>
                <a:cs typeface="Calibri" pitchFamily="34" charset="-120"/>
              </a:rPr>
              <a:t>良い記録</a:t>
            </a:r>
            <a:endParaRPr lang="en-US" sz="1000" dirty="0"/>
          </a:p>
        </p:txBody>
      </p:sp>
      <p:sp>
        <p:nvSpPr>
          <p:cNvPr id="14" name="Text 12"/>
          <p:cNvSpPr/>
          <p:nvPr/>
        </p:nvSpPr>
        <p:spPr>
          <a:xfrm>
            <a:off x="3310128" y="2286000"/>
            <a:ext cx="1965960" cy="731520"/>
          </a:xfrm>
          <a:prstGeom prst="rect">
            <a:avLst/>
          </a:prstGeom>
          <a:noFill/>
          <a:ln/>
        </p:spPr>
        <p:txBody>
          <a:bodyPr wrap="square" rtlCol="0" anchor="ctr"/>
          <a:lstStyle/>
          <a:p>
            <a:pPr algn="ctr" indent="0" marL="0">
              <a:buNone/>
            </a:pPr>
            <a:r>
              <a:rPr lang="en-US" sz="1000" dirty="0">
                <a:solidFill>
                  <a:srgbClr val="C8811F"/>
                </a:solidFill>
                <a:latin typeface="Calibri" pitchFamily="34" charset="0"/>
                <a:ea typeface="Calibri" pitchFamily="34" charset="-122"/>
                <a:cs typeface="Calibri" pitchFamily="34" charset="-120"/>
              </a:rPr>
              <a:t>機器◎/測定△</a:t>
            </a:r>
            <a:endParaRPr lang="en-US" sz="1000" dirty="0"/>
          </a:p>
          <a:p>
            <a:pPr algn="ctr" indent="0" marL="0">
              <a:buNone/>
            </a:pPr>
            <a:r>
              <a:rPr lang="en-US" sz="1000" dirty="0">
                <a:solidFill>
                  <a:srgbClr val="C8811F"/>
                </a:solidFill>
                <a:latin typeface="Calibri" pitchFamily="34" charset="0"/>
                <a:ea typeface="Calibri" pitchFamily="34" charset="-122"/>
                <a:cs typeface="Calibri" pitchFamily="34" charset="-120"/>
              </a:rPr>
              <a:t>再測定を提案</a:t>
            </a:r>
            <a:endParaRPr lang="en-US" sz="1000" dirty="0"/>
          </a:p>
        </p:txBody>
      </p:sp>
      <p:sp>
        <p:nvSpPr>
          <p:cNvPr id="15" name="Text 13"/>
          <p:cNvSpPr/>
          <p:nvPr/>
        </p:nvSpPr>
        <p:spPr>
          <a:xfrm>
            <a:off x="1161288" y="3314700"/>
            <a:ext cx="1965960" cy="731520"/>
          </a:xfrm>
          <a:prstGeom prst="rect">
            <a:avLst/>
          </a:prstGeom>
          <a:noFill/>
          <a:ln/>
        </p:spPr>
        <p:txBody>
          <a:bodyPr wrap="square" rtlCol="0" anchor="ctr"/>
          <a:lstStyle/>
          <a:p>
            <a:pPr algn="ctr" indent="0" marL="0">
              <a:buNone/>
            </a:pPr>
            <a:r>
              <a:rPr lang="en-US" sz="1000" dirty="0">
                <a:solidFill>
                  <a:srgbClr val="CE544C"/>
                </a:solidFill>
                <a:latin typeface="Calibri" pitchFamily="34" charset="0"/>
                <a:ea typeface="Calibri" pitchFamily="34" charset="-122"/>
                <a:cs typeface="Calibri" pitchFamily="34" charset="-120"/>
              </a:rPr>
              <a:t>機器×</a:t>
            </a:r>
            <a:endParaRPr lang="en-US" sz="1000" dirty="0"/>
          </a:p>
          <a:p>
            <a:pPr algn="ctr" indent="0" marL="0">
              <a:buNone/>
            </a:pPr>
            <a:r>
              <a:rPr lang="en-US" sz="1000" dirty="0">
                <a:solidFill>
                  <a:srgbClr val="CE544C"/>
                </a:solidFill>
                <a:latin typeface="Calibri" pitchFamily="34" charset="0"/>
                <a:ea typeface="Calibri" pitchFamily="34" charset="-122"/>
                <a:cs typeface="Calibri" pitchFamily="34" charset="-120"/>
              </a:rPr>
              <a:t>参考値・点検</a:t>
            </a:r>
            <a:endParaRPr lang="en-US" sz="1000" dirty="0"/>
          </a:p>
        </p:txBody>
      </p:sp>
      <p:sp>
        <p:nvSpPr>
          <p:cNvPr id="16" name="Text 14"/>
          <p:cNvSpPr/>
          <p:nvPr/>
        </p:nvSpPr>
        <p:spPr>
          <a:xfrm>
            <a:off x="768096" y="3977640"/>
            <a:ext cx="4846320" cy="320040"/>
          </a:xfrm>
          <a:prstGeom prst="rect">
            <a:avLst/>
          </a:prstGeom>
          <a:noFill/>
          <a:ln/>
        </p:spPr>
        <p:txBody>
          <a:bodyPr wrap="square" rtlCol="0" anchor="t"/>
          <a:lstStyle/>
          <a:p>
            <a:pPr indent="0" marL="0">
              <a:buNone/>
            </a:pPr>
            <a:r>
              <a:rPr lang="en-US" sz="1050" i="1" dirty="0">
                <a:solidFill>
                  <a:srgbClr val="5B6763"/>
                </a:solidFill>
                <a:latin typeface="Calibri" pitchFamily="34" charset="0"/>
                <a:ea typeface="Calibri" pitchFamily="34" charset="-122"/>
                <a:cs typeface="Calibri" pitchFamily="34" charset="-120"/>
              </a:rPr>
              <a:t>“測定は下手だが機器は正常” と “機器がおかしい” を区別できる</a:t>
            </a:r>
            <a:endParaRPr lang="en-US" sz="1050" dirty="0"/>
          </a:p>
        </p:txBody>
      </p:sp>
      <p:sp>
        <p:nvSpPr>
          <p:cNvPr id="17" name="Shape 15"/>
          <p:cNvSpPr/>
          <p:nvPr/>
        </p:nvSpPr>
        <p:spPr>
          <a:xfrm>
            <a:off x="5989320" y="1572768"/>
            <a:ext cx="5623560" cy="2286000"/>
          </a:xfrm>
          <a:prstGeom prst="roundRect">
            <a:avLst>
              <a:gd name="adj" fmla="val 3600"/>
            </a:avLst>
          </a:prstGeom>
          <a:solidFill>
            <a:srgbClr val="FFFFFF"/>
          </a:solidFill>
          <a:ln w="12700">
            <a:solidFill>
              <a:srgbClr val="DADFDC"/>
            </a:solidFill>
            <a:prstDash val="solid"/>
          </a:ln>
        </p:spPr>
      </p:sp>
      <p:sp>
        <p:nvSpPr>
          <p:cNvPr id="18" name="Text 16"/>
          <p:cNvSpPr/>
          <p:nvPr/>
        </p:nvSpPr>
        <p:spPr>
          <a:xfrm>
            <a:off x="6172200" y="1673352"/>
            <a:ext cx="5303520" cy="274320"/>
          </a:xfrm>
          <a:prstGeom prst="rect">
            <a:avLst/>
          </a:prstGeom>
          <a:noFill/>
          <a:ln/>
        </p:spPr>
        <p:txBody>
          <a:bodyPr wrap="square" rtlCol="0" anchor="ctr"/>
          <a:lstStyle/>
          <a:p>
            <a:pPr indent="0" marL="0">
              <a:buNone/>
            </a:pPr>
            <a:r>
              <a:rPr lang="en-US" sz="1200" b="1" dirty="0">
                <a:solidFill>
                  <a:srgbClr val="12766B"/>
                </a:solidFill>
                <a:latin typeface="Calibri" pitchFamily="34" charset="0"/>
                <a:ea typeface="Calibri" pitchFamily="34" charset="-122"/>
                <a:cs typeface="Calibri" pitchFamily="34" charset="-120"/>
              </a:rPr>
              <a:t>Q：品質スコア（減点方式・開始100点）</a:t>
            </a:r>
            <a:endParaRPr lang="en-US" sz="1200" dirty="0"/>
          </a:p>
        </p:txBody>
      </p:sp>
      <p:sp>
        <p:nvSpPr>
          <p:cNvPr id="19" name="Text 17"/>
          <p:cNvSpPr/>
          <p:nvPr/>
        </p:nvSpPr>
        <p:spPr>
          <a:xfrm>
            <a:off x="6172200" y="2011680"/>
            <a:ext cx="4389120" cy="274320"/>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RH裏付けなし（ΔRH&lt;3%）</a:t>
            </a:r>
            <a:endParaRPr lang="en-US" sz="1150" dirty="0"/>
          </a:p>
        </p:txBody>
      </p:sp>
      <p:sp>
        <p:nvSpPr>
          <p:cNvPr id="20" name="Text 18"/>
          <p:cNvSpPr/>
          <p:nvPr/>
        </p:nvSpPr>
        <p:spPr>
          <a:xfrm>
            <a:off x="10515600" y="2011680"/>
            <a:ext cx="914400" cy="274320"/>
          </a:xfrm>
          <a:prstGeom prst="rect">
            <a:avLst/>
          </a:prstGeom>
          <a:noFill/>
          <a:ln/>
        </p:spPr>
        <p:txBody>
          <a:bodyPr wrap="square" rtlCol="0" anchor="ctr"/>
          <a:lstStyle/>
          <a:p>
            <a:pPr algn="r" indent="0" marL="0">
              <a:buNone/>
            </a:pPr>
            <a:r>
              <a:rPr lang="en-US" sz="1150" b="1" dirty="0">
                <a:solidFill>
                  <a:srgbClr val="CE544C"/>
                </a:solidFill>
                <a:latin typeface="Calibri" pitchFamily="34" charset="0"/>
                <a:ea typeface="Calibri" pitchFamily="34" charset="-122"/>
                <a:cs typeface="Calibri" pitchFamily="34" charset="-120"/>
              </a:rPr>
              <a:t>−20</a:t>
            </a:r>
            <a:endParaRPr lang="en-US" sz="1150" dirty="0"/>
          </a:p>
        </p:txBody>
      </p:sp>
      <p:sp>
        <p:nvSpPr>
          <p:cNvPr id="21" name="Text 19"/>
          <p:cNvSpPr/>
          <p:nvPr/>
        </p:nvSpPr>
        <p:spPr>
          <a:xfrm>
            <a:off x="6172200" y="2359152"/>
            <a:ext cx="4389120" cy="274320"/>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短すぎる呼気（&lt;10s）</a:t>
            </a:r>
            <a:endParaRPr lang="en-US" sz="1150" dirty="0"/>
          </a:p>
        </p:txBody>
      </p:sp>
      <p:sp>
        <p:nvSpPr>
          <p:cNvPr id="22" name="Text 20"/>
          <p:cNvSpPr/>
          <p:nvPr/>
        </p:nvSpPr>
        <p:spPr>
          <a:xfrm>
            <a:off x="10515600" y="2359152"/>
            <a:ext cx="914400" cy="274320"/>
          </a:xfrm>
          <a:prstGeom prst="rect">
            <a:avLst/>
          </a:prstGeom>
          <a:noFill/>
          <a:ln/>
        </p:spPr>
        <p:txBody>
          <a:bodyPr wrap="square" rtlCol="0" anchor="ctr"/>
          <a:lstStyle/>
          <a:p>
            <a:pPr algn="r" indent="0" marL="0">
              <a:buNone/>
            </a:pPr>
            <a:r>
              <a:rPr lang="en-US" sz="1150" b="1" dirty="0">
                <a:solidFill>
                  <a:srgbClr val="CE544C"/>
                </a:solidFill>
                <a:latin typeface="Calibri" pitchFamily="34" charset="0"/>
                <a:ea typeface="Calibri" pitchFamily="34" charset="-122"/>
                <a:cs typeface="Calibri" pitchFamily="34" charset="-120"/>
              </a:rPr>
              <a:t>−20</a:t>
            </a:r>
            <a:endParaRPr lang="en-US" sz="1150" dirty="0"/>
          </a:p>
        </p:txBody>
      </p:sp>
      <p:sp>
        <p:nvSpPr>
          <p:cNvPr id="23" name="Text 21"/>
          <p:cNvSpPr/>
          <p:nvPr/>
        </p:nvSpPr>
        <p:spPr>
          <a:xfrm>
            <a:off x="6172200" y="2706624"/>
            <a:ext cx="4389120" cy="274320"/>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ウォームアップ未了</a:t>
            </a:r>
            <a:endParaRPr lang="en-US" sz="1150" dirty="0"/>
          </a:p>
        </p:txBody>
      </p:sp>
      <p:sp>
        <p:nvSpPr>
          <p:cNvPr id="24" name="Text 22"/>
          <p:cNvSpPr/>
          <p:nvPr/>
        </p:nvSpPr>
        <p:spPr>
          <a:xfrm>
            <a:off x="10515600" y="2706624"/>
            <a:ext cx="914400" cy="274320"/>
          </a:xfrm>
          <a:prstGeom prst="rect">
            <a:avLst/>
          </a:prstGeom>
          <a:noFill/>
          <a:ln/>
        </p:spPr>
        <p:txBody>
          <a:bodyPr wrap="square" rtlCol="0" anchor="ctr"/>
          <a:lstStyle/>
          <a:p>
            <a:pPr algn="r" indent="0" marL="0">
              <a:buNone/>
            </a:pPr>
            <a:r>
              <a:rPr lang="en-US" sz="1150" b="1" dirty="0">
                <a:solidFill>
                  <a:srgbClr val="CE544C"/>
                </a:solidFill>
                <a:latin typeface="Calibri" pitchFamily="34" charset="0"/>
                <a:ea typeface="Calibri" pitchFamily="34" charset="-122"/>
                <a:cs typeface="Calibri" pitchFamily="34" charset="-120"/>
              </a:rPr>
              <a:t>−25</a:t>
            </a:r>
            <a:endParaRPr lang="en-US" sz="1150" dirty="0"/>
          </a:p>
        </p:txBody>
      </p:sp>
      <p:sp>
        <p:nvSpPr>
          <p:cNvPr id="25" name="Text 23"/>
          <p:cNvSpPr/>
          <p:nvPr/>
        </p:nvSpPr>
        <p:spPr>
          <a:xfrm>
            <a:off x="6172200" y="3054096"/>
            <a:ext cx="4389120" cy="274320"/>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外れ値率&gt;5%</a:t>
            </a:r>
            <a:endParaRPr lang="en-US" sz="1150" dirty="0"/>
          </a:p>
        </p:txBody>
      </p:sp>
      <p:sp>
        <p:nvSpPr>
          <p:cNvPr id="26" name="Text 24"/>
          <p:cNvSpPr/>
          <p:nvPr/>
        </p:nvSpPr>
        <p:spPr>
          <a:xfrm>
            <a:off x="10515600" y="3054096"/>
            <a:ext cx="914400" cy="274320"/>
          </a:xfrm>
          <a:prstGeom prst="rect">
            <a:avLst/>
          </a:prstGeom>
          <a:noFill/>
          <a:ln/>
        </p:spPr>
        <p:txBody>
          <a:bodyPr wrap="square" rtlCol="0" anchor="ctr"/>
          <a:lstStyle/>
          <a:p>
            <a:pPr algn="r" indent="0" marL="0">
              <a:buNone/>
            </a:pPr>
            <a:r>
              <a:rPr lang="en-US" sz="1150" b="1" dirty="0">
                <a:solidFill>
                  <a:srgbClr val="CE544C"/>
                </a:solidFill>
                <a:latin typeface="Calibri" pitchFamily="34" charset="0"/>
                <a:ea typeface="Calibri" pitchFamily="34" charset="-122"/>
                <a:cs typeface="Calibri" pitchFamily="34" charset="-120"/>
              </a:rPr>
              <a:t>−最大30</a:t>
            </a:r>
            <a:endParaRPr lang="en-US" sz="1150" dirty="0"/>
          </a:p>
        </p:txBody>
      </p:sp>
      <p:sp>
        <p:nvSpPr>
          <p:cNvPr id="27" name="Text 25"/>
          <p:cNvSpPr/>
          <p:nvPr/>
        </p:nvSpPr>
        <p:spPr>
          <a:xfrm>
            <a:off x="6172200" y="3401568"/>
            <a:ext cx="4389120" cy="274320"/>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窓上限で打切り</a:t>
            </a:r>
            <a:endParaRPr lang="en-US" sz="1150" dirty="0"/>
          </a:p>
        </p:txBody>
      </p:sp>
      <p:sp>
        <p:nvSpPr>
          <p:cNvPr id="28" name="Text 26"/>
          <p:cNvSpPr/>
          <p:nvPr/>
        </p:nvSpPr>
        <p:spPr>
          <a:xfrm>
            <a:off x="10515600" y="3401568"/>
            <a:ext cx="914400" cy="274320"/>
          </a:xfrm>
          <a:prstGeom prst="rect">
            <a:avLst/>
          </a:prstGeom>
          <a:noFill/>
          <a:ln/>
        </p:spPr>
        <p:txBody>
          <a:bodyPr wrap="square" rtlCol="0" anchor="ctr"/>
          <a:lstStyle/>
          <a:p>
            <a:pPr algn="r" indent="0" marL="0">
              <a:buNone/>
            </a:pPr>
            <a:r>
              <a:rPr lang="en-US" sz="1150" b="1" dirty="0">
                <a:solidFill>
                  <a:srgbClr val="CE544C"/>
                </a:solidFill>
                <a:latin typeface="Calibri" pitchFamily="34" charset="0"/>
                <a:ea typeface="Calibri" pitchFamily="34" charset="-122"/>
                <a:cs typeface="Calibri" pitchFamily="34" charset="-120"/>
              </a:rPr>
              <a:t>−10</a:t>
            </a:r>
            <a:endParaRPr lang="en-US" sz="1150" dirty="0"/>
          </a:p>
        </p:txBody>
      </p:sp>
      <p:sp>
        <p:nvSpPr>
          <p:cNvPr id="29" name="Shape 27"/>
          <p:cNvSpPr/>
          <p:nvPr/>
        </p:nvSpPr>
        <p:spPr>
          <a:xfrm>
            <a:off x="5989320" y="3977640"/>
            <a:ext cx="5623560" cy="2286000"/>
          </a:xfrm>
          <a:prstGeom prst="roundRect">
            <a:avLst>
              <a:gd name="adj" fmla="val 3600"/>
            </a:avLst>
          </a:prstGeom>
          <a:solidFill>
            <a:srgbClr val="FFFFFF"/>
          </a:solidFill>
          <a:ln w="12700">
            <a:solidFill>
              <a:srgbClr val="DADFDC"/>
            </a:solidFill>
            <a:prstDash val="solid"/>
          </a:ln>
        </p:spPr>
      </p:sp>
      <p:sp>
        <p:nvSpPr>
          <p:cNvPr id="30" name="Text 28"/>
          <p:cNvSpPr/>
          <p:nvPr/>
        </p:nvSpPr>
        <p:spPr>
          <a:xfrm>
            <a:off x="6172200" y="4078224"/>
            <a:ext cx="5303520" cy="274320"/>
          </a:xfrm>
          <a:prstGeom prst="rect">
            <a:avLst/>
          </a:prstGeom>
          <a:noFill/>
          <a:ln/>
        </p:spPr>
        <p:txBody>
          <a:bodyPr wrap="square" rtlCol="0" anchor="ctr"/>
          <a:lstStyle/>
          <a:p>
            <a:pPr indent="0" marL="0">
              <a:buNone/>
            </a:pPr>
            <a:r>
              <a:rPr lang="en-US" sz="1200" b="1" dirty="0">
                <a:solidFill>
                  <a:srgbClr val="12766B"/>
                </a:solidFill>
                <a:latin typeface="Calibri" pitchFamily="34" charset="0"/>
                <a:ea typeface="Calibri" pitchFamily="34" charset="-122"/>
                <a:cs typeface="Calibri" pitchFamily="34" charset="-120"/>
              </a:rPr>
              <a:t>C：信頼度スコア（計測器の健全性）</a:t>
            </a:r>
            <a:endParaRPr lang="en-US" sz="1200" dirty="0"/>
          </a:p>
        </p:txBody>
      </p:sp>
      <p:sp>
        <p:nvSpPr>
          <p:cNvPr id="31" name="Text 29"/>
          <p:cNvSpPr/>
          <p:nvPr/>
        </p:nvSpPr>
        <p:spPr>
          <a:xfrm>
            <a:off x="6172200" y="4416552"/>
            <a:ext cx="4389120" cy="274320"/>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固着検出（STUCK）</a:t>
            </a:r>
            <a:endParaRPr lang="en-US" sz="1150" dirty="0"/>
          </a:p>
        </p:txBody>
      </p:sp>
      <p:sp>
        <p:nvSpPr>
          <p:cNvPr id="32" name="Text 30"/>
          <p:cNvSpPr/>
          <p:nvPr/>
        </p:nvSpPr>
        <p:spPr>
          <a:xfrm>
            <a:off x="10515600" y="4416552"/>
            <a:ext cx="914400" cy="274320"/>
          </a:xfrm>
          <a:prstGeom prst="rect">
            <a:avLst/>
          </a:prstGeom>
          <a:noFill/>
          <a:ln/>
        </p:spPr>
        <p:txBody>
          <a:bodyPr wrap="square" rtlCol="0" anchor="ctr"/>
          <a:lstStyle/>
          <a:p>
            <a:pPr algn="r" indent="0" marL="0">
              <a:buNone/>
            </a:pPr>
            <a:r>
              <a:rPr lang="en-US" sz="1150" b="1" dirty="0">
                <a:solidFill>
                  <a:srgbClr val="CE544C"/>
                </a:solidFill>
                <a:latin typeface="Calibri" pitchFamily="34" charset="0"/>
                <a:ea typeface="Calibri" pitchFamily="34" charset="-122"/>
                <a:cs typeface="Calibri" pitchFamily="34" charset="-120"/>
              </a:rPr>
              <a:t>−40</a:t>
            </a:r>
            <a:endParaRPr lang="en-US" sz="1150" dirty="0"/>
          </a:p>
        </p:txBody>
      </p:sp>
      <p:sp>
        <p:nvSpPr>
          <p:cNvPr id="33" name="Text 31"/>
          <p:cNvSpPr/>
          <p:nvPr/>
        </p:nvSpPr>
        <p:spPr>
          <a:xfrm>
            <a:off x="6172200" y="4764024"/>
            <a:ext cx="4389120" cy="274320"/>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ベースライン異常（&gt;5000ppb）</a:t>
            </a:r>
            <a:endParaRPr lang="en-US" sz="1150" dirty="0"/>
          </a:p>
        </p:txBody>
      </p:sp>
      <p:sp>
        <p:nvSpPr>
          <p:cNvPr id="34" name="Text 32"/>
          <p:cNvSpPr/>
          <p:nvPr/>
        </p:nvSpPr>
        <p:spPr>
          <a:xfrm>
            <a:off x="10515600" y="4764024"/>
            <a:ext cx="914400" cy="274320"/>
          </a:xfrm>
          <a:prstGeom prst="rect">
            <a:avLst/>
          </a:prstGeom>
          <a:noFill/>
          <a:ln/>
        </p:spPr>
        <p:txBody>
          <a:bodyPr wrap="square" rtlCol="0" anchor="ctr"/>
          <a:lstStyle/>
          <a:p>
            <a:pPr algn="r" indent="0" marL="0">
              <a:buNone/>
            </a:pPr>
            <a:r>
              <a:rPr lang="en-US" sz="1150" b="1" dirty="0">
                <a:solidFill>
                  <a:srgbClr val="CE544C"/>
                </a:solidFill>
                <a:latin typeface="Calibri" pitchFamily="34" charset="0"/>
                <a:ea typeface="Calibri" pitchFamily="34" charset="-122"/>
                <a:cs typeface="Calibri" pitchFamily="34" charset="-120"/>
              </a:rPr>
              <a:t>−20</a:t>
            </a:r>
            <a:endParaRPr lang="en-US" sz="1150" dirty="0"/>
          </a:p>
        </p:txBody>
      </p:sp>
      <p:sp>
        <p:nvSpPr>
          <p:cNvPr id="35" name="Text 33"/>
          <p:cNvSpPr/>
          <p:nvPr/>
        </p:nvSpPr>
        <p:spPr>
          <a:xfrm>
            <a:off x="6172200" y="5111496"/>
            <a:ext cx="4389120" cy="274320"/>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パース失敗率&gt;2%</a:t>
            </a:r>
            <a:endParaRPr lang="en-US" sz="1150" dirty="0"/>
          </a:p>
        </p:txBody>
      </p:sp>
      <p:sp>
        <p:nvSpPr>
          <p:cNvPr id="36" name="Text 34"/>
          <p:cNvSpPr/>
          <p:nvPr/>
        </p:nvSpPr>
        <p:spPr>
          <a:xfrm>
            <a:off x="10515600" y="5111496"/>
            <a:ext cx="914400" cy="274320"/>
          </a:xfrm>
          <a:prstGeom prst="rect">
            <a:avLst/>
          </a:prstGeom>
          <a:noFill/>
          <a:ln/>
        </p:spPr>
        <p:txBody>
          <a:bodyPr wrap="square" rtlCol="0" anchor="ctr"/>
          <a:lstStyle/>
          <a:p>
            <a:pPr algn="r" indent="0" marL="0">
              <a:buNone/>
            </a:pPr>
            <a:r>
              <a:rPr lang="en-US" sz="1150" b="1" dirty="0">
                <a:solidFill>
                  <a:srgbClr val="CE544C"/>
                </a:solidFill>
                <a:latin typeface="Calibri" pitchFamily="34" charset="0"/>
                <a:ea typeface="Calibri" pitchFamily="34" charset="-122"/>
                <a:cs typeface="Calibri" pitchFamily="34" charset="-120"/>
              </a:rPr>
              <a:t>−20</a:t>
            </a:r>
            <a:endParaRPr lang="en-US" sz="1150" dirty="0"/>
          </a:p>
        </p:txBody>
      </p:sp>
      <p:sp>
        <p:nvSpPr>
          <p:cNvPr id="37" name="Text 35"/>
          <p:cNvSpPr/>
          <p:nvPr/>
        </p:nvSpPr>
        <p:spPr>
          <a:xfrm>
            <a:off x="6172200" y="5458968"/>
            <a:ext cx="4389120" cy="274320"/>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センサ再試行</a:t>
            </a:r>
            <a:endParaRPr lang="en-US" sz="1150" dirty="0"/>
          </a:p>
        </p:txBody>
      </p:sp>
      <p:sp>
        <p:nvSpPr>
          <p:cNvPr id="38" name="Text 36"/>
          <p:cNvSpPr/>
          <p:nvPr/>
        </p:nvSpPr>
        <p:spPr>
          <a:xfrm>
            <a:off x="10515600" y="5458968"/>
            <a:ext cx="914400" cy="274320"/>
          </a:xfrm>
          <a:prstGeom prst="rect">
            <a:avLst/>
          </a:prstGeom>
          <a:noFill/>
          <a:ln/>
        </p:spPr>
        <p:txBody>
          <a:bodyPr wrap="square" rtlCol="0" anchor="ctr"/>
          <a:lstStyle/>
          <a:p>
            <a:pPr algn="r" indent="0" marL="0">
              <a:buNone/>
            </a:pPr>
            <a:r>
              <a:rPr lang="en-US" sz="1150" b="1" dirty="0">
                <a:solidFill>
                  <a:srgbClr val="CE544C"/>
                </a:solidFill>
                <a:latin typeface="Calibri" pitchFamily="34" charset="0"/>
                <a:ea typeface="Calibri" pitchFamily="34" charset="-122"/>
                <a:cs typeface="Calibri" pitchFamily="34" charset="-120"/>
              </a:rPr>
              <a:t>−最大30</a:t>
            </a:r>
            <a:endParaRPr lang="en-US" sz="1150" dirty="0"/>
          </a:p>
        </p:txBody>
      </p:sp>
      <p:sp>
        <p:nvSpPr>
          <p:cNvPr id="39" name="Text 37"/>
          <p:cNvSpPr/>
          <p:nvPr/>
        </p:nvSpPr>
        <p:spPr>
          <a:xfrm>
            <a:off x="6172200" y="5806440"/>
            <a:ext cx="4389120" cy="274320"/>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温度が補償範囲外</a:t>
            </a:r>
            <a:endParaRPr lang="en-US" sz="1150" dirty="0"/>
          </a:p>
        </p:txBody>
      </p:sp>
      <p:sp>
        <p:nvSpPr>
          <p:cNvPr id="40" name="Text 38"/>
          <p:cNvSpPr/>
          <p:nvPr/>
        </p:nvSpPr>
        <p:spPr>
          <a:xfrm>
            <a:off x="10515600" y="5806440"/>
            <a:ext cx="914400" cy="274320"/>
          </a:xfrm>
          <a:prstGeom prst="rect">
            <a:avLst/>
          </a:prstGeom>
          <a:noFill/>
          <a:ln/>
        </p:spPr>
        <p:txBody>
          <a:bodyPr wrap="square" rtlCol="0" anchor="ctr"/>
          <a:lstStyle/>
          <a:p>
            <a:pPr algn="r" indent="0" marL="0">
              <a:buNone/>
            </a:pPr>
            <a:r>
              <a:rPr lang="en-US" sz="1150" b="1" dirty="0">
                <a:solidFill>
                  <a:srgbClr val="CE544C"/>
                </a:solidFill>
                <a:latin typeface="Calibri" pitchFamily="34" charset="0"/>
                <a:ea typeface="Calibri" pitchFamily="34" charset="-122"/>
                <a:cs typeface="Calibri" pitchFamily="34" charset="-120"/>
              </a:rPr>
              <a:t>−15</a:t>
            </a:r>
            <a:endParaRPr lang="en-US" sz="1150" dirty="0"/>
          </a:p>
        </p:txBody>
      </p:sp>
      <p:sp>
        <p:nvSpPr>
          <p:cNvPr id="41" name="Shape 39"/>
          <p:cNvSpPr/>
          <p:nvPr/>
        </p:nvSpPr>
        <p:spPr>
          <a:xfrm>
            <a:off x="566928" y="4480560"/>
            <a:ext cx="5212080" cy="1783080"/>
          </a:xfrm>
          <a:prstGeom prst="roundRect">
            <a:avLst>
              <a:gd name="adj" fmla="val 4615"/>
            </a:avLst>
          </a:prstGeom>
          <a:solidFill>
            <a:srgbClr val="D9EBE7"/>
          </a:solidFill>
          <a:ln/>
        </p:spPr>
      </p:sp>
      <p:sp>
        <p:nvSpPr>
          <p:cNvPr id="42" name="Text 40"/>
          <p:cNvSpPr/>
          <p:nvPr/>
        </p:nvSpPr>
        <p:spPr>
          <a:xfrm>
            <a:off x="768096" y="4572000"/>
            <a:ext cx="4572000" cy="274320"/>
          </a:xfrm>
          <a:prstGeom prst="rect">
            <a:avLst/>
          </a:prstGeom>
          <a:noFill/>
          <a:ln/>
        </p:spPr>
        <p:txBody>
          <a:bodyPr wrap="square" rtlCol="0" anchor="ctr"/>
          <a:lstStyle/>
          <a:p>
            <a:pPr indent="0" marL="0">
              <a:buNone/>
            </a:pPr>
            <a:r>
              <a:rPr lang="en-US" sz="1200" b="1" dirty="0">
                <a:solidFill>
                  <a:srgbClr val="12766B"/>
                </a:solidFill>
                <a:latin typeface="Calibri" pitchFamily="34" charset="0"/>
                <a:ea typeface="Calibri" pitchFamily="34" charset="-122"/>
                <a:cs typeface="Calibri" pitchFamily="34" charset="-120"/>
              </a:rPr>
              <a:t>研究としての価値</a:t>
            </a:r>
            <a:endParaRPr lang="en-US" sz="1200" dirty="0"/>
          </a:p>
        </p:txBody>
      </p:sp>
      <p:sp>
        <p:nvSpPr>
          <p:cNvPr id="43" name="Text 41"/>
          <p:cNvSpPr/>
          <p:nvPr/>
        </p:nvSpPr>
        <p:spPr>
          <a:xfrm>
            <a:off x="768096" y="4892040"/>
            <a:ext cx="4937760" cy="1325880"/>
          </a:xfrm>
          <a:prstGeom prst="rect">
            <a:avLst/>
          </a:prstGeom>
          <a:noFill/>
          <a:ln/>
        </p:spPr>
        <p:txBody>
          <a:bodyPr wrap="square" rtlCol="0" anchor="t"/>
          <a:lstStyle/>
          <a:p>
            <a:pPr marL="177800" indent="-177800">
              <a:spcAft>
                <a:spcPts val="500"/>
              </a:spcAft>
              <a:buSzPct val="100000"/>
              <a:buChar char="•"/>
            </a:pPr>
            <a:r>
              <a:rPr lang="en-US" sz="1150" dirty="0">
                <a:solidFill>
                  <a:srgbClr val="1C1C1E"/>
                </a:solidFill>
                <a:latin typeface="Calibri" pitchFamily="34" charset="0"/>
                <a:ea typeface="Calibri" pitchFamily="34" charset="-122"/>
                <a:cs typeface="Calibri" pitchFamily="34" charset="-120"/>
              </a:rPr>
              <a:t>計測の「不確かさの内訳」をエッジで構造化</a:t>
            </a:r>
            <a:endParaRPr lang="en-US" sz="1150" dirty="0"/>
          </a:p>
          <a:p>
            <a:pPr marL="177800" indent="-177800">
              <a:spcAft>
                <a:spcPts val="500"/>
              </a:spcAft>
              <a:buSzPct val="100000"/>
              <a:buChar char="•"/>
            </a:pPr>
            <a:r>
              <a:rPr lang="en-US" sz="1150" dirty="0">
                <a:solidFill>
                  <a:srgbClr val="1C1C1E"/>
                </a:solidFill>
                <a:latin typeface="Calibri" pitchFamily="34" charset="0"/>
                <a:ea typeface="Calibri" pitchFamily="34" charset="-122"/>
                <a:cs typeface="Calibri" pitchFamily="34" charset="-120"/>
              </a:rPr>
              <a:t>減点方式＝各項目の寄与が説明可能（卒論の表に）</a:t>
            </a:r>
            <a:endParaRPr lang="en-US" sz="1150" dirty="0"/>
          </a:p>
          <a:p>
            <a:pPr marL="177800" indent="-177800">
              <a:spcAft>
                <a:spcPts val="500"/>
              </a:spcAft>
              <a:buSzPct val="100000"/>
              <a:buChar char="•"/>
            </a:pPr>
            <a:r>
              <a:rPr lang="en-US" sz="1150" dirty="0">
                <a:solidFill>
                  <a:srgbClr val="1C1C1E"/>
                </a:solidFill>
                <a:latin typeface="Calibri" pitchFamily="34" charset="0"/>
                <a:ea typeface="Calibri" pitchFamily="34" charset="-122"/>
                <a:cs typeface="Calibri" pitchFamily="34" charset="-120"/>
              </a:rPr>
              <a:t>低品質時のみ自動再測定（1回）→ それでも低品質なら"提案"止まり</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STATE MACHINE V2</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呼気セッションの状態遷移（正常＋異常系）</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10</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828800"/>
            <a:ext cx="1426464" cy="777240"/>
          </a:xfrm>
          <a:prstGeom prst="roundRect">
            <a:avLst>
              <a:gd name="adj" fmla="val 10588"/>
            </a:avLst>
          </a:prstGeom>
          <a:solidFill>
            <a:srgbClr val="FFFFFF"/>
          </a:solidFill>
          <a:ln w="12700">
            <a:solidFill>
              <a:srgbClr val="4FB8A5"/>
            </a:solidFill>
            <a:prstDash val="solid"/>
          </a:ln>
        </p:spPr>
      </p:sp>
      <p:sp>
        <p:nvSpPr>
          <p:cNvPr id="7" name="Text 5"/>
          <p:cNvSpPr/>
          <p:nvPr/>
        </p:nvSpPr>
        <p:spPr>
          <a:xfrm>
            <a:off x="566928" y="1828800"/>
            <a:ext cx="1426464" cy="777240"/>
          </a:xfrm>
          <a:prstGeom prst="rect">
            <a:avLst/>
          </a:prstGeom>
          <a:noFill/>
          <a:ln/>
        </p:spPr>
        <p:txBody>
          <a:bodyPr wrap="square" rtlCol="0" anchor="ctr"/>
          <a:lstStyle/>
          <a:p>
            <a:pPr algn="ctr" indent="0" marL="0">
              <a:buNone/>
            </a:pPr>
            <a:r>
              <a:rPr lang="en-US" sz="1250" b="1" dirty="0">
                <a:solidFill>
                  <a:srgbClr val="12766B"/>
                </a:solidFill>
                <a:latin typeface="Calibri" pitchFamily="34" charset="0"/>
                <a:ea typeface="Calibri" pitchFamily="34" charset="-122"/>
                <a:cs typeface="Calibri" pitchFamily="34" charset="-120"/>
              </a:rPr>
              <a:t>IDLE</a:t>
            </a:r>
            <a:endParaRPr lang="en-US" sz="1250" dirty="0"/>
          </a:p>
        </p:txBody>
      </p:sp>
      <p:sp>
        <p:nvSpPr>
          <p:cNvPr id="8" name="Shape 6"/>
          <p:cNvSpPr/>
          <p:nvPr/>
        </p:nvSpPr>
        <p:spPr>
          <a:xfrm>
            <a:off x="2002536" y="2217420"/>
            <a:ext cx="146304" cy="0"/>
          </a:xfrm>
          <a:prstGeom prst="line">
            <a:avLst/>
          </a:prstGeom>
          <a:noFill/>
          <a:ln w="27940">
            <a:solidFill>
              <a:srgbClr val="12766B"/>
            </a:solidFill>
            <a:prstDash val="solid"/>
            <a:tailEnd type="triangle"/>
          </a:ln>
        </p:spPr>
      </p:sp>
      <p:sp>
        <p:nvSpPr>
          <p:cNvPr id="9" name="Shape 7"/>
          <p:cNvSpPr/>
          <p:nvPr/>
        </p:nvSpPr>
        <p:spPr>
          <a:xfrm>
            <a:off x="2157984" y="1828800"/>
            <a:ext cx="1426464" cy="777240"/>
          </a:xfrm>
          <a:prstGeom prst="roundRect">
            <a:avLst>
              <a:gd name="adj" fmla="val 10588"/>
            </a:avLst>
          </a:prstGeom>
          <a:solidFill>
            <a:srgbClr val="FFFFFF"/>
          </a:solidFill>
          <a:ln w="12700">
            <a:solidFill>
              <a:srgbClr val="4FB8A5"/>
            </a:solidFill>
            <a:prstDash val="solid"/>
          </a:ln>
        </p:spPr>
      </p:sp>
      <p:sp>
        <p:nvSpPr>
          <p:cNvPr id="10" name="Text 8"/>
          <p:cNvSpPr/>
          <p:nvPr/>
        </p:nvSpPr>
        <p:spPr>
          <a:xfrm>
            <a:off x="2157984" y="1828800"/>
            <a:ext cx="1426464" cy="777240"/>
          </a:xfrm>
          <a:prstGeom prst="rect">
            <a:avLst/>
          </a:prstGeom>
          <a:noFill/>
          <a:ln/>
        </p:spPr>
        <p:txBody>
          <a:bodyPr wrap="square" rtlCol="0" anchor="ctr"/>
          <a:lstStyle/>
          <a:p>
            <a:pPr algn="ctr" indent="0" marL="0">
              <a:buNone/>
            </a:pPr>
            <a:r>
              <a:rPr lang="en-US" sz="1250" b="1" dirty="0">
                <a:solidFill>
                  <a:srgbClr val="12766B"/>
                </a:solidFill>
                <a:latin typeface="Calibri" pitchFamily="34" charset="0"/>
                <a:ea typeface="Calibri" pitchFamily="34" charset="-122"/>
                <a:cs typeface="Calibri" pitchFamily="34" charset="-120"/>
              </a:rPr>
              <a:t>WARMUP</a:t>
            </a:r>
            <a:endParaRPr lang="en-US" sz="1250" dirty="0"/>
          </a:p>
        </p:txBody>
      </p:sp>
      <p:sp>
        <p:nvSpPr>
          <p:cNvPr id="11" name="Shape 9"/>
          <p:cNvSpPr/>
          <p:nvPr/>
        </p:nvSpPr>
        <p:spPr>
          <a:xfrm>
            <a:off x="3593592" y="2217420"/>
            <a:ext cx="146304" cy="0"/>
          </a:xfrm>
          <a:prstGeom prst="line">
            <a:avLst/>
          </a:prstGeom>
          <a:noFill/>
          <a:ln w="27940">
            <a:solidFill>
              <a:srgbClr val="12766B"/>
            </a:solidFill>
            <a:prstDash val="solid"/>
            <a:tailEnd type="triangle"/>
          </a:ln>
        </p:spPr>
      </p:sp>
      <p:sp>
        <p:nvSpPr>
          <p:cNvPr id="12" name="Shape 10"/>
          <p:cNvSpPr/>
          <p:nvPr/>
        </p:nvSpPr>
        <p:spPr>
          <a:xfrm>
            <a:off x="3749040" y="1828800"/>
            <a:ext cx="1426464" cy="777240"/>
          </a:xfrm>
          <a:prstGeom prst="roundRect">
            <a:avLst>
              <a:gd name="adj" fmla="val 10588"/>
            </a:avLst>
          </a:prstGeom>
          <a:solidFill>
            <a:srgbClr val="FFFFFF"/>
          </a:solidFill>
          <a:ln w="12700">
            <a:solidFill>
              <a:srgbClr val="4FB8A5"/>
            </a:solidFill>
            <a:prstDash val="solid"/>
          </a:ln>
        </p:spPr>
      </p:sp>
      <p:sp>
        <p:nvSpPr>
          <p:cNvPr id="13" name="Text 11"/>
          <p:cNvSpPr/>
          <p:nvPr/>
        </p:nvSpPr>
        <p:spPr>
          <a:xfrm>
            <a:off x="3749040" y="1828800"/>
            <a:ext cx="1426464" cy="777240"/>
          </a:xfrm>
          <a:prstGeom prst="rect">
            <a:avLst/>
          </a:prstGeom>
          <a:noFill/>
          <a:ln/>
        </p:spPr>
        <p:txBody>
          <a:bodyPr wrap="square" rtlCol="0" anchor="ctr"/>
          <a:lstStyle/>
          <a:p>
            <a:pPr algn="ctr" indent="0" marL="0">
              <a:buNone/>
            </a:pPr>
            <a:r>
              <a:rPr lang="en-US" sz="1250" b="1" dirty="0">
                <a:solidFill>
                  <a:srgbClr val="12766B"/>
                </a:solidFill>
                <a:latin typeface="Calibri" pitchFamily="34" charset="0"/>
                <a:ea typeface="Calibri" pitchFamily="34" charset="-122"/>
                <a:cs typeface="Calibri" pitchFamily="34" charset="-120"/>
              </a:rPr>
              <a:t>READY</a:t>
            </a:r>
            <a:endParaRPr lang="en-US" sz="1250" dirty="0"/>
          </a:p>
        </p:txBody>
      </p:sp>
      <p:sp>
        <p:nvSpPr>
          <p:cNvPr id="14" name="Shape 12"/>
          <p:cNvSpPr/>
          <p:nvPr/>
        </p:nvSpPr>
        <p:spPr>
          <a:xfrm>
            <a:off x="5184648" y="2217420"/>
            <a:ext cx="146304" cy="0"/>
          </a:xfrm>
          <a:prstGeom prst="line">
            <a:avLst/>
          </a:prstGeom>
          <a:noFill/>
          <a:ln w="27940">
            <a:solidFill>
              <a:srgbClr val="12766B"/>
            </a:solidFill>
            <a:prstDash val="solid"/>
            <a:tailEnd type="triangle"/>
          </a:ln>
        </p:spPr>
      </p:sp>
      <p:sp>
        <p:nvSpPr>
          <p:cNvPr id="15" name="Shape 13"/>
          <p:cNvSpPr/>
          <p:nvPr/>
        </p:nvSpPr>
        <p:spPr>
          <a:xfrm>
            <a:off x="5340096" y="1828800"/>
            <a:ext cx="1426464" cy="777240"/>
          </a:xfrm>
          <a:prstGeom prst="roundRect">
            <a:avLst>
              <a:gd name="adj" fmla="val 10588"/>
            </a:avLst>
          </a:prstGeom>
          <a:solidFill>
            <a:srgbClr val="12766B"/>
          </a:solidFill>
          <a:ln w="12700">
            <a:solidFill>
              <a:srgbClr val="4FB8A5"/>
            </a:solidFill>
            <a:prstDash val="solid"/>
          </a:ln>
        </p:spPr>
      </p:sp>
      <p:sp>
        <p:nvSpPr>
          <p:cNvPr id="16" name="Text 14"/>
          <p:cNvSpPr/>
          <p:nvPr/>
        </p:nvSpPr>
        <p:spPr>
          <a:xfrm>
            <a:off x="5340096" y="1828800"/>
            <a:ext cx="1426464" cy="7772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BREATH</a:t>
            </a:r>
            <a:endParaRPr lang="en-US" sz="1250" dirty="0"/>
          </a:p>
        </p:txBody>
      </p:sp>
      <p:sp>
        <p:nvSpPr>
          <p:cNvPr id="17" name="Shape 15"/>
          <p:cNvSpPr/>
          <p:nvPr/>
        </p:nvSpPr>
        <p:spPr>
          <a:xfrm>
            <a:off x="6775704" y="2217420"/>
            <a:ext cx="146304" cy="0"/>
          </a:xfrm>
          <a:prstGeom prst="line">
            <a:avLst/>
          </a:prstGeom>
          <a:noFill/>
          <a:ln w="27940">
            <a:solidFill>
              <a:srgbClr val="12766B"/>
            </a:solidFill>
            <a:prstDash val="solid"/>
            <a:tailEnd type="triangle"/>
          </a:ln>
        </p:spPr>
      </p:sp>
      <p:sp>
        <p:nvSpPr>
          <p:cNvPr id="18" name="Shape 16"/>
          <p:cNvSpPr/>
          <p:nvPr/>
        </p:nvSpPr>
        <p:spPr>
          <a:xfrm>
            <a:off x="6931152" y="1828800"/>
            <a:ext cx="1426464" cy="777240"/>
          </a:xfrm>
          <a:prstGeom prst="roundRect">
            <a:avLst>
              <a:gd name="adj" fmla="val 10588"/>
            </a:avLst>
          </a:prstGeom>
          <a:solidFill>
            <a:srgbClr val="FFFFFF"/>
          </a:solidFill>
          <a:ln w="12700">
            <a:solidFill>
              <a:srgbClr val="4FB8A5"/>
            </a:solidFill>
            <a:prstDash val="solid"/>
          </a:ln>
        </p:spPr>
      </p:sp>
      <p:sp>
        <p:nvSpPr>
          <p:cNvPr id="19" name="Text 17"/>
          <p:cNvSpPr/>
          <p:nvPr/>
        </p:nvSpPr>
        <p:spPr>
          <a:xfrm>
            <a:off x="6931152" y="1828800"/>
            <a:ext cx="1426464" cy="777240"/>
          </a:xfrm>
          <a:prstGeom prst="rect">
            <a:avLst/>
          </a:prstGeom>
          <a:noFill/>
          <a:ln/>
        </p:spPr>
        <p:txBody>
          <a:bodyPr wrap="square" rtlCol="0" anchor="ctr"/>
          <a:lstStyle/>
          <a:p>
            <a:pPr algn="ctr" indent="0" marL="0">
              <a:buNone/>
            </a:pPr>
            <a:r>
              <a:rPr lang="en-US" sz="1250" b="1" dirty="0">
                <a:solidFill>
                  <a:srgbClr val="12766B"/>
                </a:solidFill>
                <a:latin typeface="Calibri" pitchFamily="34" charset="0"/>
                <a:ea typeface="Calibri" pitchFamily="34" charset="-122"/>
                <a:cs typeface="Calibri" pitchFamily="34" charset="-120"/>
              </a:rPr>
              <a:t>ANALYZE</a:t>
            </a:r>
            <a:endParaRPr lang="en-US" sz="1250" dirty="0"/>
          </a:p>
        </p:txBody>
      </p:sp>
      <p:sp>
        <p:nvSpPr>
          <p:cNvPr id="20" name="Shape 18"/>
          <p:cNvSpPr/>
          <p:nvPr/>
        </p:nvSpPr>
        <p:spPr>
          <a:xfrm>
            <a:off x="8366760" y="2217420"/>
            <a:ext cx="146304" cy="0"/>
          </a:xfrm>
          <a:prstGeom prst="line">
            <a:avLst/>
          </a:prstGeom>
          <a:noFill/>
          <a:ln w="27940">
            <a:solidFill>
              <a:srgbClr val="12766B"/>
            </a:solidFill>
            <a:prstDash val="solid"/>
            <a:tailEnd type="triangle"/>
          </a:ln>
        </p:spPr>
      </p:sp>
      <p:sp>
        <p:nvSpPr>
          <p:cNvPr id="21" name="Shape 19"/>
          <p:cNvSpPr/>
          <p:nvPr/>
        </p:nvSpPr>
        <p:spPr>
          <a:xfrm>
            <a:off x="8522208" y="1828800"/>
            <a:ext cx="1426464" cy="777240"/>
          </a:xfrm>
          <a:prstGeom prst="roundRect">
            <a:avLst>
              <a:gd name="adj" fmla="val 10588"/>
            </a:avLst>
          </a:prstGeom>
          <a:solidFill>
            <a:srgbClr val="FFFFFF"/>
          </a:solidFill>
          <a:ln w="12700">
            <a:solidFill>
              <a:srgbClr val="4FB8A5"/>
            </a:solidFill>
            <a:prstDash val="solid"/>
          </a:ln>
        </p:spPr>
      </p:sp>
      <p:sp>
        <p:nvSpPr>
          <p:cNvPr id="22" name="Text 20"/>
          <p:cNvSpPr/>
          <p:nvPr/>
        </p:nvSpPr>
        <p:spPr>
          <a:xfrm>
            <a:off x="8522208" y="1828800"/>
            <a:ext cx="1426464" cy="777240"/>
          </a:xfrm>
          <a:prstGeom prst="rect">
            <a:avLst/>
          </a:prstGeom>
          <a:noFill/>
          <a:ln/>
        </p:spPr>
        <p:txBody>
          <a:bodyPr wrap="square" rtlCol="0" anchor="ctr"/>
          <a:lstStyle/>
          <a:p>
            <a:pPr algn="ctr" indent="0" marL="0">
              <a:buNone/>
            </a:pPr>
            <a:r>
              <a:rPr lang="en-US" sz="1250" b="1" dirty="0">
                <a:solidFill>
                  <a:srgbClr val="12766B"/>
                </a:solidFill>
                <a:latin typeface="Calibri" pitchFamily="34" charset="0"/>
                <a:ea typeface="Calibri" pitchFamily="34" charset="-122"/>
                <a:cs typeface="Calibri" pitchFamily="34" charset="-120"/>
              </a:rPr>
              <a:t>VALIDATE</a:t>
            </a:r>
            <a:endParaRPr lang="en-US" sz="1250" dirty="0"/>
          </a:p>
        </p:txBody>
      </p:sp>
      <p:sp>
        <p:nvSpPr>
          <p:cNvPr id="23" name="Shape 21"/>
          <p:cNvSpPr/>
          <p:nvPr/>
        </p:nvSpPr>
        <p:spPr>
          <a:xfrm>
            <a:off x="9957816" y="2217420"/>
            <a:ext cx="146304" cy="0"/>
          </a:xfrm>
          <a:prstGeom prst="line">
            <a:avLst/>
          </a:prstGeom>
          <a:noFill/>
          <a:ln w="27940">
            <a:solidFill>
              <a:srgbClr val="12766B"/>
            </a:solidFill>
            <a:prstDash val="solid"/>
            <a:tailEnd type="triangle"/>
          </a:ln>
        </p:spPr>
      </p:sp>
      <p:sp>
        <p:nvSpPr>
          <p:cNvPr id="24" name="Shape 22"/>
          <p:cNvSpPr/>
          <p:nvPr/>
        </p:nvSpPr>
        <p:spPr>
          <a:xfrm>
            <a:off x="10113264" y="1828800"/>
            <a:ext cx="1426464" cy="777240"/>
          </a:xfrm>
          <a:prstGeom prst="roundRect">
            <a:avLst>
              <a:gd name="adj" fmla="val 10588"/>
            </a:avLst>
          </a:prstGeom>
          <a:solidFill>
            <a:srgbClr val="FFFFFF"/>
          </a:solidFill>
          <a:ln w="12700">
            <a:solidFill>
              <a:srgbClr val="4FB8A5"/>
            </a:solidFill>
            <a:prstDash val="solid"/>
          </a:ln>
        </p:spPr>
      </p:sp>
      <p:sp>
        <p:nvSpPr>
          <p:cNvPr id="25" name="Text 23"/>
          <p:cNvSpPr/>
          <p:nvPr/>
        </p:nvSpPr>
        <p:spPr>
          <a:xfrm>
            <a:off x="10113264" y="1828800"/>
            <a:ext cx="1426464" cy="777240"/>
          </a:xfrm>
          <a:prstGeom prst="rect">
            <a:avLst/>
          </a:prstGeom>
          <a:noFill/>
          <a:ln/>
        </p:spPr>
        <p:txBody>
          <a:bodyPr wrap="square" rtlCol="0" anchor="ctr"/>
          <a:lstStyle/>
          <a:p>
            <a:pPr algn="ctr" indent="0" marL="0">
              <a:buNone/>
            </a:pPr>
            <a:r>
              <a:rPr lang="en-US" sz="1250" b="1" dirty="0">
                <a:solidFill>
                  <a:srgbClr val="12766B"/>
                </a:solidFill>
                <a:latin typeface="Calibri" pitchFamily="34" charset="0"/>
                <a:ea typeface="Calibri" pitchFamily="34" charset="-122"/>
                <a:cs typeface="Calibri" pitchFamily="34" charset="-120"/>
              </a:rPr>
              <a:t>REPORT</a:t>
            </a:r>
            <a:endParaRPr lang="en-US" sz="1250" dirty="0"/>
          </a:p>
        </p:txBody>
      </p:sp>
      <p:sp>
        <p:nvSpPr>
          <p:cNvPr id="26" name="Text 24"/>
          <p:cNvSpPr/>
          <p:nvPr/>
        </p:nvSpPr>
        <p:spPr>
          <a:xfrm>
            <a:off x="566928" y="1536192"/>
            <a:ext cx="1828800" cy="256032"/>
          </a:xfrm>
          <a:prstGeom prst="rect">
            <a:avLst/>
          </a:prstGeom>
          <a:noFill/>
          <a:ln/>
        </p:spPr>
        <p:txBody>
          <a:bodyPr wrap="square" rtlCol="0" anchor="ctr"/>
          <a:lstStyle/>
          <a:p>
            <a:pPr indent="0" marL="0">
              <a:buNone/>
            </a:pPr>
            <a:r>
              <a:rPr lang="en-US" sz="950" i="1" dirty="0">
                <a:solidFill>
                  <a:srgbClr val="5B6763"/>
                </a:solidFill>
                <a:latin typeface="Calibri" pitchFamily="34" charset="0"/>
                <a:ea typeface="Calibri" pitchFamily="34" charset="-122"/>
                <a:cs typeface="Calibri" pitchFamily="34" charset="-120"/>
              </a:rPr>
              <a:t>CMD_BREATH</a:t>
            </a:r>
            <a:endParaRPr lang="en-US" sz="950" dirty="0"/>
          </a:p>
        </p:txBody>
      </p:sp>
      <p:sp>
        <p:nvSpPr>
          <p:cNvPr id="27" name="Shape 25"/>
          <p:cNvSpPr/>
          <p:nvPr/>
        </p:nvSpPr>
        <p:spPr>
          <a:xfrm>
            <a:off x="4462272" y="3063240"/>
            <a:ext cx="4773168" cy="0"/>
          </a:xfrm>
          <a:prstGeom prst="line">
            <a:avLst/>
          </a:prstGeom>
          <a:noFill/>
          <a:ln w="22860">
            <a:solidFill>
              <a:srgbClr val="C8811F"/>
            </a:solidFill>
            <a:prstDash val="solid"/>
          </a:ln>
        </p:spPr>
      </p:sp>
      <p:sp>
        <p:nvSpPr>
          <p:cNvPr id="28" name="Shape 26"/>
          <p:cNvSpPr/>
          <p:nvPr/>
        </p:nvSpPr>
        <p:spPr>
          <a:xfrm>
            <a:off x="9235440" y="2606040"/>
            <a:ext cx="0" cy="457200"/>
          </a:xfrm>
          <a:prstGeom prst="line">
            <a:avLst/>
          </a:prstGeom>
          <a:noFill/>
          <a:ln w="22860">
            <a:solidFill>
              <a:srgbClr val="C8811F"/>
            </a:solidFill>
            <a:prstDash val="solid"/>
          </a:ln>
        </p:spPr>
      </p:sp>
      <p:sp>
        <p:nvSpPr>
          <p:cNvPr id="29" name="Shape 27"/>
          <p:cNvSpPr/>
          <p:nvPr/>
        </p:nvSpPr>
        <p:spPr>
          <a:xfrm>
            <a:off x="4462272" y="3063240"/>
            <a:ext cx="0" cy="-457200"/>
          </a:xfrm>
          <a:prstGeom prst="line">
            <a:avLst/>
          </a:prstGeom>
          <a:noFill/>
          <a:ln w="22860">
            <a:solidFill>
              <a:srgbClr val="C8811F"/>
            </a:solidFill>
            <a:prstDash val="solid"/>
            <a:tailEnd type="triangle"/>
          </a:ln>
        </p:spPr>
      </p:sp>
      <p:sp>
        <p:nvSpPr>
          <p:cNvPr id="30" name="Text 28"/>
          <p:cNvSpPr/>
          <p:nvPr/>
        </p:nvSpPr>
        <p:spPr>
          <a:xfrm>
            <a:off x="3749040" y="3081528"/>
            <a:ext cx="3657600" cy="256032"/>
          </a:xfrm>
          <a:prstGeom prst="rect">
            <a:avLst/>
          </a:prstGeom>
          <a:noFill/>
          <a:ln/>
        </p:spPr>
        <p:txBody>
          <a:bodyPr wrap="square" rtlCol="0" anchor="ctr"/>
          <a:lstStyle/>
          <a:p>
            <a:pPr indent="0" marL="0">
              <a:buNone/>
            </a:pPr>
            <a:r>
              <a:rPr lang="en-US" sz="1000" i="1" dirty="0">
                <a:solidFill>
                  <a:srgbClr val="C8811F"/>
                </a:solidFill>
                <a:latin typeface="Calibri" pitchFamily="34" charset="0"/>
                <a:ea typeface="Calibri" pitchFamily="34" charset="-122"/>
                <a:cs typeface="Calibri" pitchFamily="34" charset="-120"/>
              </a:rPr>
              <a:t>低品質 → 自動再測定（1回）</a:t>
            </a:r>
            <a:endParaRPr lang="en-US" sz="1000" dirty="0"/>
          </a:p>
        </p:txBody>
      </p:sp>
      <p:sp>
        <p:nvSpPr>
          <p:cNvPr id="31" name="Text 29"/>
          <p:cNvSpPr/>
          <p:nvPr/>
        </p:nvSpPr>
        <p:spPr>
          <a:xfrm>
            <a:off x="6126480" y="3063240"/>
            <a:ext cx="5577840" cy="274320"/>
          </a:xfrm>
          <a:prstGeom prst="rect">
            <a:avLst/>
          </a:prstGeom>
          <a:noFill/>
          <a:ln/>
        </p:spPr>
        <p:txBody>
          <a:bodyPr wrap="square" rtlCol="0" anchor="ctr"/>
          <a:lstStyle/>
          <a:p>
            <a:pPr algn="r" indent="0" marL="0">
              <a:buNone/>
            </a:pPr>
            <a:r>
              <a:rPr lang="en-US" sz="1100" b="1" dirty="0">
                <a:solidFill>
                  <a:srgbClr val="12766B"/>
                </a:solidFill>
                <a:latin typeface="Calibri" pitchFamily="34" charset="0"/>
                <a:ea typeface="Calibri" pitchFamily="34" charset="-122"/>
                <a:cs typeface="Calibri" pitchFamily="34" charset="-120"/>
              </a:rPr>
              <a:t>REPORT → EVT_RESULT（ARQ）→ IDLE → SLEEP(STOP2)</a:t>
            </a:r>
            <a:endParaRPr lang="en-US" sz="1100" dirty="0"/>
          </a:p>
        </p:txBody>
      </p:sp>
      <p:sp>
        <p:nvSpPr>
          <p:cNvPr id="32" name="Shape 30"/>
          <p:cNvSpPr/>
          <p:nvPr/>
        </p:nvSpPr>
        <p:spPr>
          <a:xfrm>
            <a:off x="566928" y="3703320"/>
            <a:ext cx="11064240" cy="2560320"/>
          </a:xfrm>
          <a:prstGeom prst="roundRect">
            <a:avLst>
              <a:gd name="adj" fmla="val 3214"/>
            </a:avLst>
          </a:prstGeom>
          <a:solidFill>
            <a:srgbClr val="FFFFFF"/>
          </a:solidFill>
          <a:ln w="12700">
            <a:solidFill>
              <a:srgbClr val="DADFDC"/>
            </a:solidFill>
            <a:prstDash val="solid"/>
          </a:ln>
          <a:effectLst>
            <a:outerShdw sx="100000" sy="100000" kx="0" ky="0" algn="bl" rotWithShape="0" blurRad="101600" dist="38100" dir="5400000">
              <a:srgbClr val="9AA5A0">
                <a:alpha val="28000"/>
              </a:srgbClr>
            </a:outerShdw>
          </a:effectLst>
        </p:spPr>
      </p:sp>
      <p:sp>
        <p:nvSpPr>
          <p:cNvPr id="33" name="Text 31"/>
          <p:cNvSpPr/>
          <p:nvPr/>
        </p:nvSpPr>
        <p:spPr>
          <a:xfrm>
            <a:off x="795528" y="3822192"/>
            <a:ext cx="54864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異常系（すべてホストテストで固定）</a:t>
            </a:r>
            <a:endParaRPr lang="en-US" sz="1300" dirty="0"/>
          </a:p>
        </p:txBody>
      </p:sp>
      <p:sp>
        <p:nvSpPr>
          <p:cNvPr id="34" name="Shape 32"/>
          <p:cNvSpPr/>
          <p:nvPr/>
        </p:nvSpPr>
        <p:spPr>
          <a:xfrm>
            <a:off x="841248" y="4279392"/>
            <a:ext cx="128016" cy="128016"/>
          </a:xfrm>
          <a:prstGeom prst="ellipse">
            <a:avLst/>
          </a:prstGeom>
          <a:solidFill>
            <a:srgbClr val="CE544C"/>
          </a:solidFill>
          <a:ln/>
        </p:spPr>
      </p:sp>
      <p:sp>
        <p:nvSpPr>
          <p:cNvPr id="35" name="Text 33"/>
          <p:cNvSpPr/>
          <p:nvPr/>
        </p:nvSpPr>
        <p:spPr>
          <a:xfrm>
            <a:off x="1115568" y="4197096"/>
            <a:ext cx="3291840" cy="365760"/>
          </a:xfrm>
          <a:prstGeom prst="rect">
            <a:avLst/>
          </a:prstGeom>
          <a:noFill/>
          <a:ln/>
        </p:spPr>
        <p:txBody>
          <a:bodyPr wrap="square" rtlCol="0" anchor="ctr"/>
          <a:lstStyle/>
          <a:p>
            <a:pPr indent="0" marL="0">
              <a:buNone/>
            </a:pPr>
            <a:r>
              <a:rPr lang="en-US" sz="1200" b="1" dirty="0">
                <a:solidFill>
                  <a:srgbClr val="1C1C1E"/>
                </a:solidFill>
                <a:latin typeface="Calibri" pitchFamily="34" charset="0"/>
                <a:ea typeface="Calibri" pitchFamily="34" charset="-122"/>
                <a:cs typeface="Calibri" pitchFamily="34" charset="-120"/>
              </a:rPr>
              <a:t>センサ無応答</a:t>
            </a:r>
            <a:endParaRPr lang="en-US" sz="1200" dirty="0"/>
          </a:p>
        </p:txBody>
      </p:sp>
      <p:sp>
        <p:nvSpPr>
          <p:cNvPr id="36" name="Text 34"/>
          <p:cNvSpPr/>
          <p:nvPr/>
        </p:nvSpPr>
        <p:spPr>
          <a:xfrm>
            <a:off x="4407408" y="4197096"/>
            <a:ext cx="6949440" cy="365760"/>
          </a:xfrm>
          <a:prstGeom prst="rect">
            <a:avLst/>
          </a:prstGeom>
          <a:noFill/>
          <a:ln/>
        </p:spPr>
        <p:txBody>
          <a:bodyPr wrap="square" rtlCol="0" anchor="ctr"/>
          <a:lstStyle/>
          <a:p>
            <a:pPr indent="0" marL="0">
              <a:buNone/>
            </a:pPr>
            <a:r>
              <a:rPr lang="en-US" sz="1200" dirty="0">
                <a:solidFill>
                  <a:srgbClr val="5B6763"/>
                </a:solidFill>
                <a:latin typeface="Calibri" pitchFamily="34" charset="0"/>
                <a:ea typeface="Calibri" pitchFamily="34" charset="-122"/>
                <a:cs typeface="Calibri" pitchFamily="34" charset="-120"/>
              </a:rPr>
              <a:t>再試行ラダー → 超過で E_SENSOR_TIMEOUT → ERROR</a:t>
            </a:r>
            <a:endParaRPr lang="en-US" sz="1200" dirty="0"/>
          </a:p>
        </p:txBody>
      </p:sp>
      <p:sp>
        <p:nvSpPr>
          <p:cNvPr id="37" name="Shape 35"/>
          <p:cNvSpPr/>
          <p:nvPr/>
        </p:nvSpPr>
        <p:spPr>
          <a:xfrm>
            <a:off x="841248" y="4700016"/>
            <a:ext cx="128016" cy="128016"/>
          </a:xfrm>
          <a:prstGeom prst="ellipse">
            <a:avLst/>
          </a:prstGeom>
          <a:solidFill>
            <a:srgbClr val="CE544C"/>
          </a:solidFill>
          <a:ln/>
        </p:spPr>
      </p:sp>
      <p:sp>
        <p:nvSpPr>
          <p:cNvPr id="38" name="Text 36"/>
          <p:cNvSpPr/>
          <p:nvPr/>
        </p:nvSpPr>
        <p:spPr>
          <a:xfrm>
            <a:off x="1115568" y="4617720"/>
            <a:ext cx="3291840" cy="365760"/>
          </a:xfrm>
          <a:prstGeom prst="rect">
            <a:avLst/>
          </a:prstGeom>
          <a:noFill/>
          <a:ln/>
        </p:spPr>
        <p:txBody>
          <a:bodyPr wrap="square" rtlCol="0" anchor="ctr"/>
          <a:lstStyle/>
          <a:p>
            <a:pPr indent="0" marL="0">
              <a:buNone/>
            </a:pPr>
            <a:r>
              <a:rPr lang="en-US" sz="1200" b="1" dirty="0">
                <a:solidFill>
                  <a:srgbClr val="1C1C1E"/>
                </a:solidFill>
                <a:latin typeface="Calibri" pitchFamily="34" charset="0"/>
                <a:ea typeface="Calibri" pitchFamily="34" charset="-122"/>
                <a:cs typeface="Calibri" pitchFamily="34" charset="-120"/>
              </a:rPr>
              <a:t>呼気が来ない（READY 120s）</a:t>
            </a:r>
            <a:endParaRPr lang="en-US" sz="1200" dirty="0"/>
          </a:p>
        </p:txBody>
      </p:sp>
      <p:sp>
        <p:nvSpPr>
          <p:cNvPr id="39" name="Text 37"/>
          <p:cNvSpPr/>
          <p:nvPr/>
        </p:nvSpPr>
        <p:spPr>
          <a:xfrm>
            <a:off x="4407408" y="4617720"/>
            <a:ext cx="6949440" cy="365760"/>
          </a:xfrm>
          <a:prstGeom prst="rect">
            <a:avLst/>
          </a:prstGeom>
          <a:noFill/>
          <a:ln/>
        </p:spPr>
        <p:txBody>
          <a:bodyPr wrap="square" rtlCol="0" anchor="ctr"/>
          <a:lstStyle/>
          <a:p>
            <a:pPr indent="0" marL="0">
              <a:buNone/>
            </a:pPr>
            <a:r>
              <a:rPr lang="en-US" sz="1200" dirty="0">
                <a:solidFill>
                  <a:srgbClr val="5B6763"/>
                </a:solidFill>
                <a:latin typeface="Calibri" pitchFamily="34" charset="0"/>
                <a:ea typeface="Calibri" pitchFamily="34" charset="-122"/>
                <a:cs typeface="Calibri" pitchFamily="34" charset="-120"/>
              </a:rPr>
              <a:t>E_NO_BREATH を送信 → IDLE（電池を守る）</a:t>
            </a:r>
            <a:endParaRPr lang="en-US" sz="1200" dirty="0"/>
          </a:p>
        </p:txBody>
      </p:sp>
      <p:sp>
        <p:nvSpPr>
          <p:cNvPr id="40" name="Shape 38"/>
          <p:cNvSpPr/>
          <p:nvPr/>
        </p:nvSpPr>
        <p:spPr>
          <a:xfrm>
            <a:off x="841248" y="5120640"/>
            <a:ext cx="128016" cy="128016"/>
          </a:xfrm>
          <a:prstGeom prst="ellipse">
            <a:avLst/>
          </a:prstGeom>
          <a:solidFill>
            <a:srgbClr val="CE544C"/>
          </a:solidFill>
          <a:ln/>
        </p:spPr>
      </p:sp>
      <p:sp>
        <p:nvSpPr>
          <p:cNvPr id="41" name="Text 39"/>
          <p:cNvSpPr/>
          <p:nvPr/>
        </p:nvSpPr>
        <p:spPr>
          <a:xfrm>
            <a:off x="1115568" y="5038344"/>
            <a:ext cx="3291840" cy="365760"/>
          </a:xfrm>
          <a:prstGeom prst="rect">
            <a:avLst/>
          </a:prstGeom>
          <a:noFill/>
          <a:ln/>
        </p:spPr>
        <p:txBody>
          <a:bodyPr wrap="square" rtlCol="0" anchor="ctr"/>
          <a:lstStyle/>
          <a:p>
            <a:pPr indent="0" marL="0">
              <a:buNone/>
            </a:pPr>
            <a:r>
              <a:rPr lang="en-US" sz="1200" b="1" dirty="0">
                <a:solidFill>
                  <a:srgbClr val="1C1C1E"/>
                </a:solidFill>
                <a:latin typeface="Calibri" pitchFamily="34" charset="0"/>
                <a:ea typeface="Calibri" pitchFamily="34" charset="-122"/>
                <a:cs typeface="Calibri" pitchFamily="34" charset="-120"/>
              </a:rPr>
              <a:t>BLE切断（測定中）</a:t>
            </a:r>
            <a:endParaRPr lang="en-US" sz="1200" dirty="0"/>
          </a:p>
        </p:txBody>
      </p:sp>
      <p:sp>
        <p:nvSpPr>
          <p:cNvPr id="42" name="Text 40"/>
          <p:cNvSpPr/>
          <p:nvPr/>
        </p:nvSpPr>
        <p:spPr>
          <a:xfrm>
            <a:off x="4407408" y="5038344"/>
            <a:ext cx="6949440" cy="365760"/>
          </a:xfrm>
          <a:prstGeom prst="rect">
            <a:avLst/>
          </a:prstGeom>
          <a:noFill/>
          <a:ln/>
        </p:spPr>
        <p:txBody>
          <a:bodyPr wrap="square" rtlCol="0" anchor="ctr"/>
          <a:lstStyle/>
          <a:p>
            <a:pPr indent="0" marL="0">
              <a:buNone/>
            </a:pPr>
            <a:r>
              <a:rPr lang="en-US" sz="1200" dirty="0">
                <a:solidFill>
                  <a:srgbClr val="5B6763"/>
                </a:solidFill>
                <a:latin typeface="Calibri" pitchFamily="34" charset="0"/>
                <a:ea typeface="Calibri" pitchFamily="34" charset="-122"/>
                <a:cs typeface="Calibri" pitchFamily="34" charset="-120"/>
              </a:rPr>
              <a:t>セッションを破棄せず継続 → 結果はARQキューに積み再接続後に届く</a:t>
            </a:r>
            <a:endParaRPr lang="en-US" sz="1200" dirty="0"/>
          </a:p>
        </p:txBody>
      </p:sp>
      <p:sp>
        <p:nvSpPr>
          <p:cNvPr id="43" name="Shape 41"/>
          <p:cNvSpPr/>
          <p:nvPr/>
        </p:nvSpPr>
        <p:spPr>
          <a:xfrm>
            <a:off x="841248" y="5541264"/>
            <a:ext cx="128016" cy="128016"/>
          </a:xfrm>
          <a:prstGeom prst="ellipse">
            <a:avLst/>
          </a:prstGeom>
          <a:solidFill>
            <a:srgbClr val="CE544C"/>
          </a:solidFill>
          <a:ln/>
        </p:spPr>
      </p:sp>
      <p:sp>
        <p:nvSpPr>
          <p:cNvPr id="44" name="Text 42"/>
          <p:cNvSpPr/>
          <p:nvPr/>
        </p:nvSpPr>
        <p:spPr>
          <a:xfrm>
            <a:off x="1115568" y="5458968"/>
            <a:ext cx="3291840" cy="365760"/>
          </a:xfrm>
          <a:prstGeom prst="rect">
            <a:avLst/>
          </a:prstGeom>
          <a:noFill/>
          <a:ln/>
        </p:spPr>
        <p:txBody>
          <a:bodyPr wrap="square" rtlCol="0" anchor="ctr"/>
          <a:lstStyle/>
          <a:p>
            <a:pPr indent="0" marL="0">
              <a:buNone/>
            </a:pPr>
            <a:r>
              <a:rPr lang="en-US" sz="1200" b="1" dirty="0">
                <a:solidFill>
                  <a:srgbClr val="1C1C1E"/>
                </a:solidFill>
                <a:latin typeface="Calibri" pitchFamily="34" charset="0"/>
                <a:ea typeface="Calibri" pitchFamily="34" charset="-122"/>
                <a:cs typeface="Calibri" pitchFamily="34" charset="-120"/>
              </a:rPr>
              <a:t>CMD_STOP</a:t>
            </a:r>
            <a:endParaRPr lang="en-US" sz="1200" dirty="0"/>
          </a:p>
        </p:txBody>
      </p:sp>
      <p:sp>
        <p:nvSpPr>
          <p:cNvPr id="45" name="Text 43"/>
          <p:cNvSpPr/>
          <p:nvPr/>
        </p:nvSpPr>
        <p:spPr>
          <a:xfrm>
            <a:off x="4407408" y="5458968"/>
            <a:ext cx="6949440" cy="365760"/>
          </a:xfrm>
          <a:prstGeom prst="rect">
            <a:avLst/>
          </a:prstGeom>
          <a:noFill/>
          <a:ln/>
        </p:spPr>
        <p:txBody>
          <a:bodyPr wrap="square" rtlCol="0" anchor="ctr"/>
          <a:lstStyle/>
          <a:p>
            <a:pPr indent="0" marL="0">
              <a:buNone/>
            </a:pPr>
            <a:r>
              <a:rPr lang="en-US" sz="1200" dirty="0">
                <a:solidFill>
                  <a:srgbClr val="5B6763"/>
                </a:solidFill>
                <a:latin typeface="Calibri" pitchFamily="34" charset="0"/>
                <a:ea typeface="Calibri" pitchFamily="34" charset="-122"/>
                <a:cs typeface="Calibri" pitchFamily="34" charset="-120"/>
              </a:rPr>
              <a:t>どの呼気状態からも安全にIDLEへ（部分結果は破棄・ACK返送）</a:t>
            </a:r>
            <a:endParaRPr lang="en-US" sz="1200" dirty="0"/>
          </a:p>
        </p:txBody>
      </p:sp>
      <p:sp>
        <p:nvSpPr>
          <p:cNvPr id="46" name="Shape 44"/>
          <p:cNvSpPr/>
          <p:nvPr/>
        </p:nvSpPr>
        <p:spPr>
          <a:xfrm>
            <a:off x="841248" y="5961888"/>
            <a:ext cx="128016" cy="128016"/>
          </a:xfrm>
          <a:prstGeom prst="ellipse">
            <a:avLst/>
          </a:prstGeom>
          <a:solidFill>
            <a:srgbClr val="CE544C"/>
          </a:solidFill>
          <a:ln/>
        </p:spPr>
      </p:sp>
      <p:sp>
        <p:nvSpPr>
          <p:cNvPr id="47" name="Text 45"/>
          <p:cNvSpPr/>
          <p:nvPr/>
        </p:nvSpPr>
        <p:spPr>
          <a:xfrm>
            <a:off x="1115568" y="5879592"/>
            <a:ext cx="3291840" cy="365760"/>
          </a:xfrm>
          <a:prstGeom prst="rect">
            <a:avLst/>
          </a:prstGeom>
          <a:noFill/>
          <a:ln/>
        </p:spPr>
        <p:txBody>
          <a:bodyPr wrap="square" rtlCol="0" anchor="ctr"/>
          <a:lstStyle/>
          <a:p>
            <a:pPr indent="0" marL="0">
              <a:buNone/>
            </a:pPr>
            <a:r>
              <a:rPr lang="en-US" sz="1200" b="1" dirty="0">
                <a:solidFill>
                  <a:srgbClr val="1C1C1E"/>
                </a:solidFill>
                <a:latin typeface="Calibri" pitchFamily="34" charset="0"/>
                <a:ea typeface="Calibri" pitchFamily="34" charset="-122"/>
                <a:cs typeface="Calibri" pitchFamily="34" charset="-120"/>
              </a:rPr>
              <a:t>低電池</a:t>
            </a:r>
            <a:endParaRPr lang="en-US" sz="1200" dirty="0"/>
          </a:p>
        </p:txBody>
      </p:sp>
      <p:sp>
        <p:nvSpPr>
          <p:cNvPr id="48" name="Text 46"/>
          <p:cNvSpPr/>
          <p:nvPr/>
        </p:nvSpPr>
        <p:spPr>
          <a:xfrm>
            <a:off x="4407408" y="5879592"/>
            <a:ext cx="6949440" cy="365760"/>
          </a:xfrm>
          <a:prstGeom prst="rect">
            <a:avLst/>
          </a:prstGeom>
          <a:noFill/>
          <a:ln/>
        </p:spPr>
        <p:txBody>
          <a:bodyPr wrap="square" rtlCol="0" anchor="ctr"/>
          <a:lstStyle/>
          <a:p>
            <a:pPr indent="0" marL="0">
              <a:buNone/>
            </a:pPr>
            <a:r>
              <a:rPr lang="en-US" sz="1200" dirty="0">
                <a:solidFill>
                  <a:srgbClr val="5B6763"/>
                </a:solidFill>
                <a:latin typeface="Calibri" pitchFamily="34" charset="0"/>
                <a:ea typeface="Calibri" pitchFamily="34" charset="-122"/>
                <a:cs typeface="Calibri" pitchFamily="34" charset="-120"/>
              </a:rPr>
              <a:t>測定は中断しない → 結果フレームにフラグ（責めない設計）</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BLE · RELIABILITY</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選択的ARQ — 失うと痛いフレームだけ守る</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11</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572768"/>
            <a:ext cx="5394960" cy="1600200"/>
          </a:xfrm>
          <a:prstGeom prst="roundRect">
            <a:avLst>
              <a:gd name="adj" fmla="val 5143"/>
            </a:avLst>
          </a:prstGeom>
          <a:solidFill>
            <a:srgbClr val="FFFFFF"/>
          </a:solidFill>
          <a:ln w="12700">
            <a:solidFill>
              <a:srgbClr val="DADFDC"/>
            </a:solidFill>
            <a:prstDash val="solid"/>
          </a:ln>
          <a:effectLst>
            <a:outerShdw sx="100000" sy="100000" kx="0" ky="0" algn="bl" rotWithShape="0" blurRad="101600" dist="38100" dir="5400000">
              <a:srgbClr val="9AA5A0">
                <a:alpha val="28000"/>
              </a:srgbClr>
            </a:outerShdw>
          </a:effectLst>
        </p:spPr>
      </p:sp>
      <p:sp>
        <p:nvSpPr>
          <p:cNvPr id="7" name="Text 5"/>
          <p:cNvSpPr/>
          <p:nvPr/>
        </p:nvSpPr>
        <p:spPr>
          <a:xfrm>
            <a:off x="768096" y="1682496"/>
            <a:ext cx="45720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損失モデル</a:t>
            </a:r>
            <a:endParaRPr lang="en-US" sz="1300" dirty="0"/>
          </a:p>
        </p:txBody>
      </p:sp>
      <p:sp>
        <p:nvSpPr>
          <p:cNvPr id="8" name="Text 6"/>
          <p:cNvSpPr/>
          <p:nvPr/>
        </p:nvSpPr>
        <p:spPr>
          <a:xfrm>
            <a:off x="768096" y="2011680"/>
            <a:ext cx="5029200" cy="1051560"/>
          </a:xfrm>
          <a:prstGeom prst="rect">
            <a:avLst/>
          </a:prstGeom>
          <a:noFill/>
          <a:ln/>
        </p:spPr>
        <p:txBody>
          <a:bodyPr wrap="square" rtlCol="0" anchor="t"/>
          <a:lstStyle/>
          <a:p>
            <a:pPr marL="177800" indent="-177800">
              <a:spcAft>
                <a:spcPts val="600"/>
              </a:spcAft>
              <a:buSzPct val="100000"/>
              <a:buChar char="•"/>
            </a:pPr>
            <a:r>
              <a:rPr lang="en-US" sz="1200" dirty="0">
                <a:solidFill>
                  <a:srgbClr val="1C1C1E"/>
                </a:solidFill>
                <a:latin typeface="Calibri" pitchFamily="34" charset="0"/>
                <a:ea typeface="Calibri" pitchFamily="34" charset="-122"/>
                <a:cs typeface="Calibri" pitchFamily="34" charset="-120"/>
              </a:rPr>
              <a:t>BLE Notifyは順序保証あり・切断区間で消失</a:t>
            </a:r>
            <a:endParaRPr lang="en-US" sz="1200" dirty="0"/>
          </a:p>
          <a:p>
            <a:pPr marL="177800" indent="-177800">
              <a:spcAft>
                <a:spcPts val="600"/>
              </a:spcAft>
              <a:buSzPct val="100000"/>
              <a:buChar char="•"/>
            </a:pPr>
            <a:r>
              <a:rPr lang="en-US" sz="1200" dirty="0">
                <a:solidFill>
                  <a:srgbClr val="1C1C1E"/>
                </a:solidFill>
                <a:latin typeface="Calibri" pitchFamily="34" charset="0"/>
                <a:ea typeface="Calibri" pitchFamily="34" charset="-122"/>
                <a:cs typeface="Calibri" pitchFamily="34" charset="-120"/>
              </a:rPr>
              <a:t>ストリーム(EVT_DATA)：消えても次で回復 → 再送不要</a:t>
            </a:r>
            <a:endParaRPr lang="en-US" sz="1200" dirty="0"/>
          </a:p>
          <a:p>
            <a:pPr marL="177800" indent="-177800">
              <a:spcAft>
                <a:spcPts val="600"/>
              </a:spcAft>
              <a:buSzPct val="100000"/>
              <a:buChar char="•"/>
            </a:pPr>
            <a:r>
              <a:rPr lang="en-US" sz="1200" b="1" dirty="0">
                <a:solidFill>
                  <a:srgbClr val="CE544C"/>
                </a:solidFill>
                <a:latin typeface="Calibri" pitchFamily="34" charset="0"/>
                <a:ea typeface="Calibri" pitchFamily="34" charset="-122"/>
                <a:cs typeface="Calibri" pitchFamily="34" charset="-120"/>
              </a:rPr>
              <a:t>EVT_RESULT/SUMMARY/ERROR：消失＝測定1回の喪失</a:t>
            </a:r>
            <a:endParaRPr lang="en-US" sz="1200" dirty="0"/>
          </a:p>
        </p:txBody>
      </p:sp>
      <p:sp>
        <p:nvSpPr>
          <p:cNvPr id="9" name="Shape 7"/>
          <p:cNvSpPr/>
          <p:nvPr/>
        </p:nvSpPr>
        <p:spPr>
          <a:xfrm>
            <a:off x="6172200" y="1572768"/>
            <a:ext cx="5440680" cy="1600200"/>
          </a:xfrm>
          <a:prstGeom prst="roundRect">
            <a:avLst>
              <a:gd name="adj" fmla="val 5143"/>
            </a:avLst>
          </a:prstGeom>
          <a:solidFill>
            <a:srgbClr val="D9EBE7"/>
          </a:solidFill>
          <a:ln/>
        </p:spPr>
      </p:sp>
      <p:sp>
        <p:nvSpPr>
          <p:cNvPr id="10" name="Text 8"/>
          <p:cNvSpPr/>
          <p:nvPr/>
        </p:nvSpPr>
        <p:spPr>
          <a:xfrm>
            <a:off x="6373368" y="1682496"/>
            <a:ext cx="50292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なぜ全フレーム再送(TCP的)にしないか</a:t>
            </a:r>
            <a:endParaRPr lang="en-US" sz="1300" dirty="0"/>
          </a:p>
        </p:txBody>
      </p:sp>
      <p:sp>
        <p:nvSpPr>
          <p:cNvPr id="11" name="Text 9"/>
          <p:cNvSpPr/>
          <p:nvPr/>
        </p:nvSpPr>
        <p:spPr>
          <a:xfrm>
            <a:off x="6373368" y="2011680"/>
            <a:ext cx="5074920" cy="1097280"/>
          </a:xfrm>
          <a:prstGeom prst="rect">
            <a:avLst/>
          </a:prstGeom>
          <a:noFill/>
          <a:ln/>
        </p:spPr>
        <p:txBody>
          <a:bodyPr wrap="square" rtlCol="0" anchor="t"/>
          <a:lstStyle/>
          <a:p>
            <a:pPr indent="0" marL="0">
              <a:buNone/>
            </a:pPr>
            <a:r>
              <a:rPr lang="en-US" sz="1200" dirty="0">
                <a:solidFill>
                  <a:srgbClr val="1C1C1E"/>
                </a:solidFill>
                <a:latin typeface="Calibri" pitchFamily="34" charset="0"/>
                <a:ea typeface="Calibri" pitchFamily="34" charset="-122"/>
                <a:cs typeface="Calibri" pitchFamily="34" charset="-120"/>
              </a:rPr>
              <a:t>全再送は1Hzストリームでキューを詰まらせ、遅延と電力を悪化させるだけ。損失許容度でQoSを分ける = 選択的ARQ。ウィンドウ制御も過剰（クリティカルは高々数枚 → stop-and-wait で十分）。</a:t>
            </a:r>
            <a:endParaRPr lang="en-US" sz="1200" dirty="0"/>
          </a:p>
        </p:txBody>
      </p:sp>
      <p:sp>
        <p:nvSpPr>
          <p:cNvPr id="12" name="Shape 10"/>
          <p:cNvSpPr/>
          <p:nvPr/>
        </p:nvSpPr>
        <p:spPr>
          <a:xfrm>
            <a:off x="566928" y="3401568"/>
            <a:ext cx="11064240" cy="1600200"/>
          </a:xfrm>
          <a:prstGeom prst="roundRect">
            <a:avLst>
              <a:gd name="adj" fmla="val 5143"/>
            </a:avLst>
          </a:prstGeom>
          <a:solidFill>
            <a:srgbClr val="FFFFFF"/>
          </a:solidFill>
          <a:ln w="12700">
            <a:solidFill>
              <a:srgbClr val="DADFDC"/>
            </a:solidFill>
            <a:prstDash val="solid"/>
          </a:ln>
          <a:effectLst>
            <a:outerShdw sx="100000" sy="100000" kx="0" ky="0" algn="bl" rotWithShape="0" blurRad="101600" dist="38100" dir="5400000">
              <a:srgbClr val="9AA5A0">
                <a:alpha val="28000"/>
              </a:srgbClr>
            </a:outerShdw>
          </a:effectLst>
        </p:spPr>
      </p:sp>
      <p:sp>
        <p:nvSpPr>
          <p:cNvPr id="13" name="Text 11"/>
          <p:cNvSpPr/>
          <p:nvPr/>
        </p:nvSpPr>
        <p:spPr>
          <a:xfrm>
            <a:off x="795528" y="3511296"/>
            <a:ext cx="45720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信頼配送シーケンス</a:t>
            </a:r>
            <a:endParaRPr lang="en-US" sz="1300" dirty="0"/>
          </a:p>
        </p:txBody>
      </p:sp>
      <p:sp>
        <p:nvSpPr>
          <p:cNvPr id="14" name="Text 12"/>
          <p:cNvSpPr/>
          <p:nvPr/>
        </p:nvSpPr>
        <p:spPr>
          <a:xfrm>
            <a:off x="841248" y="3840480"/>
            <a:ext cx="457200" cy="274320"/>
          </a:xfrm>
          <a:prstGeom prst="rect">
            <a:avLst/>
          </a:prstGeom>
          <a:noFill/>
          <a:ln/>
        </p:spPr>
        <p:txBody>
          <a:bodyPr wrap="square" rtlCol="0" anchor="ctr"/>
          <a:lstStyle/>
          <a:p>
            <a:pPr algn="ctr" indent="0" marL="0">
              <a:buNone/>
            </a:pPr>
            <a:r>
              <a:rPr lang="en-US" sz="1300" b="1" dirty="0">
                <a:solidFill>
                  <a:srgbClr val="4FB8A5"/>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1344168" y="3840480"/>
            <a:ext cx="914400" cy="274320"/>
          </a:xfrm>
          <a:prstGeom prst="rect">
            <a:avLst/>
          </a:prstGeom>
          <a:noFill/>
          <a:ln/>
        </p:spPr>
        <p:txBody>
          <a:bodyPr wrap="square" rtlCol="0" anchor="ctr"/>
          <a:lstStyle/>
          <a:p>
            <a:pPr indent="0" marL="0">
              <a:buNone/>
            </a:pPr>
            <a:r>
              <a:rPr lang="en-US" sz="1150" b="1" dirty="0">
                <a:solidFill>
                  <a:srgbClr val="5B6763"/>
                </a:solidFill>
                <a:latin typeface="Calibri" pitchFamily="34" charset="0"/>
                <a:ea typeface="Calibri" pitchFamily="34" charset="-122"/>
                <a:cs typeface="Calibri" pitchFamily="34" charset="-120"/>
              </a:rPr>
              <a:t>FW</a:t>
            </a:r>
            <a:endParaRPr lang="en-US" sz="1150" dirty="0"/>
          </a:p>
        </p:txBody>
      </p:sp>
      <p:sp>
        <p:nvSpPr>
          <p:cNvPr id="16" name="Text 14"/>
          <p:cNvSpPr/>
          <p:nvPr/>
        </p:nvSpPr>
        <p:spPr>
          <a:xfrm>
            <a:off x="2304288" y="3840480"/>
            <a:ext cx="8961120" cy="274320"/>
          </a:xfrm>
          <a:prstGeom prst="rect">
            <a:avLst/>
          </a:prstGeom>
          <a:noFill/>
          <a:ln/>
        </p:spPr>
        <p:txBody>
          <a:bodyPr wrap="square" rtlCol="0" anchor="ctr"/>
          <a:lstStyle/>
          <a:p>
            <a:pPr indent="0" marL="0">
              <a:buNone/>
            </a:pPr>
            <a:r>
              <a:rPr lang="en-US" sz="1200" dirty="0">
                <a:solidFill>
                  <a:srgbClr val="1C1C1E"/>
                </a:solidFill>
                <a:latin typeface="Calibri" pitchFamily="34" charset="0"/>
                <a:ea typeface="Calibri" pitchFamily="34" charset="-122"/>
                <a:cs typeface="Calibri" pitchFamily="34" charset="-120"/>
              </a:rPr>
              <a:t>EVT_RESULT (seq=n)</a:t>
            </a:r>
            <a:endParaRPr lang="en-US" sz="1200" dirty="0"/>
          </a:p>
        </p:txBody>
      </p:sp>
      <p:sp>
        <p:nvSpPr>
          <p:cNvPr id="17" name="Text 15"/>
          <p:cNvSpPr/>
          <p:nvPr/>
        </p:nvSpPr>
        <p:spPr>
          <a:xfrm>
            <a:off x="841248" y="4133088"/>
            <a:ext cx="457200" cy="274320"/>
          </a:xfrm>
          <a:prstGeom prst="rect">
            <a:avLst/>
          </a:prstGeom>
          <a:noFill/>
          <a:ln/>
        </p:spPr>
        <p:txBody>
          <a:bodyPr wrap="square" rtlCol="0" anchor="ctr"/>
          <a:lstStyle/>
          <a:p>
            <a:pPr algn="ctr" indent="0" marL="0">
              <a:buNone/>
            </a:pPr>
            <a:r>
              <a:rPr lang="en-US" sz="1300" b="1" dirty="0">
                <a:solidFill>
                  <a:srgbClr val="4FB8A5"/>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1344168" y="4133088"/>
            <a:ext cx="914400" cy="274320"/>
          </a:xfrm>
          <a:prstGeom prst="rect">
            <a:avLst/>
          </a:prstGeom>
          <a:noFill/>
          <a:ln/>
        </p:spPr>
        <p:txBody>
          <a:bodyPr wrap="square" rtlCol="0" anchor="ctr"/>
          <a:lstStyle/>
          <a:p>
            <a:pPr indent="0" marL="0">
              <a:buNone/>
            </a:pPr>
            <a:r>
              <a:rPr lang="en-US" sz="1150" b="1" dirty="0">
                <a:solidFill>
                  <a:srgbClr val="5B6763"/>
                </a:solidFill>
                <a:latin typeface="Calibri" pitchFamily="34" charset="0"/>
                <a:ea typeface="Calibri" pitchFamily="34" charset="-122"/>
                <a:cs typeface="Calibri" pitchFamily="34" charset="-120"/>
              </a:rPr>
              <a:t>App</a:t>
            </a:r>
            <a:endParaRPr lang="en-US" sz="1150" dirty="0"/>
          </a:p>
        </p:txBody>
      </p:sp>
      <p:sp>
        <p:nvSpPr>
          <p:cNvPr id="19" name="Text 17"/>
          <p:cNvSpPr/>
          <p:nvPr/>
        </p:nvSpPr>
        <p:spPr>
          <a:xfrm>
            <a:off x="2304288" y="4133088"/>
            <a:ext cx="8961120" cy="274320"/>
          </a:xfrm>
          <a:prstGeom prst="rect">
            <a:avLst/>
          </a:prstGeom>
          <a:noFill/>
          <a:ln/>
        </p:spPr>
        <p:txBody>
          <a:bodyPr wrap="square" rtlCol="0" anchor="ctr"/>
          <a:lstStyle/>
          <a:p>
            <a:pPr indent="0" marL="0">
              <a:buNone/>
            </a:pPr>
            <a:r>
              <a:rPr lang="en-US" sz="1200" dirty="0">
                <a:solidFill>
                  <a:srgbClr val="1C1C1E"/>
                </a:solidFill>
                <a:latin typeface="Calibri" pitchFamily="34" charset="0"/>
                <a:ea typeface="Calibri" pitchFamily="34" charset="-122"/>
                <a:cs typeface="Calibri" pitchFamily="34" charset="-120"/>
              </a:rPr>
              <a:t>CMD_ACK_EVT (n)</a:t>
            </a:r>
            <a:endParaRPr lang="en-US" sz="1200" dirty="0"/>
          </a:p>
        </p:txBody>
      </p:sp>
      <p:sp>
        <p:nvSpPr>
          <p:cNvPr id="20" name="Text 18"/>
          <p:cNvSpPr/>
          <p:nvPr/>
        </p:nvSpPr>
        <p:spPr>
          <a:xfrm>
            <a:off x="841248" y="4425696"/>
            <a:ext cx="457200" cy="274320"/>
          </a:xfrm>
          <a:prstGeom prst="rect">
            <a:avLst/>
          </a:prstGeom>
          <a:noFill/>
          <a:ln/>
        </p:spPr>
        <p:txBody>
          <a:bodyPr wrap="square" rtlCol="0" anchor="ctr"/>
          <a:lstStyle/>
          <a:p>
            <a:pPr algn="ctr" indent="0" marL="0">
              <a:buNone/>
            </a:pPr>
            <a:r>
              <a:rPr lang="en-US" sz="1300" b="1" dirty="0">
                <a:solidFill>
                  <a:srgbClr val="4FB8A5"/>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1344168" y="4425696"/>
            <a:ext cx="914400" cy="274320"/>
          </a:xfrm>
          <a:prstGeom prst="rect">
            <a:avLst/>
          </a:prstGeom>
          <a:noFill/>
          <a:ln/>
        </p:spPr>
        <p:txBody>
          <a:bodyPr wrap="square" rtlCol="0" anchor="ctr"/>
          <a:lstStyle/>
          <a:p>
            <a:pPr indent="0" marL="0">
              <a:buNone/>
            </a:pPr>
            <a:r>
              <a:rPr lang="en-US" sz="1150" b="1" dirty="0">
                <a:solidFill>
                  <a:srgbClr val="5B6763"/>
                </a:solidFill>
                <a:latin typeface="Calibri" pitchFamily="34" charset="0"/>
                <a:ea typeface="Calibri" pitchFamily="34" charset="-122"/>
                <a:cs typeface="Calibri" pitchFamily="34" charset="-120"/>
              </a:rPr>
              <a:t>—</a:t>
            </a:r>
            <a:endParaRPr lang="en-US" sz="1150" dirty="0"/>
          </a:p>
        </p:txBody>
      </p:sp>
      <p:sp>
        <p:nvSpPr>
          <p:cNvPr id="22" name="Text 20"/>
          <p:cNvSpPr/>
          <p:nvPr/>
        </p:nvSpPr>
        <p:spPr>
          <a:xfrm>
            <a:off x="2304288" y="4425696"/>
            <a:ext cx="8961120" cy="274320"/>
          </a:xfrm>
          <a:prstGeom prst="rect">
            <a:avLst/>
          </a:prstGeom>
          <a:noFill/>
          <a:ln/>
        </p:spPr>
        <p:txBody>
          <a:bodyPr wrap="square" rtlCol="0" anchor="ctr"/>
          <a:lstStyle/>
          <a:p>
            <a:pPr indent="0" marL="0">
              <a:buNone/>
            </a:pPr>
            <a:r>
              <a:rPr lang="en-US" sz="1200" dirty="0">
                <a:solidFill>
                  <a:srgbClr val="1C1C1E"/>
                </a:solidFill>
                <a:latin typeface="Calibri" pitchFamily="34" charset="0"/>
                <a:ea typeface="Calibri" pitchFamily="34" charset="-122"/>
                <a:cs typeface="Calibri" pitchFamily="34" charset="-120"/>
              </a:rPr>
              <a:t>未達なら 1s毎に同一seqで再送（最大5回）</a:t>
            </a:r>
            <a:endParaRPr lang="en-US" sz="1200" dirty="0"/>
          </a:p>
        </p:txBody>
      </p:sp>
      <p:sp>
        <p:nvSpPr>
          <p:cNvPr id="23" name="Text 21"/>
          <p:cNvSpPr/>
          <p:nvPr/>
        </p:nvSpPr>
        <p:spPr>
          <a:xfrm>
            <a:off x="841248" y="4718304"/>
            <a:ext cx="457200" cy="274320"/>
          </a:xfrm>
          <a:prstGeom prst="rect">
            <a:avLst/>
          </a:prstGeom>
          <a:noFill/>
          <a:ln/>
        </p:spPr>
        <p:txBody>
          <a:bodyPr wrap="square" rtlCol="0" anchor="ctr"/>
          <a:lstStyle/>
          <a:p>
            <a:pPr algn="ctr" indent="0" marL="0">
              <a:buNone/>
            </a:pPr>
            <a:r>
              <a:rPr lang="en-US" sz="1300" b="1" dirty="0">
                <a:solidFill>
                  <a:srgbClr val="4FB8A5"/>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1344168" y="4718304"/>
            <a:ext cx="914400" cy="274320"/>
          </a:xfrm>
          <a:prstGeom prst="rect">
            <a:avLst/>
          </a:prstGeom>
          <a:noFill/>
          <a:ln/>
        </p:spPr>
        <p:txBody>
          <a:bodyPr wrap="square" rtlCol="0" anchor="ctr"/>
          <a:lstStyle/>
          <a:p>
            <a:pPr indent="0" marL="0">
              <a:buNone/>
            </a:pPr>
            <a:r>
              <a:rPr lang="en-US" sz="1150" b="1" dirty="0">
                <a:solidFill>
                  <a:srgbClr val="5B6763"/>
                </a:solidFill>
                <a:latin typeface="Calibri" pitchFamily="34" charset="0"/>
                <a:ea typeface="Calibri" pitchFamily="34" charset="-122"/>
                <a:cs typeface="Calibri" pitchFamily="34" charset="-120"/>
              </a:rPr>
              <a:t>App</a:t>
            </a:r>
            <a:endParaRPr lang="en-US" sz="1150" dirty="0"/>
          </a:p>
        </p:txBody>
      </p:sp>
      <p:sp>
        <p:nvSpPr>
          <p:cNvPr id="25" name="Text 23"/>
          <p:cNvSpPr/>
          <p:nvPr/>
        </p:nvSpPr>
        <p:spPr>
          <a:xfrm>
            <a:off x="2304288" y="4718304"/>
            <a:ext cx="8961120" cy="274320"/>
          </a:xfrm>
          <a:prstGeom prst="rect">
            <a:avLst/>
          </a:prstGeom>
          <a:noFill/>
          <a:ln/>
        </p:spPr>
        <p:txBody>
          <a:bodyPr wrap="square" rtlCol="0" anchor="ctr"/>
          <a:lstStyle/>
          <a:p>
            <a:pPr indent="0" marL="0">
              <a:buNone/>
            </a:pPr>
            <a:r>
              <a:rPr lang="en-US" sz="1200" dirty="0">
                <a:solidFill>
                  <a:srgbClr val="1C1C1E"/>
                </a:solidFill>
                <a:latin typeface="Calibri" pitchFamily="34" charset="0"/>
                <a:ea typeface="Calibri" pitchFamily="34" charset="-122"/>
                <a:cs typeface="Calibri" pitchFamily="34" charset="-120"/>
              </a:rPr>
              <a:t>既受信seqは重複排除 → 再ACK</a:t>
            </a:r>
            <a:endParaRPr lang="en-US" sz="1200" dirty="0"/>
          </a:p>
        </p:txBody>
      </p:sp>
      <p:sp>
        <p:nvSpPr>
          <p:cNvPr id="26" name="Shape 24"/>
          <p:cNvSpPr/>
          <p:nvPr/>
        </p:nvSpPr>
        <p:spPr>
          <a:xfrm>
            <a:off x="566928" y="5166360"/>
            <a:ext cx="2606040" cy="1097280"/>
          </a:xfrm>
          <a:prstGeom prst="roundRect">
            <a:avLst>
              <a:gd name="adj" fmla="val 7500"/>
            </a:avLst>
          </a:prstGeom>
          <a:solidFill>
            <a:srgbClr val="D9EBE7"/>
          </a:solidFill>
          <a:ln/>
        </p:spPr>
      </p:sp>
      <p:sp>
        <p:nvSpPr>
          <p:cNvPr id="27" name="Text 25"/>
          <p:cNvSpPr/>
          <p:nvPr/>
        </p:nvSpPr>
        <p:spPr>
          <a:xfrm>
            <a:off x="731520" y="5266944"/>
            <a:ext cx="2331720" cy="320040"/>
          </a:xfrm>
          <a:prstGeom prst="rect">
            <a:avLst/>
          </a:prstGeom>
          <a:noFill/>
          <a:ln/>
        </p:spPr>
        <p:txBody>
          <a:bodyPr wrap="square" rtlCol="0" anchor="ctr"/>
          <a:lstStyle/>
          <a:p>
            <a:pPr indent="0" marL="0">
              <a:buNone/>
            </a:pPr>
            <a:r>
              <a:rPr lang="en-US" sz="1200" b="1" dirty="0">
                <a:solidFill>
                  <a:srgbClr val="12766B"/>
                </a:solidFill>
                <a:latin typeface="Calibri" pitchFamily="34" charset="0"/>
                <a:ea typeface="Calibri" pitchFamily="34" charset="-122"/>
                <a:cs typeface="Calibri" pitchFamily="34" charset="-120"/>
              </a:rPr>
              <a:t>キュー深さ 4</a:t>
            </a:r>
            <a:endParaRPr lang="en-US" sz="1200" dirty="0"/>
          </a:p>
        </p:txBody>
      </p:sp>
      <p:sp>
        <p:nvSpPr>
          <p:cNvPr id="28" name="Text 26"/>
          <p:cNvSpPr/>
          <p:nvPr/>
        </p:nvSpPr>
        <p:spPr>
          <a:xfrm>
            <a:off x="731520" y="5596128"/>
            <a:ext cx="2377440" cy="594360"/>
          </a:xfrm>
          <a:prstGeom prst="rect">
            <a:avLst/>
          </a:prstGeom>
          <a:noFill/>
          <a:ln/>
        </p:spPr>
        <p:txBody>
          <a:bodyPr wrap="square" rtlCol="0" anchor="t"/>
          <a:lstStyle/>
          <a:p>
            <a:pPr indent="0" marL="0">
              <a:buNone/>
            </a:pPr>
            <a:r>
              <a:rPr lang="en-US" sz="1100" dirty="0">
                <a:solidFill>
                  <a:srgbClr val="5B6763"/>
                </a:solidFill>
                <a:latin typeface="Calibri" pitchFamily="34" charset="0"/>
                <a:ea typeface="Calibri" pitchFamily="34" charset="-122"/>
                <a:cs typeface="Calibri" pitchFamily="34" charset="-120"/>
              </a:rPr>
              <a:t>静的確保・malloc不使用</a:t>
            </a:r>
            <a:endParaRPr lang="en-US" sz="1100" dirty="0"/>
          </a:p>
        </p:txBody>
      </p:sp>
      <p:sp>
        <p:nvSpPr>
          <p:cNvPr id="29" name="Shape 27"/>
          <p:cNvSpPr/>
          <p:nvPr/>
        </p:nvSpPr>
        <p:spPr>
          <a:xfrm>
            <a:off x="3328416" y="5166360"/>
            <a:ext cx="2606040" cy="1097280"/>
          </a:xfrm>
          <a:prstGeom prst="roundRect">
            <a:avLst>
              <a:gd name="adj" fmla="val 7500"/>
            </a:avLst>
          </a:prstGeom>
          <a:solidFill>
            <a:srgbClr val="D9EBE7"/>
          </a:solidFill>
          <a:ln/>
        </p:spPr>
      </p:sp>
      <p:sp>
        <p:nvSpPr>
          <p:cNvPr id="30" name="Text 28"/>
          <p:cNvSpPr/>
          <p:nvPr/>
        </p:nvSpPr>
        <p:spPr>
          <a:xfrm>
            <a:off x="3493008" y="5266944"/>
            <a:ext cx="2331720" cy="320040"/>
          </a:xfrm>
          <a:prstGeom prst="rect">
            <a:avLst/>
          </a:prstGeom>
          <a:noFill/>
          <a:ln/>
        </p:spPr>
        <p:txBody>
          <a:bodyPr wrap="square" rtlCol="0" anchor="ctr"/>
          <a:lstStyle/>
          <a:p>
            <a:pPr indent="0" marL="0">
              <a:buNone/>
            </a:pPr>
            <a:r>
              <a:rPr lang="en-US" sz="1200" b="1" dirty="0">
                <a:solidFill>
                  <a:srgbClr val="12766B"/>
                </a:solidFill>
                <a:latin typeface="Calibri" pitchFamily="34" charset="0"/>
                <a:ea typeface="Calibri" pitchFamily="34" charset="-122"/>
                <a:cs typeface="Calibri" pitchFamily="34" charset="-120"/>
              </a:rPr>
              <a:t>再送 1s × 最大5回</a:t>
            </a:r>
            <a:endParaRPr lang="en-US" sz="1200" dirty="0"/>
          </a:p>
        </p:txBody>
      </p:sp>
      <p:sp>
        <p:nvSpPr>
          <p:cNvPr id="31" name="Text 29"/>
          <p:cNvSpPr/>
          <p:nvPr/>
        </p:nvSpPr>
        <p:spPr>
          <a:xfrm>
            <a:off x="3493008" y="5596128"/>
            <a:ext cx="2377440" cy="594360"/>
          </a:xfrm>
          <a:prstGeom prst="rect">
            <a:avLst/>
          </a:prstGeom>
          <a:noFill/>
          <a:ln/>
        </p:spPr>
        <p:txBody>
          <a:bodyPr wrap="square" rtlCol="0" anchor="t"/>
          <a:lstStyle/>
          <a:p>
            <a:pPr indent="0" marL="0">
              <a:buNone/>
            </a:pPr>
            <a:r>
              <a:rPr lang="en-US" sz="1100" dirty="0">
                <a:solidFill>
                  <a:srgbClr val="5B6763"/>
                </a:solidFill>
                <a:latin typeface="Calibri" pitchFamily="34" charset="0"/>
                <a:ea typeface="Calibri" pitchFamily="34" charset="-122"/>
                <a:cs typeface="Calibri" pitchFamily="34" charset="-120"/>
              </a:rPr>
              <a:t>損失率 p → 到達 1−p⁵</a:t>
            </a:r>
            <a:endParaRPr lang="en-US" sz="1100" dirty="0"/>
          </a:p>
        </p:txBody>
      </p:sp>
      <p:sp>
        <p:nvSpPr>
          <p:cNvPr id="32" name="Shape 30"/>
          <p:cNvSpPr/>
          <p:nvPr/>
        </p:nvSpPr>
        <p:spPr>
          <a:xfrm>
            <a:off x="6089904" y="5166360"/>
            <a:ext cx="2606040" cy="1097280"/>
          </a:xfrm>
          <a:prstGeom prst="roundRect">
            <a:avLst>
              <a:gd name="adj" fmla="val 7500"/>
            </a:avLst>
          </a:prstGeom>
          <a:solidFill>
            <a:srgbClr val="D9EBE7"/>
          </a:solidFill>
          <a:ln/>
        </p:spPr>
      </p:sp>
      <p:sp>
        <p:nvSpPr>
          <p:cNvPr id="33" name="Text 31"/>
          <p:cNvSpPr/>
          <p:nvPr/>
        </p:nvSpPr>
        <p:spPr>
          <a:xfrm>
            <a:off x="6254496" y="5266944"/>
            <a:ext cx="2331720" cy="320040"/>
          </a:xfrm>
          <a:prstGeom prst="rect">
            <a:avLst/>
          </a:prstGeom>
          <a:noFill/>
          <a:ln/>
        </p:spPr>
        <p:txBody>
          <a:bodyPr wrap="square" rtlCol="0" anchor="ctr"/>
          <a:lstStyle/>
          <a:p>
            <a:pPr indent="0" marL="0">
              <a:buNone/>
            </a:pPr>
            <a:r>
              <a:rPr lang="en-US" sz="1200" b="1" dirty="0">
                <a:solidFill>
                  <a:srgbClr val="12766B"/>
                </a:solidFill>
                <a:latin typeface="Calibri" pitchFamily="34" charset="0"/>
                <a:ea typeface="Calibri" pitchFamily="34" charset="-122"/>
                <a:cs typeface="Calibri" pitchFamily="34" charset="-120"/>
              </a:rPr>
              <a:t>満杯時</a:t>
            </a:r>
            <a:endParaRPr lang="en-US" sz="1200" dirty="0"/>
          </a:p>
        </p:txBody>
      </p:sp>
      <p:sp>
        <p:nvSpPr>
          <p:cNvPr id="34" name="Text 32"/>
          <p:cNvSpPr/>
          <p:nvPr/>
        </p:nvSpPr>
        <p:spPr>
          <a:xfrm>
            <a:off x="6254496" y="5596128"/>
            <a:ext cx="2377440" cy="594360"/>
          </a:xfrm>
          <a:prstGeom prst="rect">
            <a:avLst/>
          </a:prstGeom>
          <a:noFill/>
          <a:ln/>
        </p:spPr>
        <p:txBody>
          <a:bodyPr wrap="square" rtlCol="0" anchor="t"/>
          <a:lstStyle/>
          <a:p>
            <a:pPr indent="0" marL="0">
              <a:buNone/>
            </a:pPr>
            <a:r>
              <a:rPr lang="en-US" sz="1100" dirty="0">
                <a:solidFill>
                  <a:srgbClr val="5B6763"/>
                </a:solidFill>
                <a:latin typeface="Calibri" pitchFamily="34" charset="0"/>
                <a:ea typeface="Calibri" pitchFamily="34" charset="-122"/>
                <a:cs typeface="Calibri" pitchFamily="34" charset="-120"/>
              </a:rPr>
              <a:t>最古を追い出し（新しい結果を優先）</a:t>
            </a:r>
            <a:endParaRPr lang="en-US" sz="1100" dirty="0"/>
          </a:p>
        </p:txBody>
      </p:sp>
      <p:sp>
        <p:nvSpPr>
          <p:cNvPr id="35" name="Shape 33"/>
          <p:cNvSpPr/>
          <p:nvPr/>
        </p:nvSpPr>
        <p:spPr>
          <a:xfrm>
            <a:off x="8851392" y="5166360"/>
            <a:ext cx="2606040" cy="1097280"/>
          </a:xfrm>
          <a:prstGeom prst="roundRect">
            <a:avLst>
              <a:gd name="adj" fmla="val 7500"/>
            </a:avLst>
          </a:prstGeom>
          <a:solidFill>
            <a:srgbClr val="D9EBE7"/>
          </a:solidFill>
          <a:ln/>
        </p:spPr>
      </p:sp>
      <p:sp>
        <p:nvSpPr>
          <p:cNvPr id="36" name="Text 34"/>
          <p:cNvSpPr/>
          <p:nvPr/>
        </p:nvSpPr>
        <p:spPr>
          <a:xfrm>
            <a:off x="9015984" y="5266944"/>
            <a:ext cx="2331720" cy="320040"/>
          </a:xfrm>
          <a:prstGeom prst="rect">
            <a:avLst/>
          </a:prstGeom>
          <a:noFill/>
          <a:ln/>
        </p:spPr>
        <p:txBody>
          <a:bodyPr wrap="square" rtlCol="0" anchor="ctr"/>
          <a:lstStyle/>
          <a:p>
            <a:pPr indent="0" marL="0">
              <a:buNone/>
            </a:pPr>
            <a:r>
              <a:rPr lang="en-US" sz="1200" b="1" dirty="0">
                <a:solidFill>
                  <a:srgbClr val="12766B"/>
                </a:solidFill>
                <a:latin typeface="Calibri" pitchFamily="34" charset="0"/>
                <a:ea typeface="Calibri" pitchFamily="34" charset="-122"/>
                <a:cs typeface="Calibri" pitchFamily="34" charset="-120"/>
              </a:rPr>
              <a:t>SEQ 8bit</a:t>
            </a:r>
            <a:endParaRPr lang="en-US" sz="1200" dirty="0"/>
          </a:p>
        </p:txBody>
      </p:sp>
      <p:sp>
        <p:nvSpPr>
          <p:cNvPr id="37" name="Text 35"/>
          <p:cNvSpPr/>
          <p:nvPr/>
        </p:nvSpPr>
        <p:spPr>
          <a:xfrm>
            <a:off x="9015984" y="5596128"/>
            <a:ext cx="2377440" cy="594360"/>
          </a:xfrm>
          <a:prstGeom prst="rect">
            <a:avLst/>
          </a:prstGeom>
          <a:noFill/>
          <a:ln/>
        </p:spPr>
        <p:txBody>
          <a:bodyPr wrap="square" rtlCol="0" anchor="t"/>
          <a:lstStyle/>
          <a:p>
            <a:pPr indent="0" marL="0">
              <a:buNone/>
            </a:pPr>
            <a:r>
              <a:rPr lang="en-US" sz="1100" dirty="0">
                <a:solidFill>
                  <a:srgbClr val="5B6763"/>
                </a:solidFill>
                <a:latin typeface="Calibri" pitchFamily="34" charset="0"/>
                <a:ea typeface="Calibri" pitchFamily="34" charset="-122"/>
                <a:cs typeface="Calibri" pitchFamily="34" charset="-120"/>
              </a:rPr>
              <a:t>直近16件FIFOで巡回汚染回避</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BLE · PROTOCOL</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HPP v1.2 — 自作パケット設計</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12</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572768"/>
            <a:ext cx="11064240" cy="1417320"/>
          </a:xfrm>
          <a:prstGeom prst="roundRect">
            <a:avLst>
              <a:gd name="adj" fmla="val 5806"/>
            </a:avLst>
          </a:prstGeom>
          <a:solidFill>
            <a:srgbClr val="FFFFFF"/>
          </a:solidFill>
          <a:ln w="12700">
            <a:solidFill>
              <a:srgbClr val="DADFDC"/>
            </a:solidFill>
            <a:prstDash val="solid"/>
          </a:ln>
          <a:effectLst>
            <a:outerShdw sx="100000" sy="100000" kx="0" ky="0" algn="bl" rotWithShape="0" blurRad="101600" dist="38100" dir="5400000">
              <a:srgbClr val="9AA5A0">
                <a:alpha val="28000"/>
              </a:srgbClr>
            </a:outerShdw>
          </a:effectLst>
        </p:spPr>
      </p:sp>
      <p:sp>
        <p:nvSpPr>
          <p:cNvPr id="7" name="Text 5"/>
          <p:cNvSpPr/>
          <p:nvPr/>
        </p:nvSpPr>
        <p:spPr>
          <a:xfrm>
            <a:off x="795528" y="1682496"/>
            <a:ext cx="45720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フレーム構造</a:t>
            </a:r>
            <a:endParaRPr lang="en-US" sz="1300" dirty="0"/>
          </a:p>
        </p:txBody>
      </p:sp>
      <p:sp>
        <p:nvSpPr>
          <p:cNvPr id="8" name="Shape 6"/>
          <p:cNvSpPr/>
          <p:nvPr/>
        </p:nvSpPr>
        <p:spPr>
          <a:xfrm>
            <a:off x="841248" y="2057400"/>
            <a:ext cx="822960" cy="658368"/>
          </a:xfrm>
          <a:prstGeom prst="rect">
            <a:avLst/>
          </a:prstGeom>
          <a:solidFill>
            <a:srgbClr val="D9EBE7"/>
          </a:solidFill>
          <a:ln w="12700">
            <a:solidFill>
              <a:srgbClr val="4FB8A5"/>
            </a:solidFill>
            <a:prstDash val="solid"/>
          </a:ln>
        </p:spPr>
      </p:sp>
      <p:sp>
        <p:nvSpPr>
          <p:cNvPr id="9" name="Text 7"/>
          <p:cNvSpPr/>
          <p:nvPr/>
        </p:nvSpPr>
        <p:spPr>
          <a:xfrm>
            <a:off x="841248" y="2103120"/>
            <a:ext cx="822960" cy="329184"/>
          </a:xfrm>
          <a:prstGeom prst="rect">
            <a:avLst/>
          </a:prstGeom>
          <a:noFill/>
          <a:ln/>
        </p:spPr>
        <p:txBody>
          <a:bodyPr wrap="square" rtlCol="0" anchor="ctr"/>
          <a:lstStyle/>
          <a:p>
            <a:pPr algn="ctr" indent="0" marL="0">
              <a:buNone/>
            </a:pPr>
            <a:r>
              <a:rPr lang="en-US" sz="1150" b="1" dirty="0">
                <a:solidFill>
                  <a:srgbClr val="12766B"/>
                </a:solidFill>
                <a:latin typeface="Calibri" pitchFamily="34" charset="0"/>
                <a:ea typeface="Calibri" pitchFamily="34" charset="-122"/>
                <a:cs typeface="Calibri" pitchFamily="34" charset="-120"/>
              </a:rPr>
              <a:t>SOF</a:t>
            </a:r>
            <a:endParaRPr lang="en-US" sz="1150" dirty="0"/>
          </a:p>
        </p:txBody>
      </p:sp>
      <p:sp>
        <p:nvSpPr>
          <p:cNvPr id="10" name="Text 8"/>
          <p:cNvSpPr/>
          <p:nvPr/>
        </p:nvSpPr>
        <p:spPr>
          <a:xfrm>
            <a:off x="841248" y="2395728"/>
            <a:ext cx="822960" cy="274320"/>
          </a:xfrm>
          <a:prstGeom prst="rect">
            <a:avLst/>
          </a:prstGeom>
          <a:noFill/>
          <a:ln/>
        </p:spPr>
        <p:txBody>
          <a:bodyPr wrap="square" rtlCol="0" anchor="ctr"/>
          <a:lstStyle/>
          <a:p>
            <a:pPr algn="ctr" indent="0" marL="0">
              <a:buNone/>
            </a:pPr>
            <a:r>
              <a:rPr lang="en-US" sz="1000" dirty="0">
                <a:solidFill>
                  <a:srgbClr val="5B6763"/>
                </a:solidFill>
                <a:latin typeface="Calibri" pitchFamily="34" charset="0"/>
                <a:ea typeface="Calibri" pitchFamily="34" charset="-122"/>
                <a:cs typeface="Calibri" pitchFamily="34" charset="-120"/>
              </a:rPr>
              <a:t>0xA5</a:t>
            </a:r>
            <a:endParaRPr lang="en-US" sz="1000" dirty="0"/>
          </a:p>
        </p:txBody>
      </p:sp>
      <p:sp>
        <p:nvSpPr>
          <p:cNvPr id="11" name="Shape 9"/>
          <p:cNvSpPr/>
          <p:nvPr/>
        </p:nvSpPr>
        <p:spPr>
          <a:xfrm>
            <a:off x="1709928" y="2057400"/>
            <a:ext cx="731520" cy="658368"/>
          </a:xfrm>
          <a:prstGeom prst="rect">
            <a:avLst/>
          </a:prstGeom>
          <a:solidFill>
            <a:srgbClr val="D9EBE7"/>
          </a:solidFill>
          <a:ln w="12700">
            <a:solidFill>
              <a:srgbClr val="4FB8A5"/>
            </a:solidFill>
            <a:prstDash val="solid"/>
          </a:ln>
        </p:spPr>
      </p:sp>
      <p:sp>
        <p:nvSpPr>
          <p:cNvPr id="12" name="Text 10"/>
          <p:cNvSpPr/>
          <p:nvPr/>
        </p:nvSpPr>
        <p:spPr>
          <a:xfrm>
            <a:off x="1709928" y="2103120"/>
            <a:ext cx="731520" cy="329184"/>
          </a:xfrm>
          <a:prstGeom prst="rect">
            <a:avLst/>
          </a:prstGeom>
          <a:noFill/>
          <a:ln/>
        </p:spPr>
        <p:txBody>
          <a:bodyPr wrap="square" rtlCol="0" anchor="ctr"/>
          <a:lstStyle/>
          <a:p>
            <a:pPr algn="ctr" indent="0" marL="0">
              <a:buNone/>
            </a:pPr>
            <a:r>
              <a:rPr lang="en-US" sz="1150" b="1" dirty="0">
                <a:solidFill>
                  <a:srgbClr val="12766B"/>
                </a:solidFill>
                <a:latin typeface="Calibri" pitchFamily="34" charset="0"/>
                <a:ea typeface="Calibri" pitchFamily="34" charset="-122"/>
                <a:cs typeface="Calibri" pitchFamily="34" charset="-120"/>
              </a:rPr>
              <a:t>VER</a:t>
            </a:r>
            <a:endParaRPr lang="en-US" sz="1150" dirty="0"/>
          </a:p>
        </p:txBody>
      </p:sp>
      <p:sp>
        <p:nvSpPr>
          <p:cNvPr id="13" name="Text 11"/>
          <p:cNvSpPr/>
          <p:nvPr/>
        </p:nvSpPr>
        <p:spPr>
          <a:xfrm>
            <a:off x="1709928" y="2395728"/>
            <a:ext cx="731520" cy="274320"/>
          </a:xfrm>
          <a:prstGeom prst="rect">
            <a:avLst/>
          </a:prstGeom>
          <a:noFill/>
          <a:ln/>
        </p:spPr>
        <p:txBody>
          <a:bodyPr wrap="square" rtlCol="0" anchor="ctr"/>
          <a:lstStyle/>
          <a:p>
            <a:pPr algn="ctr" indent="0" marL="0">
              <a:buNone/>
            </a:pPr>
            <a:r>
              <a:rPr lang="en-US" sz="1000" dirty="0">
                <a:solidFill>
                  <a:srgbClr val="5B6763"/>
                </a:solidFill>
                <a:latin typeface="Calibri" pitchFamily="34" charset="0"/>
                <a:ea typeface="Calibri" pitchFamily="34" charset="-122"/>
                <a:cs typeface="Calibri" pitchFamily="34" charset="-120"/>
              </a:rPr>
              <a:t>1B</a:t>
            </a:r>
            <a:endParaRPr lang="en-US" sz="1000" dirty="0"/>
          </a:p>
        </p:txBody>
      </p:sp>
      <p:sp>
        <p:nvSpPr>
          <p:cNvPr id="14" name="Shape 12"/>
          <p:cNvSpPr/>
          <p:nvPr/>
        </p:nvSpPr>
        <p:spPr>
          <a:xfrm>
            <a:off x="2487168" y="2057400"/>
            <a:ext cx="868680" cy="658368"/>
          </a:xfrm>
          <a:prstGeom prst="rect">
            <a:avLst/>
          </a:prstGeom>
          <a:solidFill>
            <a:srgbClr val="D9EBE7"/>
          </a:solidFill>
          <a:ln w="12700">
            <a:solidFill>
              <a:srgbClr val="4FB8A5"/>
            </a:solidFill>
            <a:prstDash val="solid"/>
          </a:ln>
        </p:spPr>
      </p:sp>
      <p:sp>
        <p:nvSpPr>
          <p:cNvPr id="15" name="Text 13"/>
          <p:cNvSpPr/>
          <p:nvPr/>
        </p:nvSpPr>
        <p:spPr>
          <a:xfrm>
            <a:off x="2487168" y="2103120"/>
            <a:ext cx="868680" cy="329184"/>
          </a:xfrm>
          <a:prstGeom prst="rect">
            <a:avLst/>
          </a:prstGeom>
          <a:noFill/>
          <a:ln/>
        </p:spPr>
        <p:txBody>
          <a:bodyPr wrap="square" rtlCol="0" anchor="ctr"/>
          <a:lstStyle/>
          <a:p>
            <a:pPr algn="ctr" indent="0" marL="0">
              <a:buNone/>
            </a:pPr>
            <a:r>
              <a:rPr lang="en-US" sz="1150" b="1" dirty="0">
                <a:solidFill>
                  <a:srgbClr val="12766B"/>
                </a:solidFill>
                <a:latin typeface="Calibri" pitchFamily="34" charset="0"/>
                <a:ea typeface="Calibri" pitchFamily="34" charset="-122"/>
                <a:cs typeface="Calibri" pitchFamily="34" charset="-120"/>
              </a:rPr>
              <a:t>TYPE</a:t>
            </a:r>
            <a:endParaRPr lang="en-US" sz="1150" dirty="0"/>
          </a:p>
        </p:txBody>
      </p:sp>
      <p:sp>
        <p:nvSpPr>
          <p:cNvPr id="16" name="Text 14"/>
          <p:cNvSpPr/>
          <p:nvPr/>
        </p:nvSpPr>
        <p:spPr>
          <a:xfrm>
            <a:off x="2487168" y="2395728"/>
            <a:ext cx="868680" cy="274320"/>
          </a:xfrm>
          <a:prstGeom prst="rect">
            <a:avLst/>
          </a:prstGeom>
          <a:noFill/>
          <a:ln/>
        </p:spPr>
        <p:txBody>
          <a:bodyPr wrap="square" rtlCol="0" anchor="ctr"/>
          <a:lstStyle/>
          <a:p>
            <a:pPr algn="ctr" indent="0" marL="0">
              <a:buNone/>
            </a:pPr>
            <a:r>
              <a:rPr lang="en-US" sz="1000" dirty="0">
                <a:solidFill>
                  <a:srgbClr val="5B6763"/>
                </a:solidFill>
                <a:latin typeface="Calibri" pitchFamily="34" charset="0"/>
                <a:ea typeface="Calibri" pitchFamily="34" charset="-122"/>
                <a:cs typeface="Calibri" pitchFamily="34" charset="-120"/>
              </a:rPr>
              <a:t>1B</a:t>
            </a:r>
            <a:endParaRPr lang="en-US" sz="1000" dirty="0"/>
          </a:p>
        </p:txBody>
      </p:sp>
      <p:sp>
        <p:nvSpPr>
          <p:cNvPr id="17" name="Shape 15"/>
          <p:cNvSpPr/>
          <p:nvPr/>
        </p:nvSpPr>
        <p:spPr>
          <a:xfrm>
            <a:off x="3401568" y="2057400"/>
            <a:ext cx="822960" cy="658368"/>
          </a:xfrm>
          <a:prstGeom prst="rect">
            <a:avLst/>
          </a:prstGeom>
          <a:solidFill>
            <a:srgbClr val="D9EBE7"/>
          </a:solidFill>
          <a:ln w="12700">
            <a:solidFill>
              <a:srgbClr val="4FB8A5"/>
            </a:solidFill>
            <a:prstDash val="solid"/>
          </a:ln>
        </p:spPr>
      </p:sp>
      <p:sp>
        <p:nvSpPr>
          <p:cNvPr id="18" name="Text 16"/>
          <p:cNvSpPr/>
          <p:nvPr/>
        </p:nvSpPr>
        <p:spPr>
          <a:xfrm>
            <a:off x="3401568" y="2103120"/>
            <a:ext cx="822960" cy="329184"/>
          </a:xfrm>
          <a:prstGeom prst="rect">
            <a:avLst/>
          </a:prstGeom>
          <a:noFill/>
          <a:ln/>
        </p:spPr>
        <p:txBody>
          <a:bodyPr wrap="square" rtlCol="0" anchor="ctr"/>
          <a:lstStyle/>
          <a:p>
            <a:pPr algn="ctr" indent="0" marL="0">
              <a:buNone/>
            </a:pPr>
            <a:r>
              <a:rPr lang="en-US" sz="1150" b="1" dirty="0">
                <a:solidFill>
                  <a:srgbClr val="12766B"/>
                </a:solidFill>
                <a:latin typeface="Calibri" pitchFamily="34" charset="0"/>
                <a:ea typeface="Calibri" pitchFamily="34" charset="-122"/>
                <a:cs typeface="Calibri" pitchFamily="34" charset="-120"/>
              </a:rPr>
              <a:t>SEQ</a:t>
            </a:r>
            <a:endParaRPr lang="en-US" sz="1150" dirty="0"/>
          </a:p>
        </p:txBody>
      </p:sp>
      <p:sp>
        <p:nvSpPr>
          <p:cNvPr id="19" name="Text 17"/>
          <p:cNvSpPr/>
          <p:nvPr/>
        </p:nvSpPr>
        <p:spPr>
          <a:xfrm>
            <a:off x="3401568" y="2395728"/>
            <a:ext cx="822960" cy="274320"/>
          </a:xfrm>
          <a:prstGeom prst="rect">
            <a:avLst/>
          </a:prstGeom>
          <a:noFill/>
          <a:ln/>
        </p:spPr>
        <p:txBody>
          <a:bodyPr wrap="square" rtlCol="0" anchor="ctr"/>
          <a:lstStyle/>
          <a:p>
            <a:pPr algn="ctr" indent="0" marL="0">
              <a:buNone/>
            </a:pPr>
            <a:r>
              <a:rPr lang="en-US" sz="1000" dirty="0">
                <a:solidFill>
                  <a:srgbClr val="5B6763"/>
                </a:solidFill>
                <a:latin typeface="Calibri" pitchFamily="34" charset="0"/>
                <a:ea typeface="Calibri" pitchFamily="34" charset="-122"/>
                <a:cs typeface="Calibri" pitchFamily="34" charset="-120"/>
              </a:rPr>
              <a:t>1B</a:t>
            </a:r>
            <a:endParaRPr lang="en-US" sz="1000" dirty="0"/>
          </a:p>
        </p:txBody>
      </p:sp>
      <p:sp>
        <p:nvSpPr>
          <p:cNvPr id="20" name="Shape 18"/>
          <p:cNvSpPr/>
          <p:nvPr/>
        </p:nvSpPr>
        <p:spPr>
          <a:xfrm>
            <a:off x="4270248" y="2057400"/>
            <a:ext cx="777240" cy="658368"/>
          </a:xfrm>
          <a:prstGeom prst="rect">
            <a:avLst/>
          </a:prstGeom>
          <a:solidFill>
            <a:srgbClr val="D9EBE7"/>
          </a:solidFill>
          <a:ln w="12700">
            <a:solidFill>
              <a:srgbClr val="4FB8A5"/>
            </a:solidFill>
            <a:prstDash val="solid"/>
          </a:ln>
        </p:spPr>
      </p:sp>
      <p:sp>
        <p:nvSpPr>
          <p:cNvPr id="21" name="Text 19"/>
          <p:cNvSpPr/>
          <p:nvPr/>
        </p:nvSpPr>
        <p:spPr>
          <a:xfrm>
            <a:off x="4270248" y="2103120"/>
            <a:ext cx="777240" cy="329184"/>
          </a:xfrm>
          <a:prstGeom prst="rect">
            <a:avLst/>
          </a:prstGeom>
          <a:noFill/>
          <a:ln/>
        </p:spPr>
        <p:txBody>
          <a:bodyPr wrap="square" rtlCol="0" anchor="ctr"/>
          <a:lstStyle/>
          <a:p>
            <a:pPr algn="ctr" indent="0" marL="0">
              <a:buNone/>
            </a:pPr>
            <a:r>
              <a:rPr lang="en-US" sz="1150" b="1" dirty="0">
                <a:solidFill>
                  <a:srgbClr val="12766B"/>
                </a:solidFill>
                <a:latin typeface="Calibri" pitchFamily="34" charset="0"/>
                <a:ea typeface="Calibri" pitchFamily="34" charset="-122"/>
                <a:cs typeface="Calibri" pitchFamily="34" charset="-120"/>
              </a:rPr>
              <a:t>LEN</a:t>
            </a:r>
            <a:endParaRPr lang="en-US" sz="1150" dirty="0"/>
          </a:p>
        </p:txBody>
      </p:sp>
      <p:sp>
        <p:nvSpPr>
          <p:cNvPr id="22" name="Text 20"/>
          <p:cNvSpPr/>
          <p:nvPr/>
        </p:nvSpPr>
        <p:spPr>
          <a:xfrm>
            <a:off x="4270248" y="2395728"/>
            <a:ext cx="777240" cy="274320"/>
          </a:xfrm>
          <a:prstGeom prst="rect">
            <a:avLst/>
          </a:prstGeom>
          <a:noFill/>
          <a:ln/>
        </p:spPr>
        <p:txBody>
          <a:bodyPr wrap="square" rtlCol="0" anchor="ctr"/>
          <a:lstStyle/>
          <a:p>
            <a:pPr algn="ctr" indent="0" marL="0">
              <a:buNone/>
            </a:pPr>
            <a:r>
              <a:rPr lang="en-US" sz="1000" dirty="0">
                <a:solidFill>
                  <a:srgbClr val="5B6763"/>
                </a:solidFill>
                <a:latin typeface="Calibri" pitchFamily="34" charset="0"/>
                <a:ea typeface="Calibri" pitchFamily="34" charset="-122"/>
                <a:cs typeface="Calibri" pitchFamily="34" charset="-120"/>
              </a:rPr>
              <a:t>1B</a:t>
            </a:r>
            <a:endParaRPr lang="en-US" sz="1000" dirty="0"/>
          </a:p>
        </p:txBody>
      </p:sp>
      <p:sp>
        <p:nvSpPr>
          <p:cNvPr id="23" name="Shape 21"/>
          <p:cNvSpPr/>
          <p:nvPr/>
        </p:nvSpPr>
        <p:spPr>
          <a:xfrm>
            <a:off x="5093208" y="2057400"/>
            <a:ext cx="4572000" cy="658368"/>
          </a:xfrm>
          <a:prstGeom prst="rect">
            <a:avLst/>
          </a:prstGeom>
          <a:solidFill>
            <a:srgbClr val="12766B"/>
          </a:solidFill>
          <a:ln w="12700">
            <a:solidFill>
              <a:srgbClr val="4FB8A5"/>
            </a:solidFill>
            <a:prstDash val="solid"/>
          </a:ln>
        </p:spPr>
      </p:sp>
      <p:sp>
        <p:nvSpPr>
          <p:cNvPr id="24" name="Text 22"/>
          <p:cNvSpPr/>
          <p:nvPr/>
        </p:nvSpPr>
        <p:spPr>
          <a:xfrm>
            <a:off x="5093208" y="2103120"/>
            <a:ext cx="4572000" cy="329184"/>
          </a:xfrm>
          <a:prstGeom prst="rect">
            <a:avLst/>
          </a:prstGeom>
          <a:noFill/>
          <a:ln/>
        </p:spPr>
        <p:txBody>
          <a:bodyPr wrap="square"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PAYLOAD</a:t>
            </a:r>
            <a:endParaRPr lang="en-US" sz="1150" dirty="0"/>
          </a:p>
        </p:txBody>
      </p:sp>
      <p:sp>
        <p:nvSpPr>
          <p:cNvPr id="25" name="Text 23"/>
          <p:cNvSpPr/>
          <p:nvPr/>
        </p:nvSpPr>
        <p:spPr>
          <a:xfrm>
            <a:off x="5093208" y="2395728"/>
            <a:ext cx="4572000" cy="274320"/>
          </a:xfrm>
          <a:prstGeom prst="rect">
            <a:avLst/>
          </a:prstGeom>
          <a:noFill/>
          <a:ln/>
        </p:spPr>
        <p:txBody>
          <a:bodyPr wrap="square" rtlCol="0" anchor="ctr"/>
          <a:lstStyle/>
          <a:p>
            <a:pPr algn="ctr" indent="0" marL="0">
              <a:buNone/>
            </a:pPr>
            <a:r>
              <a:rPr lang="en-US" sz="1000" dirty="0">
                <a:solidFill>
                  <a:srgbClr val="CFE7E1"/>
                </a:solidFill>
                <a:latin typeface="Calibri" pitchFamily="34" charset="0"/>
                <a:ea typeface="Calibri" pitchFamily="34" charset="-122"/>
                <a:cs typeface="Calibri" pitchFamily="34" charset="-120"/>
              </a:rPr>
              <a:t>≤48B</a:t>
            </a:r>
            <a:endParaRPr lang="en-US" sz="1000" dirty="0"/>
          </a:p>
        </p:txBody>
      </p:sp>
      <p:sp>
        <p:nvSpPr>
          <p:cNvPr id="26" name="Shape 24"/>
          <p:cNvSpPr/>
          <p:nvPr/>
        </p:nvSpPr>
        <p:spPr>
          <a:xfrm>
            <a:off x="9710928" y="2057400"/>
            <a:ext cx="1371600" cy="658368"/>
          </a:xfrm>
          <a:prstGeom prst="rect">
            <a:avLst/>
          </a:prstGeom>
          <a:solidFill>
            <a:srgbClr val="D9EBE7"/>
          </a:solidFill>
          <a:ln w="12700">
            <a:solidFill>
              <a:srgbClr val="4FB8A5"/>
            </a:solidFill>
            <a:prstDash val="solid"/>
          </a:ln>
        </p:spPr>
      </p:sp>
      <p:sp>
        <p:nvSpPr>
          <p:cNvPr id="27" name="Text 25"/>
          <p:cNvSpPr/>
          <p:nvPr/>
        </p:nvSpPr>
        <p:spPr>
          <a:xfrm>
            <a:off x="9710928" y="2103120"/>
            <a:ext cx="1371600" cy="329184"/>
          </a:xfrm>
          <a:prstGeom prst="rect">
            <a:avLst/>
          </a:prstGeom>
          <a:noFill/>
          <a:ln/>
        </p:spPr>
        <p:txBody>
          <a:bodyPr wrap="square" rtlCol="0" anchor="ctr"/>
          <a:lstStyle/>
          <a:p>
            <a:pPr algn="ctr" indent="0" marL="0">
              <a:buNone/>
            </a:pPr>
            <a:r>
              <a:rPr lang="en-US" sz="1150" b="1" dirty="0">
                <a:solidFill>
                  <a:srgbClr val="12766B"/>
                </a:solidFill>
                <a:latin typeface="Calibri" pitchFamily="34" charset="0"/>
                <a:ea typeface="Calibri" pitchFamily="34" charset="-122"/>
                <a:cs typeface="Calibri" pitchFamily="34" charset="-120"/>
              </a:rPr>
              <a:t>CRC16</a:t>
            </a:r>
            <a:endParaRPr lang="en-US" sz="1150" dirty="0"/>
          </a:p>
        </p:txBody>
      </p:sp>
      <p:sp>
        <p:nvSpPr>
          <p:cNvPr id="28" name="Text 26"/>
          <p:cNvSpPr/>
          <p:nvPr/>
        </p:nvSpPr>
        <p:spPr>
          <a:xfrm>
            <a:off x="9710928" y="2395728"/>
            <a:ext cx="1371600" cy="274320"/>
          </a:xfrm>
          <a:prstGeom prst="rect">
            <a:avLst/>
          </a:prstGeom>
          <a:noFill/>
          <a:ln/>
        </p:spPr>
        <p:txBody>
          <a:bodyPr wrap="square" rtlCol="0" anchor="ctr"/>
          <a:lstStyle/>
          <a:p>
            <a:pPr algn="ctr" indent="0" marL="0">
              <a:buNone/>
            </a:pPr>
            <a:r>
              <a:rPr lang="en-US" sz="1000" dirty="0">
                <a:solidFill>
                  <a:srgbClr val="5B6763"/>
                </a:solidFill>
                <a:latin typeface="Calibri" pitchFamily="34" charset="0"/>
                <a:ea typeface="Calibri" pitchFamily="34" charset="-122"/>
                <a:cs typeface="Calibri" pitchFamily="34" charset="-120"/>
              </a:rPr>
              <a:t>2B / BE</a:t>
            </a:r>
            <a:endParaRPr lang="en-US" sz="1000" dirty="0"/>
          </a:p>
        </p:txBody>
      </p:sp>
      <p:sp>
        <p:nvSpPr>
          <p:cNvPr id="29" name="Shape 27"/>
          <p:cNvSpPr/>
          <p:nvPr/>
        </p:nvSpPr>
        <p:spPr>
          <a:xfrm>
            <a:off x="566928" y="3154680"/>
            <a:ext cx="5440680" cy="3108960"/>
          </a:xfrm>
          <a:prstGeom prst="roundRect">
            <a:avLst>
              <a:gd name="adj" fmla="val 2647"/>
            </a:avLst>
          </a:prstGeom>
          <a:solidFill>
            <a:srgbClr val="FFFFFF"/>
          </a:solidFill>
          <a:ln w="12700">
            <a:solidFill>
              <a:srgbClr val="DADFDC"/>
            </a:solidFill>
            <a:prstDash val="solid"/>
          </a:ln>
        </p:spPr>
      </p:sp>
      <p:sp>
        <p:nvSpPr>
          <p:cNvPr id="30" name="Text 28"/>
          <p:cNvSpPr/>
          <p:nvPr/>
        </p:nvSpPr>
        <p:spPr>
          <a:xfrm>
            <a:off x="795528" y="3264408"/>
            <a:ext cx="45720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主なメッセージ型</a:t>
            </a:r>
            <a:endParaRPr lang="en-US" sz="1300" dirty="0"/>
          </a:p>
        </p:txBody>
      </p:sp>
      <p:sp>
        <p:nvSpPr>
          <p:cNvPr id="31" name="Text 29"/>
          <p:cNvSpPr/>
          <p:nvPr/>
        </p:nvSpPr>
        <p:spPr>
          <a:xfrm>
            <a:off x="795528" y="3611880"/>
            <a:ext cx="822960" cy="274320"/>
          </a:xfrm>
          <a:prstGeom prst="rect">
            <a:avLst/>
          </a:prstGeom>
          <a:noFill/>
          <a:ln/>
        </p:spPr>
        <p:txBody>
          <a:bodyPr wrap="square" rtlCol="0" anchor="ctr"/>
          <a:lstStyle/>
          <a:p>
            <a:pPr indent="0" marL="0">
              <a:buNone/>
            </a:pPr>
            <a:r>
              <a:rPr lang="en-US" sz="1100" b="1" dirty="0">
                <a:solidFill>
                  <a:srgbClr val="12766B"/>
                </a:solidFill>
                <a:latin typeface="Courier New" pitchFamily="34" charset="0"/>
                <a:ea typeface="Courier New" pitchFamily="34" charset="-122"/>
                <a:cs typeface="Courier New" pitchFamily="34" charset="-120"/>
              </a:rPr>
              <a:t>0x0A</a:t>
            </a:r>
            <a:endParaRPr lang="en-US" sz="1100" dirty="0"/>
          </a:p>
        </p:txBody>
      </p:sp>
      <p:sp>
        <p:nvSpPr>
          <p:cNvPr id="32" name="Text 30"/>
          <p:cNvSpPr/>
          <p:nvPr/>
        </p:nvSpPr>
        <p:spPr>
          <a:xfrm>
            <a:off x="1664208" y="3611880"/>
            <a:ext cx="2011680" cy="274320"/>
          </a:xfrm>
          <a:prstGeom prst="rect">
            <a:avLst/>
          </a:prstGeom>
          <a:noFill/>
          <a:ln/>
        </p:spPr>
        <p:txBody>
          <a:bodyPr wrap="square" rtlCol="0" anchor="ctr"/>
          <a:lstStyle/>
          <a:p>
            <a:pPr indent="0" marL="0">
              <a:buNone/>
            </a:pPr>
            <a:r>
              <a:rPr lang="en-US" sz="1100" dirty="0">
                <a:solidFill>
                  <a:srgbClr val="1C1C1E"/>
                </a:solidFill>
                <a:latin typeface="Courier New" pitchFamily="34" charset="0"/>
                <a:ea typeface="Courier New" pitchFamily="34" charset="-122"/>
                <a:cs typeface="Courier New" pitchFamily="34" charset="-120"/>
              </a:rPr>
              <a:t>CMD_BREATH</a:t>
            </a:r>
            <a:endParaRPr lang="en-US" sz="1100" dirty="0"/>
          </a:p>
        </p:txBody>
      </p:sp>
      <p:sp>
        <p:nvSpPr>
          <p:cNvPr id="33" name="Text 31"/>
          <p:cNvSpPr/>
          <p:nvPr/>
        </p:nvSpPr>
        <p:spPr>
          <a:xfrm>
            <a:off x="3675888" y="3611880"/>
            <a:ext cx="2286000" cy="274320"/>
          </a:xfrm>
          <a:prstGeom prst="rect">
            <a:avLst/>
          </a:prstGeom>
          <a:noFill/>
          <a:ln/>
        </p:spPr>
        <p:txBody>
          <a:bodyPr wrap="square" rtlCol="0" anchor="ctr"/>
          <a:lstStyle/>
          <a:p>
            <a:pPr indent="0" marL="0">
              <a:buNone/>
            </a:pPr>
            <a:r>
              <a:rPr lang="en-US" sz="1100" dirty="0">
                <a:solidFill>
                  <a:srgbClr val="5B6763"/>
                </a:solidFill>
                <a:latin typeface="Calibri" pitchFamily="34" charset="0"/>
                <a:ea typeface="Calibri" pitchFamily="34" charset="-122"/>
                <a:cs typeface="Calibri" pitchFamily="34" charset="-120"/>
              </a:rPr>
              <a:t>呼気セッション開始</a:t>
            </a:r>
            <a:endParaRPr lang="en-US" sz="1100" dirty="0"/>
          </a:p>
        </p:txBody>
      </p:sp>
      <p:sp>
        <p:nvSpPr>
          <p:cNvPr id="34" name="Text 32"/>
          <p:cNvSpPr/>
          <p:nvPr/>
        </p:nvSpPr>
        <p:spPr>
          <a:xfrm>
            <a:off x="795528" y="4114800"/>
            <a:ext cx="822960" cy="274320"/>
          </a:xfrm>
          <a:prstGeom prst="rect">
            <a:avLst/>
          </a:prstGeom>
          <a:noFill/>
          <a:ln/>
        </p:spPr>
        <p:txBody>
          <a:bodyPr wrap="square" rtlCol="0" anchor="ctr"/>
          <a:lstStyle/>
          <a:p>
            <a:pPr indent="0" marL="0">
              <a:buNone/>
            </a:pPr>
            <a:r>
              <a:rPr lang="en-US" sz="1100" b="1" dirty="0">
                <a:solidFill>
                  <a:srgbClr val="12766B"/>
                </a:solidFill>
                <a:latin typeface="Courier New" pitchFamily="34" charset="0"/>
                <a:ea typeface="Courier New" pitchFamily="34" charset="-122"/>
                <a:cs typeface="Courier New" pitchFamily="34" charset="-120"/>
              </a:rPr>
              <a:t>0x09</a:t>
            </a:r>
            <a:endParaRPr lang="en-US" sz="1100" dirty="0"/>
          </a:p>
        </p:txBody>
      </p:sp>
      <p:sp>
        <p:nvSpPr>
          <p:cNvPr id="35" name="Text 33"/>
          <p:cNvSpPr/>
          <p:nvPr/>
        </p:nvSpPr>
        <p:spPr>
          <a:xfrm>
            <a:off x="1664208" y="4114800"/>
            <a:ext cx="2011680" cy="274320"/>
          </a:xfrm>
          <a:prstGeom prst="rect">
            <a:avLst/>
          </a:prstGeom>
          <a:noFill/>
          <a:ln/>
        </p:spPr>
        <p:txBody>
          <a:bodyPr wrap="square" rtlCol="0" anchor="ctr"/>
          <a:lstStyle/>
          <a:p>
            <a:pPr indent="0" marL="0">
              <a:buNone/>
            </a:pPr>
            <a:r>
              <a:rPr lang="en-US" sz="1100" dirty="0">
                <a:solidFill>
                  <a:srgbClr val="1C1C1E"/>
                </a:solidFill>
                <a:latin typeface="Courier New" pitchFamily="34" charset="0"/>
                <a:ea typeface="Courier New" pitchFamily="34" charset="-122"/>
                <a:cs typeface="Courier New" pitchFamily="34" charset="-120"/>
              </a:rPr>
              <a:t>CMD_ACK_EVT</a:t>
            </a:r>
            <a:endParaRPr lang="en-US" sz="1100" dirty="0"/>
          </a:p>
        </p:txBody>
      </p:sp>
      <p:sp>
        <p:nvSpPr>
          <p:cNvPr id="36" name="Text 34"/>
          <p:cNvSpPr/>
          <p:nvPr/>
        </p:nvSpPr>
        <p:spPr>
          <a:xfrm>
            <a:off x="3675888" y="4114800"/>
            <a:ext cx="2286000" cy="274320"/>
          </a:xfrm>
          <a:prstGeom prst="rect">
            <a:avLst/>
          </a:prstGeom>
          <a:noFill/>
          <a:ln/>
        </p:spPr>
        <p:txBody>
          <a:bodyPr wrap="square" rtlCol="0" anchor="ctr"/>
          <a:lstStyle/>
          <a:p>
            <a:pPr indent="0" marL="0">
              <a:buNone/>
            </a:pPr>
            <a:r>
              <a:rPr lang="en-US" sz="1100" dirty="0">
                <a:solidFill>
                  <a:srgbClr val="5B6763"/>
                </a:solidFill>
                <a:latin typeface="Calibri" pitchFamily="34" charset="0"/>
                <a:ea typeface="Calibri" pitchFamily="34" charset="-122"/>
                <a:cs typeface="Calibri" pitchFamily="34" charset="-120"/>
              </a:rPr>
              <a:t>信頼配送の受領ACK</a:t>
            </a:r>
            <a:endParaRPr lang="en-US" sz="1100" dirty="0"/>
          </a:p>
        </p:txBody>
      </p:sp>
      <p:sp>
        <p:nvSpPr>
          <p:cNvPr id="37" name="Text 35"/>
          <p:cNvSpPr/>
          <p:nvPr/>
        </p:nvSpPr>
        <p:spPr>
          <a:xfrm>
            <a:off x="795528" y="4617720"/>
            <a:ext cx="822960" cy="274320"/>
          </a:xfrm>
          <a:prstGeom prst="rect">
            <a:avLst/>
          </a:prstGeom>
          <a:noFill/>
          <a:ln/>
        </p:spPr>
        <p:txBody>
          <a:bodyPr wrap="square" rtlCol="0" anchor="ctr"/>
          <a:lstStyle/>
          <a:p>
            <a:pPr indent="0" marL="0">
              <a:buNone/>
            </a:pPr>
            <a:r>
              <a:rPr lang="en-US" sz="1100" b="1" dirty="0">
                <a:solidFill>
                  <a:srgbClr val="12766B"/>
                </a:solidFill>
                <a:latin typeface="Courier New" pitchFamily="34" charset="0"/>
                <a:ea typeface="Courier New" pitchFamily="34" charset="-122"/>
                <a:cs typeface="Courier New" pitchFamily="34" charset="-120"/>
              </a:rPr>
              <a:t>0x86</a:t>
            </a:r>
            <a:endParaRPr lang="en-US" sz="1100" dirty="0"/>
          </a:p>
        </p:txBody>
      </p:sp>
      <p:sp>
        <p:nvSpPr>
          <p:cNvPr id="38" name="Text 36"/>
          <p:cNvSpPr/>
          <p:nvPr/>
        </p:nvSpPr>
        <p:spPr>
          <a:xfrm>
            <a:off x="1664208" y="4617720"/>
            <a:ext cx="2011680" cy="274320"/>
          </a:xfrm>
          <a:prstGeom prst="rect">
            <a:avLst/>
          </a:prstGeom>
          <a:noFill/>
          <a:ln/>
        </p:spPr>
        <p:txBody>
          <a:bodyPr wrap="square" rtlCol="0" anchor="ctr"/>
          <a:lstStyle/>
          <a:p>
            <a:pPr indent="0" marL="0">
              <a:buNone/>
            </a:pPr>
            <a:r>
              <a:rPr lang="en-US" sz="1100" dirty="0">
                <a:solidFill>
                  <a:srgbClr val="1C1C1E"/>
                </a:solidFill>
                <a:latin typeface="Courier New" pitchFamily="34" charset="0"/>
                <a:ea typeface="Courier New" pitchFamily="34" charset="-122"/>
                <a:cs typeface="Courier New" pitchFamily="34" charset="-120"/>
              </a:rPr>
              <a:t>EVT_RESULT</a:t>
            </a:r>
            <a:endParaRPr lang="en-US" sz="1100" dirty="0"/>
          </a:p>
        </p:txBody>
      </p:sp>
      <p:sp>
        <p:nvSpPr>
          <p:cNvPr id="39" name="Text 37"/>
          <p:cNvSpPr/>
          <p:nvPr/>
        </p:nvSpPr>
        <p:spPr>
          <a:xfrm>
            <a:off x="3675888" y="4617720"/>
            <a:ext cx="2286000" cy="274320"/>
          </a:xfrm>
          <a:prstGeom prst="rect">
            <a:avLst/>
          </a:prstGeom>
          <a:noFill/>
          <a:ln/>
        </p:spPr>
        <p:txBody>
          <a:bodyPr wrap="square" rtlCol="0" anchor="ctr"/>
          <a:lstStyle/>
          <a:p>
            <a:pPr indent="0" marL="0">
              <a:buNone/>
            </a:pPr>
            <a:r>
              <a:rPr lang="en-US" sz="1100" dirty="0">
                <a:solidFill>
                  <a:srgbClr val="5B6763"/>
                </a:solidFill>
                <a:latin typeface="Calibri" pitchFamily="34" charset="0"/>
                <a:ea typeface="Calibri" pitchFamily="34" charset="-122"/>
                <a:cs typeface="Calibri" pitchFamily="34" charset="-120"/>
              </a:rPr>
              <a:t>呼気解析結果 30B</a:t>
            </a:r>
            <a:endParaRPr lang="en-US" sz="1100" dirty="0"/>
          </a:p>
        </p:txBody>
      </p:sp>
      <p:sp>
        <p:nvSpPr>
          <p:cNvPr id="40" name="Text 38"/>
          <p:cNvSpPr/>
          <p:nvPr/>
        </p:nvSpPr>
        <p:spPr>
          <a:xfrm>
            <a:off x="795528" y="5120640"/>
            <a:ext cx="822960" cy="274320"/>
          </a:xfrm>
          <a:prstGeom prst="rect">
            <a:avLst/>
          </a:prstGeom>
          <a:noFill/>
          <a:ln/>
        </p:spPr>
        <p:txBody>
          <a:bodyPr wrap="square" rtlCol="0" anchor="ctr"/>
          <a:lstStyle/>
          <a:p>
            <a:pPr indent="0" marL="0">
              <a:buNone/>
            </a:pPr>
            <a:r>
              <a:rPr lang="en-US" sz="1100" b="1" dirty="0">
                <a:solidFill>
                  <a:srgbClr val="12766B"/>
                </a:solidFill>
                <a:latin typeface="Courier New" pitchFamily="34" charset="0"/>
                <a:ea typeface="Courier New" pitchFamily="34" charset="-122"/>
                <a:cs typeface="Courier New" pitchFamily="34" charset="-120"/>
              </a:rPr>
              <a:t>0x87</a:t>
            </a:r>
            <a:endParaRPr lang="en-US" sz="1100" dirty="0"/>
          </a:p>
        </p:txBody>
      </p:sp>
      <p:sp>
        <p:nvSpPr>
          <p:cNvPr id="41" name="Text 39"/>
          <p:cNvSpPr/>
          <p:nvPr/>
        </p:nvSpPr>
        <p:spPr>
          <a:xfrm>
            <a:off x="1664208" y="5120640"/>
            <a:ext cx="2011680" cy="274320"/>
          </a:xfrm>
          <a:prstGeom prst="rect">
            <a:avLst/>
          </a:prstGeom>
          <a:noFill/>
          <a:ln/>
        </p:spPr>
        <p:txBody>
          <a:bodyPr wrap="square" rtlCol="0" anchor="ctr"/>
          <a:lstStyle/>
          <a:p>
            <a:pPr indent="0" marL="0">
              <a:buNone/>
            </a:pPr>
            <a:r>
              <a:rPr lang="en-US" sz="1100" dirty="0">
                <a:solidFill>
                  <a:srgbClr val="1C1C1E"/>
                </a:solidFill>
                <a:latin typeface="Courier New" pitchFamily="34" charset="0"/>
                <a:ea typeface="Courier New" pitchFamily="34" charset="-122"/>
                <a:cs typeface="Courier New" pitchFamily="34" charset="-120"/>
              </a:rPr>
              <a:t>EVT_PHASE</a:t>
            </a:r>
            <a:endParaRPr lang="en-US" sz="1100" dirty="0"/>
          </a:p>
        </p:txBody>
      </p:sp>
      <p:sp>
        <p:nvSpPr>
          <p:cNvPr id="42" name="Text 40"/>
          <p:cNvSpPr/>
          <p:nvPr/>
        </p:nvSpPr>
        <p:spPr>
          <a:xfrm>
            <a:off x="3675888" y="5120640"/>
            <a:ext cx="2286000" cy="274320"/>
          </a:xfrm>
          <a:prstGeom prst="rect">
            <a:avLst/>
          </a:prstGeom>
          <a:noFill/>
          <a:ln/>
        </p:spPr>
        <p:txBody>
          <a:bodyPr wrap="square" rtlCol="0" anchor="ctr"/>
          <a:lstStyle/>
          <a:p>
            <a:pPr indent="0" marL="0">
              <a:buNone/>
            </a:pPr>
            <a:r>
              <a:rPr lang="en-US" sz="1100" dirty="0">
                <a:solidFill>
                  <a:srgbClr val="5B6763"/>
                </a:solidFill>
                <a:latin typeface="Calibri" pitchFamily="34" charset="0"/>
                <a:ea typeface="Calibri" pitchFamily="34" charset="-122"/>
                <a:cs typeface="Calibri" pitchFamily="34" charset="-120"/>
              </a:rPr>
              <a:t>状態遷移の実況 2B</a:t>
            </a:r>
            <a:endParaRPr lang="en-US" sz="1100" dirty="0"/>
          </a:p>
        </p:txBody>
      </p:sp>
      <p:sp>
        <p:nvSpPr>
          <p:cNvPr id="43" name="Text 41"/>
          <p:cNvSpPr/>
          <p:nvPr/>
        </p:nvSpPr>
        <p:spPr>
          <a:xfrm>
            <a:off x="795528" y="5623560"/>
            <a:ext cx="822960" cy="274320"/>
          </a:xfrm>
          <a:prstGeom prst="rect">
            <a:avLst/>
          </a:prstGeom>
          <a:noFill/>
          <a:ln/>
        </p:spPr>
        <p:txBody>
          <a:bodyPr wrap="square" rtlCol="0" anchor="ctr"/>
          <a:lstStyle/>
          <a:p>
            <a:pPr indent="0" marL="0">
              <a:buNone/>
            </a:pPr>
            <a:r>
              <a:rPr lang="en-US" sz="1100" b="1" dirty="0">
                <a:solidFill>
                  <a:srgbClr val="12766B"/>
                </a:solidFill>
                <a:latin typeface="Courier New" pitchFamily="34" charset="0"/>
                <a:ea typeface="Courier New" pitchFamily="34" charset="-122"/>
                <a:cs typeface="Courier New" pitchFamily="34" charset="-120"/>
              </a:rPr>
              <a:t>0x84</a:t>
            </a:r>
            <a:endParaRPr lang="en-US" sz="1100" dirty="0"/>
          </a:p>
        </p:txBody>
      </p:sp>
      <p:sp>
        <p:nvSpPr>
          <p:cNvPr id="44" name="Text 42"/>
          <p:cNvSpPr/>
          <p:nvPr/>
        </p:nvSpPr>
        <p:spPr>
          <a:xfrm>
            <a:off x="1664208" y="5623560"/>
            <a:ext cx="2011680" cy="274320"/>
          </a:xfrm>
          <a:prstGeom prst="rect">
            <a:avLst/>
          </a:prstGeom>
          <a:noFill/>
          <a:ln/>
        </p:spPr>
        <p:txBody>
          <a:bodyPr wrap="square" rtlCol="0" anchor="ctr"/>
          <a:lstStyle/>
          <a:p>
            <a:pPr indent="0" marL="0">
              <a:buNone/>
            </a:pPr>
            <a:r>
              <a:rPr lang="en-US" sz="1100" dirty="0">
                <a:solidFill>
                  <a:srgbClr val="1C1C1E"/>
                </a:solidFill>
                <a:latin typeface="Courier New" pitchFamily="34" charset="0"/>
                <a:ea typeface="Courier New" pitchFamily="34" charset="-122"/>
                <a:cs typeface="Courier New" pitchFamily="34" charset="-120"/>
              </a:rPr>
              <a:t>EVT_ERROR</a:t>
            </a:r>
            <a:endParaRPr lang="en-US" sz="1100" dirty="0"/>
          </a:p>
        </p:txBody>
      </p:sp>
      <p:sp>
        <p:nvSpPr>
          <p:cNvPr id="45" name="Text 43"/>
          <p:cNvSpPr/>
          <p:nvPr/>
        </p:nvSpPr>
        <p:spPr>
          <a:xfrm>
            <a:off x="3675888" y="5623560"/>
            <a:ext cx="2286000" cy="274320"/>
          </a:xfrm>
          <a:prstGeom prst="rect">
            <a:avLst/>
          </a:prstGeom>
          <a:noFill/>
          <a:ln/>
        </p:spPr>
        <p:txBody>
          <a:bodyPr wrap="square" rtlCol="0" anchor="ctr"/>
          <a:lstStyle/>
          <a:p>
            <a:pPr indent="0" marL="0">
              <a:buNone/>
            </a:pPr>
            <a:r>
              <a:rPr lang="en-US" sz="1100" dirty="0">
                <a:solidFill>
                  <a:srgbClr val="5B6763"/>
                </a:solidFill>
                <a:latin typeface="Calibri" pitchFamily="34" charset="0"/>
                <a:ea typeface="Calibri" pitchFamily="34" charset="-122"/>
                <a:cs typeface="Calibri" pitchFamily="34" charset="-120"/>
              </a:rPr>
              <a:t>中止理由（信頼配送）</a:t>
            </a:r>
            <a:endParaRPr lang="en-US" sz="1100" dirty="0"/>
          </a:p>
        </p:txBody>
      </p:sp>
      <p:sp>
        <p:nvSpPr>
          <p:cNvPr id="46" name="Shape 44"/>
          <p:cNvSpPr/>
          <p:nvPr/>
        </p:nvSpPr>
        <p:spPr>
          <a:xfrm>
            <a:off x="6263640" y="3154680"/>
            <a:ext cx="5349240" cy="3108960"/>
          </a:xfrm>
          <a:prstGeom prst="roundRect">
            <a:avLst>
              <a:gd name="adj" fmla="val 2647"/>
            </a:avLst>
          </a:prstGeom>
          <a:solidFill>
            <a:srgbClr val="D9EBE7"/>
          </a:solidFill>
          <a:ln/>
        </p:spPr>
      </p:sp>
      <p:sp>
        <p:nvSpPr>
          <p:cNvPr id="47" name="Text 45"/>
          <p:cNvSpPr/>
          <p:nvPr/>
        </p:nvSpPr>
        <p:spPr>
          <a:xfrm>
            <a:off x="6492240" y="3264408"/>
            <a:ext cx="45720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EVT_RESULT ペイロード（30B）</a:t>
            </a:r>
            <a:endParaRPr lang="en-US" sz="1300" dirty="0"/>
          </a:p>
        </p:txBody>
      </p:sp>
      <p:sp>
        <p:nvSpPr>
          <p:cNvPr id="48" name="Text 46"/>
          <p:cNvSpPr/>
          <p:nvPr/>
        </p:nvSpPr>
        <p:spPr>
          <a:xfrm>
            <a:off x="6492240" y="3611880"/>
            <a:ext cx="4937760" cy="2560320"/>
          </a:xfrm>
          <a:prstGeom prst="rect">
            <a:avLst/>
          </a:prstGeom>
          <a:noFill/>
          <a:ln/>
        </p:spPr>
        <p:txBody>
          <a:bodyPr wrap="square" rtlCol="0" anchor="t"/>
          <a:lstStyle/>
          <a:p>
            <a:pPr marL="177800" indent="-177800">
              <a:spcAft>
                <a:spcPts val="600"/>
              </a:spcAft>
              <a:buSzPct val="100000"/>
              <a:buChar char="•"/>
            </a:pPr>
            <a:r>
              <a:rPr lang="en-US" sz="1200" dirty="0">
                <a:solidFill>
                  <a:srgbClr val="1C1C1E"/>
                </a:solidFill>
                <a:latin typeface="Calibri" pitchFamily="34" charset="0"/>
                <a:ea typeface="Calibri" pitchFamily="34" charset="-122"/>
                <a:cs typeface="Calibri" pitchFamily="34" charset="-120"/>
              </a:rPr>
              <a:t>session_id / Quality / Confidence / flags</a:t>
            </a:r>
            <a:endParaRPr lang="en-US" sz="1200" dirty="0"/>
          </a:p>
          <a:p>
            <a:pPr marL="177800" indent="-177800">
              <a:spcAft>
                <a:spcPts val="600"/>
              </a:spcAft>
              <a:buSzPct val="100000"/>
              <a:buChar char="•"/>
            </a:pPr>
            <a:r>
              <a:rPr lang="en-US" sz="1200" dirty="0">
                <a:solidFill>
                  <a:srgbClr val="1C1C1E"/>
                </a:solidFill>
                <a:latin typeface="Calibri" pitchFamily="34" charset="0"/>
                <a:ea typeface="Calibri" pitchFamily="34" charset="-122"/>
                <a:cs typeface="Calibri" pitchFamily="34" charset="-120"/>
              </a:rPr>
              <a:t>baseline / peak / plateau / AUC</a:t>
            </a:r>
            <a:endParaRPr lang="en-US" sz="1200" dirty="0"/>
          </a:p>
          <a:p>
            <a:pPr marL="177800" indent="-177800">
              <a:spcAft>
                <a:spcPts val="600"/>
              </a:spcAft>
              <a:buSzPct val="100000"/>
              <a:buChar char="•"/>
            </a:pPr>
            <a:r>
              <a:rPr lang="en-US" sz="1200" dirty="0">
                <a:solidFill>
                  <a:srgbClr val="1C1C1E"/>
                </a:solidFill>
                <a:latin typeface="Calibri" pitchFamily="34" charset="0"/>
                <a:ea typeface="Calibri" pitchFamily="34" charset="-122"/>
                <a:cs typeface="Calibri" pitchFamily="34" charset="-120"/>
              </a:rPr>
              <a:t>rise / duration / 温度 / ΔRH / 呼気前MAD</a:t>
            </a:r>
            <a:endParaRPr lang="en-US" sz="1200" dirty="0"/>
          </a:p>
          <a:p>
            <a:pPr marL="177800" indent="-177800">
              <a:spcAft>
                <a:spcPts val="600"/>
              </a:spcAft>
              <a:buSzPct val="100000"/>
              <a:buChar char="•"/>
            </a:pPr>
            <a:r>
              <a:rPr lang="en-US" sz="1150" b="1" dirty="0">
                <a:solidFill>
                  <a:srgbClr val="12766B"/>
                </a:solidFill>
                <a:latin typeface="Calibri" pitchFamily="34" charset="0"/>
                <a:ea typeface="Calibri" pitchFamily="34" charset="-122"/>
                <a:cs typeface="Calibri" pitchFamily="34" charset="-120"/>
              </a:rPr>
              <a:t>CRC16 CCITT-FALSE（テストベクタ 0x53CC を C/Dart/TS で共有）</a:t>
            </a:r>
            <a:endParaRPr lang="en-US" sz="1200" dirty="0"/>
          </a:p>
          <a:p>
            <a:pPr marL="177800" indent="-177800">
              <a:spcAft>
                <a:spcPts val="600"/>
              </a:spcAft>
              <a:buSzPct val="100000"/>
              <a:buChar char="•"/>
            </a:pPr>
            <a:r>
              <a:rPr lang="en-US" sz="1150" dirty="0">
                <a:solidFill>
                  <a:srgbClr val="5B6763"/>
                </a:solidFill>
                <a:latin typeface="Calibri" pitchFamily="34" charset="0"/>
                <a:ea typeface="Calibri" pitchFamily="34" charset="-122"/>
                <a:cs typeface="Calibri" pitchFamily="34" charset="-120"/>
              </a:rPr>
              <a:t>後方互換：EVT_STATUS は可変長。旧アプリは先頭のみ読む</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3B36"/>
        </a:solidFill>
      </p:bgPr>
    </p:bg>
    <p:spTree>
      <p:nvGrpSpPr>
        <p:cNvPr id="1" name=""/>
        <p:cNvGrpSpPr/>
        <p:nvPr/>
      </p:nvGrpSpPr>
      <p:grpSpPr>
        <a:xfrm>
          <a:off x="0" y="0"/>
          <a:ext cx="0" cy="0"/>
          <a:chOff x="0" y="0"/>
          <a:chExt cx="0" cy="0"/>
        </a:xfrm>
      </p:grpSpPr>
      <p:sp>
        <p:nvSpPr>
          <p:cNvPr id="2" name="Shape 0"/>
          <p:cNvSpPr/>
          <p:nvPr/>
        </p:nvSpPr>
        <p:spPr>
          <a:xfrm>
            <a:off x="-1645920" y="4114800"/>
            <a:ext cx="5029200" cy="5029200"/>
          </a:xfrm>
          <a:prstGeom prst="ellipse">
            <a:avLst/>
          </a:prstGeom>
          <a:solidFill>
            <a:srgbClr val="11463F"/>
          </a:solidFill>
          <a:ln/>
        </p:spPr>
      </p:sp>
      <p:sp>
        <p:nvSpPr>
          <p:cNvPr id="3" name="Text 1"/>
          <p:cNvSpPr/>
          <p:nvPr/>
        </p:nvSpPr>
        <p:spPr>
          <a:xfrm>
            <a:off x="566928" y="457200"/>
            <a:ext cx="10058400" cy="320040"/>
          </a:xfrm>
          <a:prstGeom prst="rect">
            <a:avLst/>
          </a:prstGeom>
          <a:noFill/>
          <a:ln/>
        </p:spPr>
        <p:txBody>
          <a:bodyPr wrap="square" rtlCol="0" anchor="ctr"/>
          <a:lstStyle/>
          <a:p>
            <a:pPr indent="0" marL="0">
              <a:buNone/>
            </a:pPr>
            <a:r>
              <a:rPr lang="en-US" sz="1200" b="1" spc="200" kern="0" dirty="0">
                <a:solidFill>
                  <a:srgbClr val="4FB8A5"/>
                </a:solidFill>
                <a:latin typeface="Calibri" pitchFamily="34" charset="0"/>
                <a:ea typeface="Calibri" pitchFamily="34" charset="-122"/>
                <a:cs typeface="Calibri" pitchFamily="34" charset="-120"/>
              </a:rPr>
              <a:t>DESIGN RATIONALE</a:t>
            </a:r>
            <a:endParaRPr lang="en-US" sz="1200" dirty="0"/>
          </a:p>
        </p:txBody>
      </p:sp>
      <p:sp>
        <p:nvSpPr>
          <p:cNvPr id="4" name="Text 2"/>
          <p:cNvSpPr/>
          <p:nvPr/>
        </p:nvSpPr>
        <p:spPr>
          <a:xfrm>
            <a:off x="566928" y="749808"/>
            <a:ext cx="10972800" cy="64008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なぜ STM32 でエッジ処理するのか</a:t>
            </a:r>
            <a:endParaRPr lang="en-US" sz="2700" dirty="0"/>
          </a:p>
        </p:txBody>
      </p:sp>
      <p:sp>
        <p:nvSpPr>
          <p:cNvPr id="5" name="Text 3"/>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13</a:t>
            </a:r>
            <a:endParaRPr lang="en-US" sz="900" dirty="0"/>
          </a:p>
        </p:txBody>
      </p:sp>
      <p:sp>
        <p:nvSpPr>
          <p:cNvPr id="6" name="Text 4"/>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7" name="Text 5"/>
          <p:cNvSpPr/>
          <p:nvPr/>
        </p:nvSpPr>
        <p:spPr>
          <a:xfrm>
            <a:off x="566928" y="1417320"/>
            <a:ext cx="10058400" cy="365760"/>
          </a:xfrm>
          <a:prstGeom prst="rect">
            <a:avLst/>
          </a:prstGeom>
          <a:noFill/>
          <a:ln/>
        </p:spPr>
        <p:txBody>
          <a:bodyPr wrap="square" rtlCol="0" anchor="ctr"/>
          <a:lstStyle/>
          <a:p>
            <a:pPr indent="0" marL="0">
              <a:buNone/>
            </a:pPr>
            <a:r>
              <a:rPr lang="en-US" sz="1500" i="1" dirty="0">
                <a:solidFill>
                  <a:srgbClr val="CFE7E1"/>
                </a:solidFill>
                <a:latin typeface="Calibri" pitchFamily="34" charset="0"/>
                <a:ea typeface="Calibri" pitchFamily="34" charset="-122"/>
                <a:cs typeface="Calibri" pitchFamily="34" charset="-120"/>
              </a:rPr>
              <a:t>「PCやスマホで処理すればいい」への答え</a:t>
            </a:r>
            <a:endParaRPr lang="en-US" sz="1500" dirty="0"/>
          </a:p>
        </p:txBody>
      </p:sp>
      <p:sp>
        <p:nvSpPr>
          <p:cNvPr id="8" name="Shape 6"/>
          <p:cNvSpPr/>
          <p:nvPr/>
        </p:nvSpPr>
        <p:spPr>
          <a:xfrm>
            <a:off x="566928" y="2103120"/>
            <a:ext cx="11064240" cy="1234440"/>
          </a:xfrm>
          <a:prstGeom prst="roundRect">
            <a:avLst>
              <a:gd name="adj" fmla="val 6667"/>
            </a:avLst>
          </a:prstGeom>
          <a:solidFill>
            <a:srgbClr val="15544C"/>
          </a:solidFill>
          <a:ln/>
        </p:spPr>
      </p:sp>
      <p:sp>
        <p:nvSpPr>
          <p:cNvPr id="9" name="Text 7"/>
          <p:cNvSpPr/>
          <p:nvPr/>
        </p:nvSpPr>
        <p:spPr>
          <a:xfrm>
            <a:off x="795528" y="2286000"/>
            <a:ext cx="822960" cy="868680"/>
          </a:xfrm>
          <a:prstGeom prst="rect">
            <a:avLst/>
          </a:prstGeom>
          <a:noFill/>
          <a:ln/>
        </p:spPr>
        <p:txBody>
          <a:bodyPr wrap="square" rtlCol="0" anchor="ctr"/>
          <a:lstStyle/>
          <a:p>
            <a:pPr algn="ctr" indent="0" marL="0">
              <a:buNone/>
            </a:pPr>
            <a:r>
              <a:rPr lang="en-US" sz="3400" b="1" dirty="0">
                <a:solidFill>
                  <a:srgbClr val="4FB8A5"/>
                </a:solidFill>
                <a:latin typeface="Cambria" pitchFamily="34" charset="0"/>
                <a:ea typeface="Cambria" pitchFamily="34" charset="-122"/>
                <a:cs typeface="Cambria" pitchFamily="34" charset="-120"/>
              </a:rPr>
              <a:t>①</a:t>
            </a:r>
            <a:endParaRPr lang="en-US" sz="3400" dirty="0"/>
          </a:p>
        </p:txBody>
      </p:sp>
      <p:sp>
        <p:nvSpPr>
          <p:cNvPr id="10" name="Text 8"/>
          <p:cNvSpPr/>
          <p:nvPr/>
        </p:nvSpPr>
        <p:spPr>
          <a:xfrm>
            <a:off x="1709928" y="2267712"/>
            <a:ext cx="969264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通信断でも完結する</a:t>
            </a:r>
            <a:endParaRPr lang="en-US" sz="1700" dirty="0"/>
          </a:p>
        </p:txBody>
      </p:sp>
      <p:sp>
        <p:nvSpPr>
          <p:cNvPr id="11" name="Text 9"/>
          <p:cNvSpPr/>
          <p:nvPr/>
        </p:nvSpPr>
        <p:spPr>
          <a:xfrm>
            <a:off x="1709928" y="2706624"/>
            <a:ext cx="9692640" cy="548640"/>
          </a:xfrm>
          <a:prstGeom prst="rect">
            <a:avLst/>
          </a:prstGeom>
          <a:noFill/>
          <a:ln/>
        </p:spPr>
        <p:txBody>
          <a:bodyPr wrap="square" rtlCol="0" anchor="t"/>
          <a:lstStyle/>
          <a:p>
            <a:pPr indent="0" marL="0">
              <a:buNone/>
            </a:pPr>
            <a:r>
              <a:rPr lang="en-US" sz="1300" dirty="0">
                <a:solidFill>
                  <a:srgbClr val="CFE7E1"/>
                </a:solidFill>
                <a:latin typeface="Calibri" pitchFamily="34" charset="0"/>
                <a:ea typeface="Calibri" pitchFamily="34" charset="-122"/>
                <a:cs typeface="Calibri" pitchFamily="34" charset="-120"/>
              </a:rPr>
              <a:t>BLE切断時にセッションを続けられるのはエッジ処理だけ。アプリ側処理では原理的に不可能。切断＝データ喪失を排除できる。</a:t>
            </a:r>
            <a:endParaRPr lang="en-US" sz="1300" dirty="0"/>
          </a:p>
        </p:txBody>
      </p:sp>
      <p:sp>
        <p:nvSpPr>
          <p:cNvPr id="12" name="Shape 10"/>
          <p:cNvSpPr/>
          <p:nvPr/>
        </p:nvSpPr>
        <p:spPr>
          <a:xfrm>
            <a:off x="566928" y="3429000"/>
            <a:ext cx="11064240" cy="1234440"/>
          </a:xfrm>
          <a:prstGeom prst="roundRect">
            <a:avLst>
              <a:gd name="adj" fmla="val 6667"/>
            </a:avLst>
          </a:prstGeom>
          <a:solidFill>
            <a:srgbClr val="15544C"/>
          </a:solidFill>
          <a:ln/>
        </p:spPr>
      </p:sp>
      <p:sp>
        <p:nvSpPr>
          <p:cNvPr id="13" name="Text 11"/>
          <p:cNvSpPr/>
          <p:nvPr/>
        </p:nvSpPr>
        <p:spPr>
          <a:xfrm>
            <a:off x="795528" y="3611880"/>
            <a:ext cx="822960" cy="868680"/>
          </a:xfrm>
          <a:prstGeom prst="rect">
            <a:avLst/>
          </a:prstGeom>
          <a:noFill/>
          <a:ln/>
        </p:spPr>
        <p:txBody>
          <a:bodyPr wrap="square" rtlCol="0" anchor="ctr"/>
          <a:lstStyle/>
          <a:p>
            <a:pPr algn="ctr" indent="0" marL="0">
              <a:buNone/>
            </a:pPr>
            <a:r>
              <a:rPr lang="en-US" sz="3400" b="1" dirty="0">
                <a:solidFill>
                  <a:srgbClr val="4FB8A5"/>
                </a:solidFill>
                <a:latin typeface="Cambria" pitchFamily="34" charset="0"/>
                <a:ea typeface="Cambria" pitchFamily="34" charset="-122"/>
                <a:cs typeface="Cambria" pitchFamily="34" charset="-120"/>
              </a:rPr>
              <a:t>②</a:t>
            </a:r>
            <a:endParaRPr lang="en-US" sz="3400" dirty="0"/>
          </a:p>
        </p:txBody>
      </p:sp>
      <p:sp>
        <p:nvSpPr>
          <p:cNvPr id="14" name="Text 12"/>
          <p:cNvSpPr/>
          <p:nvPr/>
        </p:nvSpPr>
        <p:spPr>
          <a:xfrm>
            <a:off x="1709928" y="3593592"/>
            <a:ext cx="969264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送信量が減り電力に効く</a:t>
            </a:r>
            <a:endParaRPr lang="en-US" sz="1700" dirty="0"/>
          </a:p>
        </p:txBody>
      </p:sp>
      <p:sp>
        <p:nvSpPr>
          <p:cNvPr id="15" name="Text 13"/>
          <p:cNvSpPr/>
          <p:nvPr/>
        </p:nvSpPr>
        <p:spPr>
          <a:xfrm>
            <a:off x="1709928" y="4032504"/>
            <a:ext cx="9692640" cy="548640"/>
          </a:xfrm>
          <a:prstGeom prst="rect">
            <a:avLst/>
          </a:prstGeom>
          <a:noFill/>
          <a:ln/>
        </p:spPr>
        <p:txBody>
          <a:bodyPr wrap="square" rtlCol="0" anchor="t"/>
          <a:lstStyle/>
          <a:p>
            <a:pPr indent="0" marL="0">
              <a:buNone/>
            </a:pPr>
            <a:r>
              <a:rPr lang="en-US" sz="1300" dirty="0">
                <a:solidFill>
                  <a:srgbClr val="CFE7E1"/>
                </a:solidFill>
                <a:latin typeface="Calibri" pitchFamily="34" charset="0"/>
                <a:ea typeface="Calibri" pitchFamily="34" charset="-122"/>
                <a:cs typeface="Calibri" pitchFamily="34" charset="-120"/>
              </a:rPr>
              <a:t>生値の垂れ流し（18B/s常時）に対し、結果30B＋実況数フレームで済む。無線が支配的な電力を減らす方向へ働く。</a:t>
            </a:r>
            <a:endParaRPr lang="en-US" sz="1300" dirty="0"/>
          </a:p>
        </p:txBody>
      </p:sp>
      <p:sp>
        <p:nvSpPr>
          <p:cNvPr id="16" name="Shape 14"/>
          <p:cNvSpPr/>
          <p:nvPr/>
        </p:nvSpPr>
        <p:spPr>
          <a:xfrm>
            <a:off x="566928" y="4754880"/>
            <a:ext cx="11064240" cy="1234440"/>
          </a:xfrm>
          <a:prstGeom prst="roundRect">
            <a:avLst>
              <a:gd name="adj" fmla="val 6667"/>
            </a:avLst>
          </a:prstGeom>
          <a:solidFill>
            <a:srgbClr val="15544C"/>
          </a:solidFill>
          <a:ln/>
        </p:spPr>
      </p:sp>
      <p:sp>
        <p:nvSpPr>
          <p:cNvPr id="17" name="Text 15"/>
          <p:cNvSpPr/>
          <p:nvPr/>
        </p:nvSpPr>
        <p:spPr>
          <a:xfrm>
            <a:off x="795528" y="4937760"/>
            <a:ext cx="822960" cy="868680"/>
          </a:xfrm>
          <a:prstGeom prst="rect">
            <a:avLst/>
          </a:prstGeom>
          <a:noFill/>
          <a:ln/>
        </p:spPr>
        <p:txBody>
          <a:bodyPr wrap="square" rtlCol="0" anchor="ctr"/>
          <a:lstStyle/>
          <a:p>
            <a:pPr algn="ctr" indent="0" marL="0">
              <a:buNone/>
            </a:pPr>
            <a:r>
              <a:rPr lang="en-US" sz="3400" b="1" dirty="0">
                <a:solidFill>
                  <a:srgbClr val="4FB8A5"/>
                </a:solidFill>
                <a:latin typeface="Cambria" pitchFamily="34" charset="0"/>
                <a:ea typeface="Cambria" pitchFamily="34" charset="-122"/>
                <a:cs typeface="Cambria" pitchFamily="34" charset="-120"/>
              </a:rPr>
              <a:t>③</a:t>
            </a:r>
            <a:endParaRPr lang="en-US" sz="3400" dirty="0"/>
          </a:p>
        </p:txBody>
      </p:sp>
      <p:sp>
        <p:nvSpPr>
          <p:cNvPr id="18" name="Text 16"/>
          <p:cNvSpPr/>
          <p:nvPr/>
        </p:nvSpPr>
        <p:spPr>
          <a:xfrm>
            <a:off x="1709928" y="4919472"/>
            <a:ext cx="9692640" cy="41148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機器単体で品質保証まで完結</a:t>
            </a:r>
            <a:endParaRPr lang="en-US" sz="1700" dirty="0"/>
          </a:p>
        </p:txBody>
      </p:sp>
      <p:sp>
        <p:nvSpPr>
          <p:cNvPr id="19" name="Text 17"/>
          <p:cNvSpPr/>
          <p:nvPr/>
        </p:nvSpPr>
        <p:spPr>
          <a:xfrm>
            <a:off x="1709928" y="5358384"/>
            <a:ext cx="9692640" cy="548640"/>
          </a:xfrm>
          <a:prstGeom prst="rect">
            <a:avLst/>
          </a:prstGeom>
          <a:noFill/>
          <a:ln/>
        </p:spPr>
        <p:txBody>
          <a:bodyPr wrap="square" rtlCol="0" anchor="t"/>
          <a:lstStyle/>
          <a:p>
            <a:pPr indent="0" marL="0">
              <a:buNone/>
            </a:pPr>
            <a:r>
              <a:rPr lang="en-US" sz="1300" dirty="0">
                <a:solidFill>
                  <a:srgbClr val="CFE7E1"/>
                </a:solidFill>
                <a:latin typeface="Calibri" pitchFamily="34" charset="0"/>
                <a:ea typeface="Calibri" pitchFamily="34" charset="-122"/>
                <a:cs typeface="Calibri" pitchFamily="34" charset="-120"/>
              </a:rPr>
              <a:t>アプリ実装に依存せず、機器だけで検出・採点まで終わる。研究機材として再利用でき、再現性も高い。</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RESOURCE BUDGET</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RAM・Flash・計算量・電力 — 定量設計</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14</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572768"/>
            <a:ext cx="2633472" cy="1417320"/>
          </a:xfrm>
          <a:prstGeom prst="roundRect">
            <a:avLst>
              <a:gd name="adj" fmla="val 5806"/>
            </a:avLst>
          </a:prstGeom>
          <a:solidFill>
            <a:srgbClr val="12766B"/>
          </a:solidFill>
          <a:ln w="12700">
            <a:solidFill>
              <a:srgbClr val="DADFDC"/>
            </a:solidFill>
            <a:prstDash val="solid"/>
          </a:ln>
          <a:effectLst>
            <a:outerShdw sx="100000" sy="100000" kx="0" ky="0" algn="bl" rotWithShape="0" blurRad="101600" dist="38100" dir="5400000">
              <a:srgbClr val="9AA5A0">
                <a:alpha val="28000"/>
              </a:srgbClr>
            </a:outerShdw>
          </a:effectLst>
        </p:spPr>
      </p:sp>
      <p:sp>
        <p:nvSpPr>
          <p:cNvPr id="7" name="Text 5"/>
          <p:cNvSpPr/>
          <p:nvPr/>
        </p:nvSpPr>
        <p:spPr>
          <a:xfrm>
            <a:off x="749808" y="1691640"/>
            <a:ext cx="2286000" cy="54864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780 B</a:t>
            </a:r>
            <a:endParaRPr lang="en-US" sz="3000" dirty="0"/>
          </a:p>
        </p:txBody>
      </p:sp>
      <p:sp>
        <p:nvSpPr>
          <p:cNvPr id="8" name="Text 6"/>
          <p:cNvSpPr/>
          <p:nvPr/>
        </p:nvSpPr>
        <p:spPr>
          <a:xfrm>
            <a:off x="749808" y="2286000"/>
            <a:ext cx="2286000" cy="274320"/>
          </a:xfrm>
          <a:prstGeom prst="rect">
            <a:avLst/>
          </a:prstGeom>
          <a:noFill/>
          <a:ln/>
        </p:spPr>
        <p:txBody>
          <a:bodyPr wrap="square" rtlCol="0" anchor="ctr"/>
          <a:lstStyle/>
          <a:p>
            <a:pPr indent="0" marL="0">
              <a:buNone/>
            </a:pPr>
            <a:r>
              <a:rPr lang="en-US" sz="1300" b="1" dirty="0">
                <a:solidFill>
                  <a:srgbClr val="CFE7E1"/>
                </a:solidFill>
                <a:latin typeface="Calibri" pitchFamily="34" charset="0"/>
                <a:ea typeface="Calibri" pitchFamily="34" charset="-122"/>
                <a:cs typeface="Calibri" pitchFamily="34" charset="-120"/>
              </a:rPr>
              <a:t>RAM 追加</a:t>
            </a:r>
            <a:endParaRPr lang="en-US" sz="1300" dirty="0"/>
          </a:p>
        </p:txBody>
      </p:sp>
      <p:sp>
        <p:nvSpPr>
          <p:cNvPr id="9" name="Text 7"/>
          <p:cNvSpPr/>
          <p:nvPr/>
        </p:nvSpPr>
        <p:spPr>
          <a:xfrm>
            <a:off x="749808" y="2578608"/>
            <a:ext cx="2331720" cy="320040"/>
          </a:xfrm>
          <a:prstGeom prst="rect">
            <a:avLst/>
          </a:prstGeom>
          <a:noFill/>
          <a:ln/>
        </p:spPr>
        <p:txBody>
          <a:bodyPr wrap="square" rtlCol="0" anchor="ctr"/>
          <a:lstStyle/>
          <a:p>
            <a:pPr indent="0" marL="0">
              <a:buNone/>
            </a:pPr>
            <a:r>
              <a:rPr lang="en-US" sz="1050" dirty="0">
                <a:solidFill>
                  <a:srgbClr val="A9D2CA"/>
                </a:solidFill>
                <a:latin typeface="Calibri" pitchFamily="34" charset="0"/>
                <a:ea typeface="Calibri" pitchFamily="34" charset="-122"/>
                <a:cs typeface="Calibri" pitchFamily="34" charset="-120"/>
              </a:rPr>
              <a:t>SRAM 160KB の 0.5%</a:t>
            </a:r>
            <a:endParaRPr lang="en-US" sz="1050" dirty="0"/>
          </a:p>
        </p:txBody>
      </p:sp>
      <p:sp>
        <p:nvSpPr>
          <p:cNvPr id="10" name="Shape 8"/>
          <p:cNvSpPr/>
          <p:nvPr/>
        </p:nvSpPr>
        <p:spPr>
          <a:xfrm>
            <a:off x="3364992" y="1572768"/>
            <a:ext cx="2633472" cy="1417320"/>
          </a:xfrm>
          <a:prstGeom prst="roundRect">
            <a:avLst>
              <a:gd name="adj" fmla="val 5806"/>
            </a:avLst>
          </a:prstGeom>
          <a:solidFill>
            <a:srgbClr val="FFFFFF"/>
          </a:solidFill>
          <a:ln w="12700">
            <a:solidFill>
              <a:srgbClr val="DADFDC"/>
            </a:solidFill>
            <a:prstDash val="solid"/>
          </a:ln>
        </p:spPr>
      </p:sp>
      <p:sp>
        <p:nvSpPr>
          <p:cNvPr id="11" name="Text 9"/>
          <p:cNvSpPr/>
          <p:nvPr/>
        </p:nvSpPr>
        <p:spPr>
          <a:xfrm>
            <a:off x="3547872" y="1691640"/>
            <a:ext cx="2286000" cy="548640"/>
          </a:xfrm>
          <a:prstGeom prst="rect">
            <a:avLst/>
          </a:prstGeom>
          <a:noFill/>
          <a:ln/>
        </p:spPr>
        <p:txBody>
          <a:bodyPr wrap="square" rtlCol="0" anchor="ctr"/>
          <a:lstStyle/>
          <a:p>
            <a:pPr indent="0" marL="0">
              <a:buNone/>
            </a:pPr>
            <a:r>
              <a:rPr lang="en-US" sz="3000" b="1" dirty="0">
                <a:solidFill>
                  <a:srgbClr val="12766B"/>
                </a:solidFill>
                <a:latin typeface="Cambria" pitchFamily="34" charset="0"/>
                <a:ea typeface="Cambria" pitchFamily="34" charset="-122"/>
                <a:cs typeface="Cambria" pitchFamily="34" charset="-120"/>
              </a:rPr>
              <a:t>3.3 KB</a:t>
            </a:r>
            <a:endParaRPr lang="en-US" sz="3000" dirty="0"/>
          </a:p>
        </p:txBody>
      </p:sp>
      <p:sp>
        <p:nvSpPr>
          <p:cNvPr id="12" name="Text 10"/>
          <p:cNvSpPr/>
          <p:nvPr/>
        </p:nvSpPr>
        <p:spPr>
          <a:xfrm>
            <a:off x="3547872" y="2286000"/>
            <a:ext cx="2286000" cy="274320"/>
          </a:xfrm>
          <a:prstGeom prst="rect">
            <a:avLst/>
          </a:prstGeom>
          <a:noFill/>
          <a:ln/>
        </p:spPr>
        <p:txBody>
          <a:bodyPr wrap="square"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Flash 追加</a:t>
            </a:r>
            <a:endParaRPr lang="en-US" sz="1300" dirty="0"/>
          </a:p>
        </p:txBody>
      </p:sp>
      <p:sp>
        <p:nvSpPr>
          <p:cNvPr id="13" name="Text 11"/>
          <p:cNvSpPr/>
          <p:nvPr/>
        </p:nvSpPr>
        <p:spPr>
          <a:xfrm>
            <a:off x="3547872" y="2578608"/>
            <a:ext cx="2331720" cy="320040"/>
          </a:xfrm>
          <a:prstGeom prst="rect">
            <a:avLst/>
          </a:prstGeom>
          <a:noFill/>
          <a:ln/>
        </p:spPr>
        <p:txBody>
          <a:bodyPr wrap="square" rtlCol="0" anchor="ctr"/>
          <a:lstStyle/>
          <a:p>
            <a:pPr indent="0" marL="0">
              <a:buNone/>
            </a:pPr>
            <a:r>
              <a:rPr lang="en-US" sz="1050" dirty="0">
                <a:solidFill>
                  <a:srgbClr val="5B6763"/>
                </a:solidFill>
                <a:latin typeface="Calibri" pitchFamily="34" charset="0"/>
                <a:ea typeface="Calibri" pitchFamily="34" charset="-122"/>
                <a:cs typeface="Calibri" pitchFamily="34" charset="-120"/>
              </a:rPr>
              <a:t>512KB の 0.7%</a:t>
            </a:r>
            <a:endParaRPr lang="en-US" sz="1050" dirty="0"/>
          </a:p>
        </p:txBody>
      </p:sp>
      <p:sp>
        <p:nvSpPr>
          <p:cNvPr id="14" name="Shape 12"/>
          <p:cNvSpPr/>
          <p:nvPr/>
        </p:nvSpPr>
        <p:spPr>
          <a:xfrm>
            <a:off x="6163056" y="1572768"/>
            <a:ext cx="2633472" cy="1417320"/>
          </a:xfrm>
          <a:prstGeom prst="roundRect">
            <a:avLst>
              <a:gd name="adj" fmla="val 5806"/>
            </a:avLst>
          </a:prstGeom>
          <a:solidFill>
            <a:srgbClr val="FFFFFF"/>
          </a:solidFill>
          <a:ln w="12700">
            <a:solidFill>
              <a:srgbClr val="DADFDC"/>
            </a:solidFill>
            <a:prstDash val="solid"/>
          </a:ln>
        </p:spPr>
      </p:sp>
      <p:sp>
        <p:nvSpPr>
          <p:cNvPr id="15" name="Text 13"/>
          <p:cNvSpPr/>
          <p:nvPr/>
        </p:nvSpPr>
        <p:spPr>
          <a:xfrm>
            <a:off x="6345936" y="1691640"/>
            <a:ext cx="2286000" cy="548640"/>
          </a:xfrm>
          <a:prstGeom prst="rect">
            <a:avLst/>
          </a:prstGeom>
          <a:noFill/>
          <a:ln/>
        </p:spPr>
        <p:txBody>
          <a:bodyPr wrap="square" rtlCol="0" anchor="ctr"/>
          <a:lstStyle/>
          <a:p>
            <a:pPr indent="0" marL="0">
              <a:buNone/>
            </a:pPr>
            <a:r>
              <a:rPr lang="en-US" sz="3000" b="1" dirty="0">
                <a:solidFill>
                  <a:srgbClr val="12766B"/>
                </a:solidFill>
                <a:latin typeface="Cambria" pitchFamily="34" charset="0"/>
                <a:ea typeface="Cambria" pitchFamily="34" charset="-122"/>
                <a:cs typeface="Cambria" pitchFamily="34" charset="-120"/>
              </a:rPr>
              <a:t>&lt;0.001%</a:t>
            </a:r>
            <a:endParaRPr lang="en-US" sz="3000" dirty="0"/>
          </a:p>
        </p:txBody>
      </p:sp>
      <p:sp>
        <p:nvSpPr>
          <p:cNvPr id="16" name="Text 14"/>
          <p:cNvSpPr/>
          <p:nvPr/>
        </p:nvSpPr>
        <p:spPr>
          <a:xfrm>
            <a:off x="6345936" y="2286000"/>
            <a:ext cx="2286000" cy="274320"/>
          </a:xfrm>
          <a:prstGeom prst="rect">
            <a:avLst/>
          </a:prstGeom>
          <a:noFill/>
          <a:ln/>
        </p:spPr>
        <p:txBody>
          <a:bodyPr wrap="square"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CPU 占有</a:t>
            </a:r>
            <a:endParaRPr lang="en-US" sz="1300" dirty="0"/>
          </a:p>
        </p:txBody>
      </p:sp>
      <p:sp>
        <p:nvSpPr>
          <p:cNvPr id="17" name="Text 15"/>
          <p:cNvSpPr/>
          <p:nvPr/>
        </p:nvSpPr>
        <p:spPr>
          <a:xfrm>
            <a:off x="6345936" y="2578608"/>
            <a:ext cx="2331720" cy="320040"/>
          </a:xfrm>
          <a:prstGeom prst="rect">
            <a:avLst/>
          </a:prstGeom>
          <a:noFill/>
          <a:ln/>
        </p:spPr>
        <p:txBody>
          <a:bodyPr wrap="square" rtlCol="0" anchor="ctr"/>
          <a:lstStyle/>
          <a:p>
            <a:pPr indent="0" marL="0">
              <a:buNone/>
            </a:pPr>
            <a:r>
              <a:rPr lang="en-US" sz="1050" dirty="0">
                <a:solidFill>
                  <a:srgbClr val="5B6763"/>
                </a:solidFill>
                <a:latin typeface="Calibri" pitchFamily="34" charset="0"/>
                <a:ea typeface="Calibri" pitchFamily="34" charset="-122"/>
                <a:cs typeface="Calibri" pitchFamily="34" charset="-120"/>
              </a:rPr>
              <a:t>1Hz × &lt;10µs/sample</a:t>
            </a:r>
            <a:endParaRPr lang="en-US" sz="1050" dirty="0"/>
          </a:p>
        </p:txBody>
      </p:sp>
      <p:sp>
        <p:nvSpPr>
          <p:cNvPr id="18" name="Shape 16"/>
          <p:cNvSpPr/>
          <p:nvPr/>
        </p:nvSpPr>
        <p:spPr>
          <a:xfrm>
            <a:off x="8961120" y="1572768"/>
            <a:ext cx="2633472" cy="1417320"/>
          </a:xfrm>
          <a:prstGeom prst="roundRect">
            <a:avLst>
              <a:gd name="adj" fmla="val 5806"/>
            </a:avLst>
          </a:prstGeom>
          <a:solidFill>
            <a:srgbClr val="FFFFFF"/>
          </a:solidFill>
          <a:ln w="12700">
            <a:solidFill>
              <a:srgbClr val="DADFDC"/>
            </a:solidFill>
            <a:prstDash val="solid"/>
          </a:ln>
        </p:spPr>
      </p:sp>
      <p:sp>
        <p:nvSpPr>
          <p:cNvPr id="19" name="Text 17"/>
          <p:cNvSpPr/>
          <p:nvPr/>
        </p:nvSpPr>
        <p:spPr>
          <a:xfrm>
            <a:off x="9144000" y="1691640"/>
            <a:ext cx="2286000" cy="548640"/>
          </a:xfrm>
          <a:prstGeom prst="rect">
            <a:avLst/>
          </a:prstGeom>
          <a:noFill/>
          <a:ln/>
        </p:spPr>
        <p:txBody>
          <a:bodyPr wrap="square" rtlCol="0" anchor="ctr"/>
          <a:lstStyle/>
          <a:p>
            <a:pPr indent="0" marL="0">
              <a:buNone/>
            </a:pPr>
            <a:r>
              <a:rPr lang="en-US" sz="3000" b="1" dirty="0">
                <a:solidFill>
                  <a:srgbClr val="12766B"/>
                </a:solidFill>
                <a:latin typeface="Cambria" pitchFamily="34" charset="0"/>
                <a:ea typeface="Cambria" pitchFamily="34" charset="-122"/>
                <a:cs typeface="Cambria" pitchFamily="34" charset="-120"/>
              </a:rPr>
              <a:t>全整数</a:t>
            </a:r>
            <a:endParaRPr lang="en-US" sz="3000" dirty="0"/>
          </a:p>
        </p:txBody>
      </p:sp>
      <p:sp>
        <p:nvSpPr>
          <p:cNvPr id="20" name="Text 18"/>
          <p:cNvSpPr/>
          <p:nvPr/>
        </p:nvSpPr>
        <p:spPr>
          <a:xfrm>
            <a:off x="9144000" y="2286000"/>
            <a:ext cx="2286000" cy="274320"/>
          </a:xfrm>
          <a:prstGeom prst="rect">
            <a:avLst/>
          </a:prstGeom>
          <a:noFill/>
          <a:ln/>
        </p:spPr>
        <p:txBody>
          <a:bodyPr wrap="square"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演算方式</a:t>
            </a:r>
            <a:endParaRPr lang="en-US" sz="1300" dirty="0"/>
          </a:p>
        </p:txBody>
      </p:sp>
      <p:sp>
        <p:nvSpPr>
          <p:cNvPr id="21" name="Text 19"/>
          <p:cNvSpPr/>
          <p:nvPr/>
        </p:nvSpPr>
        <p:spPr>
          <a:xfrm>
            <a:off x="9144000" y="2578608"/>
            <a:ext cx="2331720" cy="320040"/>
          </a:xfrm>
          <a:prstGeom prst="rect">
            <a:avLst/>
          </a:prstGeom>
          <a:noFill/>
          <a:ln/>
        </p:spPr>
        <p:txBody>
          <a:bodyPr wrap="square" rtlCol="0" anchor="ctr"/>
          <a:lstStyle/>
          <a:p>
            <a:pPr indent="0" marL="0">
              <a:buNone/>
            </a:pPr>
            <a:r>
              <a:rPr lang="en-US" sz="1050" dirty="0">
                <a:solidFill>
                  <a:srgbClr val="5B6763"/>
                </a:solidFill>
                <a:latin typeface="Calibri" pitchFamily="34" charset="0"/>
                <a:ea typeface="Calibri" pitchFamily="34" charset="-122"/>
                <a:cs typeface="Calibri" pitchFamily="34" charset="-120"/>
              </a:rPr>
              <a:t>FPU/float 不使用</a:t>
            </a:r>
            <a:endParaRPr lang="en-US" sz="1050" dirty="0"/>
          </a:p>
        </p:txBody>
      </p:sp>
      <p:sp>
        <p:nvSpPr>
          <p:cNvPr id="22" name="Text 20"/>
          <p:cNvSpPr/>
          <p:nvPr/>
        </p:nvSpPr>
        <p:spPr>
          <a:xfrm>
            <a:off x="566928" y="3246120"/>
            <a:ext cx="5486400" cy="32004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RAM内訳（実測 sizeof, ホストgcc）</a:t>
            </a:r>
            <a:endParaRPr lang="en-US" sz="1300" dirty="0"/>
          </a:p>
        </p:txBody>
      </p:sp>
      <p:graphicFrame>
        <p:nvGraphicFramePr>
          <p:cNvPr id="23" name="Chart 0" descr=""/>
          <p:cNvGraphicFramePr/>
          <p:nvPr/>
        </p:nvGraphicFramePr>
        <p:xfrm>
          <a:off x="566928" y="3566160"/>
          <a:ext cx="5577840" cy="2651760"/>
        </p:xfrm>
        <a:graphic xmlns:a="http://schemas.openxmlformats.org/drawingml/2006/main">
          <a:graphicData uri="http://schemas.openxmlformats.org/drawingml/2006/chart">
            <c:chart xmlns:c="http://schemas.openxmlformats.org/drawingml/2006/chart" r:id="rId1"/>
          </a:graphicData>
        </a:graphic>
      </p:graphicFrame>
      <p:sp>
        <p:nvSpPr>
          <p:cNvPr id="24" name="Shape 21"/>
          <p:cNvSpPr/>
          <p:nvPr/>
        </p:nvSpPr>
        <p:spPr>
          <a:xfrm>
            <a:off x="6400800" y="3246120"/>
            <a:ext cx="5212080" cy="3017520"/>
          </a:xfrm>
          <a:prstGeom prst="roundRect">
            <a:avLst>
              <a:gd name="adj" fmla="val 2727"/>
            </a:avLst>
          </a:prstGeom>
          <a:solidFill>
            <a:srgbClr val="D9EBE7"/>
          </a:solidFill>
          <a:ln/>
        </p:spPr>
      </p:sp>
      <p:sp>
        <p:nvSpPr>
          <p:cNvPr id="25" name="Text 22"/>
          <p:cNvSpPr/>
          <p:nvPr/>
        </p:nvSpPr>
        <p:spPr>
          <a:xfrm>
            <a:off x="6629400" y="3355848"/>
            <a:ext cx="45720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設計判断と誠実さ</a:t>
            </a:r>
            <a:endParaRPr lang="en-US" sz="1300" dirty="0"/>
          </a:p>
        </p:txBody>
      </p:sp>
      <p:sp>
        <p:nvSpPr>
          <p:cNvPr id="26" name="Text 23"/>
          <p:cNvSpPr/>
          <p:nvPr/>
        </p:nvSpPr>
        <p:spPr>
          <a:xfrm>
            <a:off x="6629400" y="3657600"/>
            <a:ext cx="4800600" cy="2514600"/>
          </a:xfrm>
          <a:prstGeom prst="rect">
            <a:avLst/>
          </a:prstGeom>
          <a:noFill/>
          <a:ln/>
        </p:spPr>
        <p:txBody>
          <a:bodyPr wrap="square" rtlCol="0" anchor="t"/>
          <a:lstStyle/>
          <a:p>
            <a:pPr marL="177800" indent="-177800">
              <a:spcAft>
                <a:spcPts val="700"/>
              </a:spcAft>
              <a:buSzPct val="100000"/>
              <a:buChar char="•"/>
            </a:pPr>
            <a:r>
              <a:rPr lang="en-US" sz="1200" dirty="0">
                <a:solidFill>
                  <a:srgbClr val="1C1C1E"/>
                </a:solidFill>
                <a:latin typeface="Calibri" pitchFamily="34" charset="0"/>
                <a:ea typeface="Calibri" pitchFamily="34" charset="-122"/>
                <a:cs typeface="Calibri" pitchFamily="34" charset="-120"/>
              </a:rPr>
              <a:t>乗除算を最小化・全てシフト/加減算 → 決定的でホスト再現可能</a:t>
            </a:r>
            <a:endParaRPr lang="en-US" sz="1200" dirty="0"/>
          </a:p>
          <a:p>
            <a:pPr marL="177800" indent="-177800">
              <a:spcAft>
                <a:spcPts val="700"/>
              </a:spcAft>
              <a:buSzPct val="100000"/>
              <a:buChar char="•"/>
            </a:pPr>
            <a:r>
              <a:rPr lang="en-US" sz="1200" b="1" dirty="0">
                <a:solidFill>
                  <a:srgbClr val="1C1C1E"/>
                </a:solidFill>
                <a:latin typeface="Calibri" pitchFamily="34" charset="0"/>
                <a:ea typeface="Calibri" pitchFamily="34" charset="-122"/>
                <a:cs typeface="Calibri" pitchFamily="34" charset="-120"/>
              </a:rPr>
              <a:t>電力の支配項は MCU ではなく DGS2（連続測定 数十mA）と BLE</a:t>
            </a:r>
            <a:endParaRPr lang="en-US" sz="1200" dirty="0"/>
          </a:p>
          <a:p>
            <a:pPr marL="177800" indent="-177800">
              <a:spcAft>
                <a:spcPts val="700"/>
              </a:spcAft>
              <a:buSzPct val="100000"/>
              <a:buChar char="•"/>
            </a:pPr>
            <a:r>
              <a:rPr lang="en-US" sz="1200" b="1" dirty="0">
                <a:solidFill>
                  <a:srgbClr val="12766B"/>
                </a:solidFill>
                <a:latin typeface="Calibri" pitchFamily="34" charset="0"/>
                <a:ea typeface="Calibri" pitchFamily="34" charset="-122"/>
                <a:cs typeface="Calibri" pitchFamily="34" charset="-120"/>
              </a:rPr>
              <a:t>→ 電力設計の主戦場は「測定時間そのものを短くする」イベント化</a:t>
            </a:r>
            <a:endParaRPr lang="en-US" sz="1200" dirty="0"/>
          </a:p>
          <a:p>
            <a:pPr marL="177800" indent="-177800">
              <a:spcAft>
                <a:spcPts val="700"/>
              </a:spcAft>
              <a:buSzPct val="100000"/>
              <a:buChar char="•"/>
            </a:pPr>
            <a:r>
              <a:rPr lang="en-US" sz="1150" dirty="0">
                <a:solidFill>
                  <a:srgbClr val="C8811F"/>
                </a:solidFill>
                <a:latin typeface="Calibri" pitchFamily="34" charset="0"/>
                <a:ea typeface="Calibri" pitchFamily="34" charset="-122"/>
                <a:cs typeface="Calibri" pitchFamily="34" charset="-120"/>
              </a:rPr>
              <a:t>RAM は sizeof の実測値、Flash と電力は現状 ESTIMATED（推定）</a:t>
            </a:r>
            <a:endParaRPr lang="en-US" sz="1200" dirty="0"/>
          </a:p>
          <a:p>
            <a:pPr marL="177800" indent="-177800">
              <a:spcAft>
                <a:spcPts val="700"/>
              </a:spcAft>
              <a:buSzPct val="100000"/>
              <a:buChar char="•"/>
            </a:pPr>
            <a:r>
              <a:rPr lang="en-US" sz="1150" dirty="0">
                <a:solidFill>
                  <a:srgbClr val="5B6763"/>
                </a:solidFill>
                <a:latin typeface="Calibri" pitchFamily="34" charset="0"/>
                <a:ea typeface="Calibri" pitchFamily="34" charset="-122"/>
                <a:cs typeface="Calibri" pitchFamily="34" charset="-120"/>
              </a:rPr>
              <a:t>実測計画：電流ロガーで IDLE / SLEEP / 測定中 の3点（→ 実験計画）</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COMPARISON</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従来手法との比較 — Raw / 移動平均 / 提案法</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15</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600200"/>
            <a:ext cx="2377440" cy="548640"/>
          </a:xfrm>
          <a:prstGeom prst="rect">
            <a:avLst/>
          </a:prstGeom>
          <a:solidFill>
            <a:srgbClr val="0E3B36"/>
          </a:solidFill>
          <a:ln w="12700">
            <a:solidFill>
              <a:srgbClr val="FFFFFF"/>
            </a:solidFill>
            <a:prstDash val="solid"/>
          </a:ln>
        </p:spPr>
      </p:sp>
      <p:sp>
        <p:nvSpPr>
          <p:cNvPr id="7" name="Text 5"/>
          <p:cNvSpPr/>
          <p:nvPr/>
        </p:nvSpPr>
        <p:spPr>
          <a:xfrm>
            <a:off x="566928" y="1600200"/>
            <a:ext cx="2377440" cy="5486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観点</a:t>
            </a:r>
            <a:endParaRPr lang="en-US" sz="1250" dirty="0"/>
          </a:p>
        </p:txBody>
      </p:sp>
      <p:sp>
        <p:nvSpPr>
          <p:cNvPr id="8" name="Shape 6"/>
          <p:cNvSpPr/>
          <p:nvPr/>
        </p:nvSpPr>
        <p:spPr>
          <a:xfrm>
            <a:off x="2944368" y="1600200"/>
            <a:ext cx="2743200" cy="548640"/>
          </a:xfrm>
          <a:prstGeom prst="rect">
            <a:avLst/>
          </a:prstGeom>
          <a:solidFill>
            <a:srgbClr val="0E3B36"/>
          </a:solidFill>
          <a:ln w="12700">
            <a:solidFill>
              <a:srgbClr val="FFFFFF"/>
            </a:solidFill>
            <a:prstDash val="solid"/>
          </a:ln>
        </p:spPr>
      </p:sp>
      <p:sp>
        <p:nvSpPr>
          <p:cNvPr id="9" name="Text 7"/>
          <p:cNvSpPr/>
          <p:nvPr/>
        </p:nvSpPr>
        <p:spPr>
          <a:xfrm>
            <a:off x="2944368" y="1600200"/>
            <a:ext cx="2743200" cy="5486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生値 + 固定閾値</a:t>
            </a:r>
            <a:endParaRPr lang="en-US" sz="1250" dirty="0"/>
          </a:p>
        </p:txBody>
      </p:sp>
      <p:sp>
        <p:nvSpPr>
          <p:cNvPr id="10" name="Shape 8"/>
          <p:cNvSpPr/>
          <p:nvPr/>
        </p:nvSpPr>
        <p:spPr>
          <a:xfrm>
            <a:off x="5687568" y="1600200"/>
            <a:ext cx="2926080" cy="548640"/>
          </a:xfrm>
          <a:prstGeom prst="rect">
            <a:avLst/>
          </a:prstGeom>
          <a:solidFill>
            <a:srgbClr val="0E3B36"/>
          </a:solidFill>
          <a:ln w="12700">
            <a:solidFill>
              <a:srgbClr val="FFFFFF"/>
            </a:solidFill>
            <a:prstDash val="solid"/>
          </a:ln>
        </p:spPr>
      </p:sp>
      <p:sp>
        <p:nvSpPr>
          <p:cNvPr id="11" name="Text 9"/>
          <p:cNvSpPr/>
          <p:nvPr/>
        </p:nvSpPr>
        <p:spPr>
          <a:xfrm>
            <a:off x="5687568" y="1600200"/>
            <a:ext cx="2926080" cy="5486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移動平均 + 固定閾値</a:t>
            </a:r>
            <a:endParaRPr lang="en-US" sz="1250" dirty="0"/>
          </a:p>
        </p:txBody>
      </p:sp>
      <p:sp>
        <p:nvSpPr>
          <p:cNvPr id="12" name="Shape 10"/>
          <p:cNvSpPr/>
          <p:nvPr/>
        </p:nvSpPr>
        <p:spPr>
          <a:xfrm>
            <a:off x="8613648" y="1600200"/>
            <a:ext cx="3017520" cy="548640"/>
          </a:xfrm>
          <a:prstGeom prst="rect">
            <a:avLst/>
          </a:prstGeom>
          <a:solidFill>
            <a:srgbClr val="12766B"/>
          </a:solidFill>
          <a:ln w="12700">
            <a:solidFill>
              <a:srgbClr val="FFFFFF"/>
            </a:solidFill>
            <a:prstDash val="solid"/>
          </a:ln>
        </p:spPr>
      </p:sp>
      <p:sp>
        <p:nvSpPr>
          <p:cNvPr id="13" name="Text 11"/>
          <p:cNvSpPr/>
          <p:nvPr/>
        </p:nvSpPr>
        <p:spPr>
          <a:xfrm>
            <a:off x="8613648" y="1600200"/>
            <a:ext cx="3017520" cy="54864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HydroPaw BAP</a:t>
            </a:r>
            <a:endParaRPr lang="en-US" sz="1250" dirty="0"/>
          </a:p>
        </p:txBody>
      </p:sp>
      <p:sp>
        <p:nvSpPr>
          <p:cNvPr id="14" name="Shape 12"/>
          <p:cNvSpPr/>
          <p:nvPr/>
        </p:nvSpPr>
        <p:spPr>
          <a:xfrm>
            <a:off x="566928" y="2148840"/>
            <a:ext cx="2377440" cy="621792"/>
          </a:xfrm>
          <a:prstGeom prst="rect">
            <a:avLst/>
          </a:prstGeom>
          <a:solidFill>
            <a:srgbClr val="FFFFFF"/>
          </a:solidFill>
          <a:ln w="9525">
            <a:solidFill>
              <a:srgbClr val="DADFDC"/>
            </a:solidFill>
            <a:prstDash val="solid"/>
          </a:ln>
        </p:spPr>
      </p:sp>
      <p:sp>
        <p:nvSpPr>
          <p:cNvPr id="15" name="Text 13"/>
          <p:cNvSpPr/>
          <p:nvPr/>
        </p:nvSpPr>
        <p:spPr>
          <a:xfrm>
            <a:off x="676656" y="2148840"/>
            <a:ext cx="2194560" cy="621792"/>
          </a:xfrm>
          <a:prstGeom prst="rect">
            <a:avLst/>
          </a:prstGeom>
          <a:noFill/>
          <a:ln/>
        </p:spPr>
        <p:txBody>
          <a:bodyPr wrap="square" rtlCol="0" anchor="ctr"/>
          <a:lstStyle/>
          <a:p>
            <a:pPr algn="l" indent="0" marL="0">
              <a:buNone/>
            </a:pPr>
            <a:r>
              <a:rPr lang="en-US" sz="1200" b="1" dirty="0">
                <a:solidFill>
                  <a:srgbClr val="1C1C1E"/>
                </a:solidFill>
                <a:latin typeface="Calibri" pitchFamily="34" charset="0"/>
                <a:ea typeface="Calibri" pitchFamily="34" charset="-122"/>
                <a:cs typeface="Calibri" pitchFamily="34" charset="-120"/>
              </a:rPr>
              <a:t>スパイク耐性</a:t>
            </a:r>
            <a:endParaRPr lang="en-US" sz="1200" dirty="0"/>
          </a:p>
        </p:txBody>
      </p:sp>
      <p:sp>
        <p:nvSpPr>
          <p:cNvPr id="16" name="Shape 14"/>
          <p:cNvSpPr/>
          <p:nvPr/>
        </p:nvSpPr>
        <p:spPr>
          <a:xfrm>
            <a:off x="2944368" y="2148840"/>
            <a:ext cx="2743200" cy="621792"/>
          </a:xfrm>
          <a:prstGeom prst="rect">
            <a:avLst/>
          </a:prstGeom>
          <a:solidFill>
            <a:srgbClr val="FFFFFF"/>
          </a:solidFill>
          <a:ln w="9525">
            <a:solidFill>
              <a:srgbClr val="DADFDC"/>
            </a:solidFill>
            <a:prstDash val="solid"/>
          </a:ln>
        </p:spPr>
      </p:sp>
      <p:sp>
        <p:nvSpPr>
          <p:cNvPr id="17" name="Text 15"/>
          <p:cNvSpPr/>
          <p:nvPr/>
        </p:nvSpPr>
        <p:spPr>
          <a:xfrm>
            <a:off x="3054096" y="2148840"/>
            <a:ext cx="2560320" cy="621792"/>
          </a:xfrm>
          <a:prstGeom prst="rect">
            <a:avLst/>
          </a:prstGeom>
          <a:noFill/>
          <a:ln/>
        </p:spPr>
        <p:txBody>
          <a:bodyPr wrap="square" rtlCol="0" anchor="ctr"/>
          <a:lstStyle/>
          <a:p>
            <a:pPr algn="ctr" indent="0" marL="0">
              <a:buNone/>
            </a:pPr>
            <a:r>
              <a:rPr lang="en-US" sz="1200" dirty="0">
                <a:solidFill>
                  <a:srgbClr val="CE544C"/>
                </a:solidFill>
                <a:latin typeface="Calibri" pitchFamily="34" charset="0"/>
                <a:ea typeface="Calibri" pitchFamily="34" charset="-122"/>
                <a:cs typeface="Calibri" pitchFamily="34" charset="-120"/>
              </a:rPr>
              <a:t>×  そのまま誤検出</a:t>
            </a:r>
            <a:endParaRPr lang="en-US" sz="1200" dirty="0"/>
          </a:p>
        </p:txBody>
      </p:sp>
      <p:sp>
        <p:nvSpPr>
          <p:cNvPr id="18" name="Shape 16"/>
          <p:cNvSpPr/>
          <p:nvPr/>
        </p:nvSpPr>
        <p:spPr>
          <a:xfrm>
            <a:off x="5687568" y="2148840"/>
            <a:ext cx="2926080" cy="621792"/>
          </a:xfrm>
          <a:prstGeom prst="rect">
            <a:avLst/>
          </a:prstGeom>
          <a:solidFill>
            <a:srgbClr val="FFFFFF"/>
          </a:solidFill>
          <a:ln w="9525">
            <a:solidFill>
              <a:srgbClr val="DADFDC"/>
            </a:solidFill>
            <a:prstDash val="solid"/>
          </a:ln>
        </p:spPr>
      </p:sp>
      <p:sp>
        <p:nvSpPr>
          <p:cNvPr id="19" name="Text 17"/>
          <p:cNvSpPr/>
          <p:nvPr/>
        </p:nvSpPr>
        <p:spPr>
          <a:xfrm>
            <a:off x="5797296" y="2148840"/>
            <a:ext cx="2743200" cy="621792"/>
          </a:xfrm>
          <a:prstGeom prst="rect">
            <a:avLst/>
          </a:prstGeom>
          <a:noFill/>
          <a:ln/>
        </p:spPr>
        <p:txBody>
          <a:bodyPr wrap="square" rtlCol="0" anchor="ctr"/>
          <a:lstStyle/>
          <a:p>
            <a:pPr algn="ctr" indent="0" marL="0">
              <a:buNone/>
            </a:pPr>
            <a:r>
              <a:rPr lang="en-US" sz="1200" dirty="0">
                <a:solidFill>
                  <a:srgbClr val="C8811F"/>
                </a:solidFill>
                <a:latin typeface="Calibri" pitchFamily="34" charset="0"/>
                <a:ea typeface="Calibri" pitchFamily="34" charset="-122"/>
                <a:cs typeface="Calibri" pitchFamily="34" charset="-120"/>
              </a:rPr>
              <a:t>△  平均に混入・鈍る</a:t>
            </a:r>
            <a:endParaRPr lang="en-US" sz="1200" dirty="0"/>
          </a:p>
        </p:txBody>
      </p:sp>
      <p:sp>
        <p:nvSpPr>
          <p:cNvPr id="20" name="Shape 18"/>
          <p:cNvSpPr/>
          <p:nvPr/>
        </p:nvSpPr>
        <p:spPr>
          <a:xfrm>
            <a:off x="8613648" y="2148840"/>
            <a:ext cx="3017520" cy="621792"/>
          </a:xfrm>
          <a:prstGeom prst="rect">
            <a:avLst/>
          </a:prstGeom>
          <a:solidFill>
            <a:srgbClr val="D9EBE7"/>
          </a:solidFill>
          <a:ln w="9525">
            <a:solidFill>
              <a:srgbClr val="DADFDC"/>
            </a:solidFill>
            <a:prstDash val="solid"/>
          </a:ln>
        </p:spPr>
      </p:sp>
      <p:sp>
        <p:nvSpPr>
          <p:cNvPr id="21" name="Text 19"/>
          <p:cNvSpPr/>
          <p:nvPr/>
        </p:nvSpPr>
        <p:spPr>
          <a:xfrm>
            <a:off x="8723376" y="2148840"/>
            <a:ext cx="2834640" cy="621792"/>
          </a:xfrm>
          <a:prstGeom prst="rect">
            <a:avLst/>
          </a:prstGeom>
          <a:noFill/>
          <a:ln/>
        </p:spPr>
        <p:txBody>
          <a:bodyPr wrap="square" rtlCol="0" anchor="ctr"/>
          <a:lstStyle/>
          <a:p>
            <a:pPr algn="ctr" indent="0" marL="0">
              <a:buNone/>
            </a:pPr>
            <a:r>
              <a:rPr lang="en-US" sz="1200" b="1" dirty="0">
                <a:solidFill>
                  <a:srgbClr val="12766B"/>
                </a:solidFill>
                <a:latin typeface="Calibri" pitchFamily="34" charset="0"/>
                <a:ea typeface="Calibri" pitchFamily="34" charset="-122"/>
                <a:cs typeface="Calibri" pitchFamily="34" charset="-120"/>
              </a:rPr>
              <a:t>◎  Hampelで除去</a:t>
            </a:r>
            <a:endParaRPr lang="en-US" sz="1200" dirty="0"/>
          </a:p>
        </p:txBody>
      </p:sp>
      <p:sp>
        <p:nvSpPr>
          <p:cNvPr id="22" name="Shape 20"/>
          <p:cNvSpPr/>
          <p:nvPr/>
        </p:nvSpPr>
        <p:spPr>
          <a:xfrm>
            <a:off x="566928" y="2770632"/>
            <a:ext cx="2377440" cy="621792"/>
          </a:xfrm>
          <a:prstGeom prst="rect">
            <a:avLst/>
          </a:prstGeom>
          <a:solidFill>
            <a:srgbClr val="F1F0EC"/>
          </a:solidFill>
          <a:ln w="9525">
            <a:solidFill>
              <a:srgbClr val="DADFDC"/>
            </a:solidFill>
            <a:prstDash val="solid"/>
          </a:ln>
        </p:spPr>
      </p:sp>
      <p:sp>
        <p:nvSpPr>
          <p:cNvPr id="23" name="Text 21"/>
          <p:cNvSpPr/>
          <p:nvPr/>
        </p:nvSpPr>
        <p:spPr>
          <a:xfrm>
            <a:off x="676656" y="2770632"/>
            <a:ext cx="2194560" cy="621792"/>
          </a:xfrm>
          <a:prstGeom prst="rect">
            <a:avLst/>
          </a:prstGeom>
          <a:noFill/>
          <a:ln/>
        </p:spPr>
        <p:txBody>
          <a:bodyPr wrap="square" rtlCol="0" anchor="ctr"/>
          <a:lstStyle/>
          <a:p>
            <a:pPr algn="l" indent="0" marL="0">
              <a:buNone/>
            </a:pPr>
            <a:r>
              <a:rPr lang="en-US" sz="1200" b="1" dirty="0">
                <a:solidFill>
                  <a:srgbClr val="1C1C1E"/>
                </a:solidFill>
                <a:latin typeface="Calibri" pitchFamily="34" charset="0"/>
                <a:ea typeface="Calibri" pitchFamily="34" charset="-122"/>
                <a:cs typeface="Calibri" pitchFamily="34" charset="-120"/>
              </a:rPr>
              <a:t>立上り追従</a:t>
            </a:r>
            <a:endParaRPr lang="en-US" sz="1200" dirty="0"/>
          </a:p>
        </p:txBody>
      </p:sp>
      <p:sp>
        <p:nvSpPr>
          <p:cNvPr id="24" name="Shape 22"/>
          <p:cNvSpPr/>
          <p:nvPr/>
        </p:nvSpPr>
        <p:spPr>
          <a:xfrm>
            <a:off x="2944368" y="2770632"/>
            <a:ext cx="2743200" cy="621792"/>
          </a:xfrm>
          <a:prstGeom prst="rect">
            <a:avLst/>
          </a:prstGeom>
          <a:solidFill>
            <a:srgbClr val="F1F0EC"/>
          </a:solidFill>
          <a:ln w="9525">
            <a:solidFill>
              <a:srgbClr val="DADFDC"/>
            </a:solidFill>
            <a:prstDash val="solid"/>
          </a:ln>
        </p:spPr>
      </p:sp>
      <p:sp>
        <p:nvSpPr>
          <p:cNvPr id="25" name="Text 23"/>
          <p:cNvSpPr/>
          <p:nvPr/>
        </p:nvSpPr>
        <p:spPr>
          <a:xfrm>
            <a:off x="3054096" y="2770632"/>
            <a:ext cx="2560320" cy="621792"/>
          </a:xfrm>
          <a:prstGeom prst="rect">
            <a:avLst/>
          </a:prstGeom>
          <a:noFill/>
          <a:ln/>
        </p:spPr>
        <p:txBody>
          <a:bodyPr wrap="square" rtlCol="0" anchor="ctr"/>
          <a:lstStyle/>
          <a:p>
            <a:pPr algn="ctr" indent="0" marL="0">
              <a:buNone/>
            </a:pPr>
            <a:r>
              <a:rPr lang="en-US" sz="1200" dirty="0">
                <a:solidFill>
                  <a:srgbClr val="1C1C1E"/>
                </a:solidFill>
                <a:latin typeface="Calibri" pitchFamily="34" charset="0"/>
                <a:ea typeface="Calibri" pitchFamily="34" charset="-122"/>
                <a:cs typeface="Calibri" pitchFamily="34" charset="-120"/>
              </a:rPr>
              <a:t>○  遅延なし</a:t>
            </a:r>
            <a:endParaRPr lang="en-US" sz="1200" dirty="0"/>
          </a:p>
        </p:txBody>
      </p:sp>
      <p:sp>
        <p:nvSpPr>
          <p:cNvPr id="26" name="Shape 24"/>
          <p:cNvSpPr/>
          <p:nvPr/>
        </p:nvSpPr>
        <p:spPr>
          <a:xfrm>
            <a:off x="5687568" y="2770632"/>
            <a:ext cx="2926080" cy="621792"/>
          </a:xfrm>
          <a:prstGeom prst="rect">
            <a:avLst/>
          </a:prstGeom>
          <a:solidFill>
            <a:srgbClr val="F1F0EC"/>
          </a:solidFill>
          <a:ln w="9525">
            <a:solidFill>
              <a:srgbClr val="DADFDC"/>
            </a:solidFill>
            <a:prstDash val="solid"/>
          </a:ln>
        </p:spPr>
      </p:sp>
      <p:sp>
        <p:nvSpPr>
          <p:cNvPr id="27" name="Text 25"/>
          <p:cNvSpPr/>
          <p:nvPr/>
        </p:nvSpPr>
        <p:spPr>
          <a:xfrm>
            <a:off x="5797296" y="2770632"/>
            <a:ext cx="2743200" cy="621792"/>
          </a:xfrm>
          <a:prstGeom prst="rect">
            <a:avLst/>
          </a:prstGeom>
          <a:noFill/>
          <a:ln/>
        </p:spPr>
        <p:txBody>
          <a:bodyPr wrap="square" rtlCol="0" anchor="ctr"/>
          <a:lstStyle/>
          <a:p>
            <a:pPr algn="ctr" indent="0" marL="0">
              <a:buNone/>
            </a:pPr>
            <a:r>
              <a:rPr lang="en-US" sz="1200" dirty="0">
                <a:solidFill>
                  <a:srgbClr val="CE544C"/>
                </a:solidFill>
                <a:latin typeface="Calibri" pitchFamily="34" charset="0"/>
                <a:ea typeface="Calibri" pitchFamily="34" charset="-122"/>
                <a:cs typeface="Calibri" pitchFamily="34" charset="-120"/>
              </a:rPr>
              <a:t>×  窓幅ぶん遅延</a:t>
            </a:r>
            <a:endParaRPr lang="en-US" sz="1200" dirty="0"/>
          </a:p>
        </p:txBody>
      </p:sp>
      <p:sp>
        <p:nvSpPr>
          <p:cNvPr id="28" name="Shape 26"/>
          <p:cNvSpPr/>
          <p:nvPr/>
        </p:nvSpPr>
        <p:spPr>
          <a:xfrm>
            <a:off x="8613648" y="2770632"/>
            <a:ext cx="3017520" cy="621792"/>
          </a:xfrm>
          <a:prstGeom prst="rect">
            <a:avLst/>
          </a:prstGeom>
          <a:solidFill>
            <a:srgbClr val="D9EBE7"/>
          </a:solidFill>
          <a:ln w="9525">
            <a:solidFill>
              <a:srgbClr val="DADFDC"/>
            </a:solidFill>
            <a:prstDash val="solid"/>
          </a:ln>
        </p:spPr>
      </p:sp>
      <p:sp>
        <p:nvSpPr>
          <p:cNvPr id="29" name="Text 27"/>
          <p:cNvSpPr/>
          <p:nvPr/>
        </p:nvSpPr>
        <p:spPr>
          <a:xfrm>
            <a:off x="8723376" y="2770632"/>
            <a:ext cx="2834640" cy="621792"/>
          </a:xfrm>
          <a:prstGeom prst="rect">
            <a:avLst/>
          </a:prstGeom>
          <a:noFill/>
          <a:ln/>
        </p:spPr>
        <p:txBody>
          <a:bodyPr wrap="square" rtlCol="0" anchor="ctr"/>
          <a:lstStyle/>
          <a:p>
            <a:pPr algn="ctr" indent="0" marL="0">
              <a:buNone/>
            </a:pPr>
            <a:r>
              <a:rPr lang="en-US" sz="1200" b="1" dirty="0">
                <a:solidFill>
                  <a:srgbClr val="12766B"/>
                </a:solidFill>
                <a:latin typeface="Calibri" pitchFamily="34" charset="0"/>
                <a:ea typeface="Calibri" pitchFamily="34" charset="-122"/>
                <a:cs typeface="Calibri" pitchFamily="34" charset="-120"/>
              </a:rPr>
              <a:t>◎  適応EMAで両立</a:t>
            </a:r>
            <a:endParaRPr lang="en-US" sz="1200" dirty="0"/>
          </a:p>
        </p:txBody>
      </p:sp>
      <p:sp>
        <p:nvSpPr>
          <p:cNvPr id="30" name="Shape 28"/>
          <p:cNvSpPr/>
          <p:nvPr/>
        </p:nvSpPr>
        <p:spPr>
          <a:xfrm>
            <a:off x="566928" y="3392424"/>
            <a:ext cx="2377440" cy="621792"/>
          </a:xfrm>
          <a:prstGeom prst="rect">
            <a:avLst/>
          </a:prstGeom>
          <a:solidFill>
            <a:srgbClr val="FFFFFF"/>
          </a:solidFill>
          <a:ln w="9525">
            <a:solidFill>
              <a:srgbClr val="DADFDC"/>
            </a:solidFill>
            <a:prstDash val="solid"/>
          </a:ln>
        </p:spPr>
      </p:sp>
      <p:sp>
        <p:nvSpPr>
          <p:cNvPr id="31" name="Text 29"/>
          <p:cNvSpPr/>
          <p:nvPr/>
        </p:nvSpPr>
        <p:spPr>
          <a:xfrm>
            <a:off x="676656" y="3392424"/>
            <a:ext cx="2194560" cy="621792"/>
          </a:xfrm>
          <a:prstGeom prst="rect">
            <a:avLst/>
          </a:prstGeom>
          <a:noFill/>
          <a:ln/>
        </p:spPr>
        <p:txBody>
          <a:bodyPr wrap="square" rtlCol="0" anchor="ctr"/>
          <a:lstStyle/>
          <a:p>
            <a:pPr algn="l" indent="0" marL="0">
              <a:buNone/>
            </a:pPr>
            <a:r>
              <a:rPr lang="en-US" sz="1200" b="1" dirty="0">
                <a:solidFill>
                  <a:srgbClr val="1C1C1E"/>
                </a:solidFill>
                <a:latin typeface="Calibri" pitchFamily="34" charset="0"/>
                <a:ea typeface="Calibri" pitchFamily="34" charset="-122"/>
                <a:cs typeface="Calibri" pitchFamily="34" charset="-120"/>
              </a:rPr>
              <a:t>ドリフト補償</a:t>
            </a:r>
            <a:endParaRPr lang="en-US" sz="1200" dirty="0"/>
          </a:p>
        </p:txBody>
      </p:sp>
      <p:sp>
        <p:nvSpPr>
          <p:cNvPr id="32" name="Shape 30"/>
          <p:cNvSpPr/>
          <p:nvPr/>
        </p:nvSpPr>
        <p:spPr>
          <a:xfrm>
            <a:off x="2944368" y="3392424"/>
            <a:ext cx="2743200" cy="621792"/>
          </a:xfrm>
          <a:prstGeom prst="rect">
            <a:avLst/>
          </a:prstGeom>
          <a:solidFill>
            <a:srgbClr val="FFFFFF"/>
          </a:solidFill>
          <a:ln w="9525">
            <a:solidFill>
              <a:srgbClr val="DADFDC"/>
            </a:solidFill>
            <a:prstDash val="solid"/>
          </a:ln>
        </p:spPr>
      </p:sp>
      <p:sp>
        <p:nvSpPr>
          <p:cNvPr id="33" name="Text 31"/>
          <p:cNvSpPr/>
          <p:nvPr/>
        </p:nvSpPr>
        <p:spPr>
          <a:xfrm>
            <a:off x="3054096" y="3392424"/>
            <a:ext cx="2560320" cy="621792"/>
          </a:xfrm>
          <a:prstGeom prst="rect">
            <a:avLst/>
          </a:prstGeom>
          <a:noFill/>
          <a:ln/>
        </p:spPr>
        <p:txBody>
          <a:bodyPr wrap="square" rtlCol="0" anchor="ctr"/>
          <a:lstStyle/>
          <a:p>
            <a:pPr algn="ctr" indent="0" marL="0">
              <a:buNone/>
            </a:pPr>
            <a:r>
              <a:rPr lang="en-US" sz="1200" dirty="0">
                <a:solidFill>
                  <a:srgbClr val="CE544C"/>
                </a:solidFill>
                <a:latin typeface="Calibri" pitchFamily="34" charset="0"/>
                <a:ea typeface="Calibri" pitchFamily="34" charset="-122"/>
                <a:cs typeface="Calibri" pitchFamily="34" charset="-120"/>
              </a:rPr>
              <a:t>×  なし</a:t>
            </a:r>
            <a:endParaRPr lang="en-US" sz="1200" dirty="0"/>
          </a:p>
        </p:txBody>
      </p:sp>
      <p:sp>
        <p:nvSpPr>
          <p:cNvPr id="34" name="Shape 32"/>
          <p:cNvSpPr/>
          <p:nvPr/>
        </p:nvSpPr>
        <p:spPr>
          <a:xfrm>
            <a:off x="5687568" y="3392424"/>
            <a:ext cx="2926080" cy="621792"/>
          </a:xfrm>
          <a:prstGeom prst="rect">
            <a:avLst/>
          </a:prstGeom>
          <a:solidFill>
            <a:srgbClr val="FFFFFF"/>
          </a:solidFill>
          <a:ln w="9525">
            <a:solidFill>
              <a:srgbClr val="DADFDC"/>
            </a:solidFill>
            <a:prstDash val="solid"/>
          </a:ln>
        </p:spPr>
      </p:sp>
      <p:sp>
        <p:nvSpPr>
          <p:cNvPr id="35" name="Text 33"/>
          <p:cNvSpPr/>
          <p:nvPr/>
        </p:nvSpPr>
        <p:spPr>
          <a:xfrm>
            <a:off x="5797296" y="3392424"/>
            <a:ext cx="2743200" cy="621792"/>
          </a:xfrm>
          <a:prstGeom prst="rect">
            <a:avLst/>
          </a:prstGeom>
          <a:noFill/>
          <a:ln/>
        </p:spPr>
        <p:txBody>
          <a:bodyPr wrap="square" rtlCol="0" anchor="ctr"/>
          <a:lstStyle/>
          <a:p>
            <a:pPr algn="ctr" indent="0" marL="0">
              <a:buNone/>
            </a:pPr>
            <a:r>
              <a:rPr lang="en-US" sz="1200" dirty="0">
                <a:solidFill>
                  <a:srgbClr val="CE544C"/>
                </a:solidFill>
                <a:latin typeface="Calibri" pitchFamily="34" charset="0"/>
                <a:ea typeface="Calibri" pitchFamily="34" charset="-122"/>
                <a:cs typeface="Calibri" pitchFamily="34" charset="-120"/>
              </a:rPr>
              <a:t>×  なし</a:t>
            </a:r>
            <a:endParaRPr lang="en-US" sz="1200" dirty="0"/>
          </a:p>
        </p:txBody>
      </p:sp>
      <p:sp>
        <p:nvSpPr>
          <p:cNvPr id="36" name="Shape 34"/>
          <p:cNvSpPr/>
          <p:nvPr/>
        </p:nvSpPr>
        <p:spPr>
          <a:xfrm>
            <a:off x="8613648" y="3392424"/>
            <a:ext cx="3017520" cy="621792"/>
          </a:xfrm>
          <a:prstGeom prst="rect">
            <a:avLst/>
          </a:prstGeom>
          <a:solidFill>
            <a:srgbClr val="D9EBE7"/>
          </a:solidFill>
          <a:ln w="9525">
            <a:solidFill>
              <a:srgbClr val="DADFDC"/>
            </a:solidFill>
            <a:prstDash val="solid"/>
          </a:ln>
        </p:spPr>
      </p:sp>
      <p:sp>
        <p:nvSpPr>
          <p:cNvPr id="37" name="Text 35"/>
          <p:cNvSpPr/>
          <p:nvPr/>
        </p:nvSpPr>
        <p:spPr>
          <a:xfrm>
            <a:off x="8723376" y="3392424"/>
            <a:ext cx="2834640" cy="621792"/>
          </a:xfrm>
          <a:prstGeom prst="rect">
            <a:avLst/>
          </a:prstGeom>
          <a:noFill/>
          <a:ln/>
        </p:spPr>
        <p:txBody>
          <a:bodyPr wrap="square" rtlCol="0" anchor="ctr"/>
          <a:lstStyle/>
          <a:p>
            <a:pPr algn="ctr" indent="0" marL="0">
              <a:buNone/>
            </a:pPr>
            <a:r>
              <a:rPr lang="en-US" sz="1200" b="1" dirty="0">
                <a:solidFill>
                  <a:srgbClr val="12766B"/>
                </a:solidFill>
                <a:latin typeface="Calibri" pitchFamily="34" charset="0"/>
                <a:ea typeface="Calibri" pitchFamily="34" charset="-122"/>
                <a:cs typeface="Calibri" pitchFamily="34" charset="-120"/>
              </a:rPr>
              <a:t>◎  quiet-gate学習</a:t>
            </a:r>
            <a:endParaRPr lang="en-US" sz="1200" dirty="0"/>
          </a:p>
        </p:txBody>
      </p:sp>
      <p:sp>
        <p:nvSpPr>
          <p:cNvPr id="38" name="Shape 36"/>
          <p:cNvSpPr/>
          <p:nvPr/>
        </p:nvSpPr>
        <p:spPr>
          <a:xfrm>
            <a:off x="566928" y="4014216"/>
            <a:ext cx="2377440" cy="621792"/>
          </a:xfrm>
          <a:prstGeom prst="rect">
            <a:avLst/>
          </a:prstGeom>
          <a:solidFill>
            <a:srgbClr val="F1F0EC"/>
          </a:solidFill>
          <a:ln w="9525">
            <a:solidFill>
              <a:srgbClr val="DADFDC"/>
            </a:solidFill>
            <a:prstDash val="solid"/>
          </a:ln>
        </p:spPr>
      </p:sp>
      <p:sp>
        <p:nvSpPr>
          <p:cNvPr id="39" name="Text 37"/>
          <p:cNvSpPr/>
          <p:nvPr/>
        </p:nvSpPr>
        <p:spPr>
          <a:xfrm>
            <a:off x="676656" y="4014216"/>
            <a:ext cx="2194560" cy="621792"/>
          </a:xfrm>
          <a:prstGeom prst="rect">
            <a:avLst/>
          </a:prstGeom>
          <a:noFill/>
          <a:ln/>
        </p:spPr>
        <p:txBody>
          <a:bodyPr wrap="square" rtlCol="0" anchor="ctr"/>
          <a:lstStyle/>
          <a:p>
            <a:pPr algn="l" indent="0" marL="0">
              <a:buNone/>
            </a:pPr>
            <a:r>
              <a:rPr lang="en-US" sz="1200" b="1" dirty="0">
                <a:solidFill>
                  <a:srgbClr val="1C1C1E"/>
                </a:solidFill>
                <a:latin typeface="Calibri" pitchFamily="34" charset="0"/>
                <a:ea typeface="Calibri" pitchFamily="34" charset="-122"/>
                <a:cs typeface="Calibri" pitchFamily="34" charset="-120"/>
              </a:rPr>
              <a:t>測定品質評価</a:t>
            </a:r>
            <a:endParaRPr lang="en-US" sz="1200" dirty="0"/>
          </a:p>
        </p:txBody>
      </p:sp>
      <p:sp>
        <p:nvSpPr>
          <p:cNvPr id="40" name="Shape 38"/>
          <p:cNvSpPr/>
          <p:nvPr/>
        </p:nvSpPr>
        <p:spPr>
          <a:xfrm>
            <a:off x="2944368" y="4014216"/>
            <a:ext cx="2743200" cy="621792"/>
          </a:xfrm>
          <a:prstGeom prst="rect">
            <a:avLst/>
          </a:prstGeom>
          <a:solidFill>
            <a:srgbClr val="F1F0EC"/>
          </a:solidFill>
          <a:ln w="9525">
            <a:solidFill>
              <a:srgbClr val="DADFDC"/>
            </a:solidFill>
            <a:prstDash val="solid"/>
          </a:ln>
        </p:spPr>
      </p:sp>
      <p:sp>
        <p:nvSpPr>
          <p:cNvPr id="41" name="Text 39"/>
          <p:cNvSpPr/>
          <p:nvPr/>
        </p:nvSpPr>
        <p:spPr>
          <a:xfrm>
            <a:off x="3054096" y="4014216"/>
            <a:ext cx="2560320" cy="621792"/>
          </a:xfrm>
          <a:prstGeom prst="rect">
            <a:avLst/>
          </a:prstGeom>
          <a:noFill/>
          <a:ln/>
        </p:spPr>
        <p:txBody>
          <a:bodyPr wrap="square" rtlCol="0" anchor="ctr"/>
          <a:lstStyle/>
          <a:p>
            <a:pPr algn="ctr" indent="0" marL="0">
              <a:buNone/>
            </a:pPr>
            <a:r>
              <a:rPr lang="en-US" sz="1200" dirty="0">
                <a:solidFill>
                  <a:srgbClr val="CE544C"/>
                </a:solidFill>
                <a:latin typeface="Calibri" pitchFamily="34" charset="0"/>
                <a:ea typeface="Calibri" pitchFamily="34" charset="-122"/>
                <a:cs typeface="Calibri" pitchFamily="34" charset="-120"/>
              </a:rPr>
              <a:t>×  なし</a:t>
            </a:r>
            <a:endParaRPr lang="en-US" sz="1200" dirty="0"/>
          </a:p>
        </p:txBody>
      </p:sp>
      <p:sp>
        <p:nvSpPr>
          <p:cNvPr id="42" name="Shape 40"/>
          <p:cNvSpPr/>
          <p:nvPr/>
        </p:nvSpPr>
        <p:spPr>
          <a:xfrm>
            <a:off x="5687568" y="4014216"/>
            <a:ext cx="2926080" cy="621792"/>
          </a:xfrm>
          <a:prstGeom prst="rect">
            <a:avLst/>
          </a:prstGeom>
          <a:solidFill>
            <a:srgbClr val="F1F0EC"/>
          </a:solidFill>
          <a:ln w="9525">
            <a:solidFill>
              <a:srgbClr val="DADFDC"/>
            </a:solidFill>
            <a:prstDash val="solid"/>
          </a:ln>
        </p:spPr>
      </p:sp>
      <p:sp>
        <p:nvSpPr>
          <p:cNvPr id="43" name="Text 41"/>
          <p:cNvSpPr/>
          <p:nvPr/>
        </p:nvSpPr>
        <p:spPr>
          <a:xfrm>
            <a:off x="5797296" y="4014216"/>
            <a:ext cx="2743200" cy="621792"/>
          </a:xfrm>
          <a:prstGeom prst="rect">
            <a:avLst/>
          </a:prstGeom>
          <a:noFill/>
          <a:ln/>
        </p:spPr>
        <p:txBody>
          <a:bodyPr wrap="square" rtlCol="0" anchor="ctr"/>
          <a:lstStyle/>
          <a:p>
            <a:pPr algn="ctr" indent="0" marL="0">
              <a:buNone/>
            </a:pPr>
            <a:r>
              <a:rPr lang="en-US" sz="1200" dirty="0">
                <a:solidFill>
                  <a:srgbClr val="CE544C"/>
                </a:solidFill>
                <a:latin typeface="Calibri" pitchFamily="34" charset="0"/>
                <a:ea typeface="Calibri" pitchFamily="34" charset="-122"/>
                <a:cs typeface="Calibri" pitchFamily="34" charset="-120"/>
              </a:rPr>
              <a:t>×  なし</a:t>
            </a:r>
            <a:endParaRPr lang="en-US" sz="1200" dirty="0"/>
          </a:p>
        </p:txBody>
      </p:sp>
      <p:sp>
        <p:nvSpPr>
          <p:cNvPr id="44" name="Shape 42"/>
          <p:cNvSpPr/>
          <p:nvPr/>
        </p:nvSpPr>
        <p:spPr>
          <a:xfrm>
            <a:off x="8613648" y="4014216"/>
            <a:ext cx="3017520" cy="621792"/>
          </a:xfrm>
          <a:prstGeom prst="rect">
            <a:avLst/>
          </a:prstGeom>
          <a:solidFill>
            <a:srgbClr val="D9EBE7"/>
          </a:solidFill>
          <a:ln w="9525">
            <a:solidFill>
              <a:srgbClr val="DADFDC"/>
            </a:solidFill>
            <a:prstDash val="solid"/>
          </a:ln>
        </p:spPr>
      </p:sp>
      <p:sp>
        <p:nvSpPr>
          <p:cNvPr id="45" name="Text 43"/>
          <p:cNvSpPr/>
          <p:nvPr/>
        </p:nvSpPr>
        <p:spPr>
          <a:xfrm>
            <a:off x="8723376" y="4014216"/>
            <a:ext cx="2834640" cy="621792"/>
          </a:xfrm>
          <a:prstGeom prst="rect">
            <a:avLst/>
          </a:prstGeom>
          <a:noFill/>
          <a:ln/>
        </p:spPr>
        <p:txBody>
          <a:bodyPr wrap="square" rtlCol="0" anchor="ctr"/>
          <a:lstStyle/>
          <a:p>
            <a:pPr algn="ctr" indent="0" marL="0">
              <a:buNone/>
            </a:pPr>
            <a:r>
              <a:rPr lang="en-US" sz="1200" b="1" dirty="0">
                <a:solidFill>
                  <a:srgbClr val="12766B"/>
                </a:solidFill>
                <a:latin typeface="Calibri" pitchFamily="34" charset="0"/>
                <a:ea typeface="Calibri" pitchFamily="34" charset="-122"/>
                <a:cs typeface="Calibri" pitchFamily="34" charset="-120"/>
              </a:rPr>
              <a:t>◎  Q×C 二軸</a:t>
            </a:r>
            <a:endParaRPr lang="en-US" sz="1200" dirty="0"/>
          </a:p>
        </p:txBody>
      </p:sp>
      <p:sp>
        <p:nvSpPr>
          <p:cNvPr id="46" name="Shape 44"/>
          <p:cNvSpPr/>
          <p:nvPr/>
        </p:nvSpPr>
        <p:spPr>
          <a:xfrm>
            <a:off x="566928" y="4636008"/>
            <a:ext cx="2377440" cy="621792"/>
          </a:xfrm>
          <a:prstGeom prst="rect">
            <a:avLst/>
          </a:prstGeom>
          <a:solidFill>
            <a:srgbClr val="FFFFFF"/>
          </a:solidFill>
          <a:ln w="9525">
            <a:solidFill>
              <a:srgbClr val="DADFDC"/>
            </a:solidFill>
            <a:prstDash val="solid"/>
          </a:ln>
        </p:spPr>
      </p:sp>
      <p:sp>
        <p:nvSpPr>
          <p:cNvPr id="47" name="Text 45"/>
          <p:cNvSpPr/>
          <p:nvPr/>
        </p:nvSpPr>
        <p:spPr>
          <a:xfrm>
            <a:off x="676656" y="4636008"/>
            <a:ext cx="2194560" cy="621792"/>
          </a:xfrm>
          <a:prstGeom prst="rect">
            <a:avLst/>
          </a:prstGeom>
          <a:noFill/>
          <a:ln/>
        </p:spPr>
        <p:txBody>
          <a:bodyPr wrap="square" rtlCol="0" anchor="ctr"/>
          <a:lstStyle/>
          <a:p>
            <a:pPr algn="l" indent="0" marL="0">
              <a:buNone/>
            </a:pPr>
            <a:r>
              <a:rPr lang="en-US" sz="1200" b="1" dirty="0">
                <a:solidFill>
                  <a:srgbClr val="1C1C1E"/>
                </a:solidFill>
                <a:latin typeface="Calibri" pitchFamily="34" charset="0"/>
                <a:ea typeface="Calibri" pitchFamily="34" charset="-122"/>
                <a:cs typeface="Calibri" pitchFamily="34" charset="-120"/>
              </a:rPr>
              <a:t>通信断の耐性</a:t>
            </a:r>
            <a:endParaRPr lang="en-US" sz="1200" dirty="0"/>
          </a:p>
        </p:txBody>
      </p:sp>
      <p:sp>
        <p:nvSpPr>
          <p:cNvPr id="48" name="Shape 46"/>
          <p:cNvSpPr/>
          <p:nvPr/>
        </p:nvSpPr>
        <p:spPr>
          <a:xfrm>
            <a:off x="2944368" y="4636008"/>
            <a:ext cx="2743200" cy="621792"/>
          </a:xfrm>
          <a:prstGeom prst="rect">
            <a:avLst/>
          </a:prstGeom>
          <a:solidFill>
            <a:srgbClr val="FFFFFF"/>
          </a:solidFill>
          <a:ln w="9525">
            <a:solidFill>
              <a:srgbClr val="DADFDC"/>
            </a:solidFill>
            <a:prstDash val="solid"/>
          </a:ln>
        </p:spPr>
      </p:sp>
      <p:sp>
        <p:nvSpPr>
          <p:cNvPr id="49" name="Text 47"/>
          <p:cNvSpPr/>
          <p:nvPr/>
        </p:nvSpPr>
        <p:spPr>
          <a:xfrm>
            <a:off x="3054096" y="4636008"/>
            <a:ext cx="2560320" cy="621792"/>
          </a:xfrm>
          <a:prstGeom prst="rect">
            <a:avLst/>
          </a:prstGeom>
          <a:noFill/>
          <a:ln/>
        </p:spPr>
        <p:txBody>
          <a:bodyPr wrap="square" rtlCol="0" anchor="ctr"/>
          <a:lstStyle/>
          <a:p>
            <a:pPr algn="ctr" indent="0" marL="0">
              <a:buNone/>
            </a:pPr>
            <a:r>
              <a:rPr lang="en-US" sz="1200" dirty="0">
                <a:solidFill>
                  <a:srgbClr val="CE544C"/>
                </a:solidFill>
                <a:latin typeface="Calibri" pitchFamily="34" charset="0"/>
                <a:ea typeface="Calibri" pitchFamily="34" charset="-122"/>
                <a:cs typeface="Calibri" pitchFamily="34" charset="-120"/>
              </a:rPr>
              <a:t>×  喪失</a:t>
            </a:r>
            <a:endParaRPr lang="en-US" sz="1200" dirty="0"/>
          </a:p>
        </p:txBody>
      </p:sp>
      <p:sp>
        <p:nvSpPr>
          <p:cNvPr id="50" name="Shape 48"/>
          <p:cNvSpPr/>
          <p:nvPr/>
        </p:nvSpPr>
        <p:spPr>
          <a:xfrm>
            <a:off x="5687568" y="4636008"/>
            <a:ext cx="2926080" cy="621792"/>
          </a:xfrm>
          <a:prstGeom prst="rect">
            <a:avLst/>
          </a:prstGeom>
          <a:solidFill>
            <a:srgbClr val="FFFFFF"/>
          </a:solidFill>
          <a:ln w="9525">
            <a:solidFill>
              <a:srgbClr val="DADFDC"/>
            </a:solidFill>
            <a:prstDash val="solid"/>
          </a:ln>
        </p:spPr>
      </p:sp>
      <p:sp>
        <p:nvSpPr>
          <p:cNvPr id="51" name="Text 49"/>
          <p:cNvSpPr/>
          <p:nvPr/>
        </p:nvSpPr>
        <p:spPr>
          <a:xfrm>
            <a:off x="5797296" y="4636008"/>
            <a:ext cx="2743200" cy="621792"/>
          </a:xfrm>
          <a:prstGeom prst="rect">
            <a:avLst/>
          </a:prstGeom>
          <a:noFill/>
          <a:ln/>
        </p:spPr>
        <p:txBody>
          <a:bodyPr wrap="square" rtlCol="0" anchor="ctr"/>
          <a:lstStyle/>
          <a:p>
            <a:pPr algn="ctr" indent="0" marL="0">
              <a:buNone/>
            </a:pPr>
            <a:r>
              <a:rPr lang="en-US" sz="1200" dirty="0">
                <a:solidFill>
                  <a:srgbClr val="CE544C"/>
                </a:solidFill>
                <a:latin typeface="Calibri" pitchFamily="34" charset="0"/>
                <a:ea typeface="Calibri" pitchFamily="34" charset="-122"/>
                <a:cs typeface="Calibri" pitchFamily="34" charset="-120"/>
              </a:rPr>
              <a:t>×  喪失</a:t>
            </a:r>
            <a:endParaRPr lang="en-US" sz="1200" dirty="0"/>
          </a:p>
        </p:txBody>
      </p:sp>
      <p:sp>
        <p:nvSpPr>
          <p:cNvPr id="52" name="Shape 50"/>
          <p:cNvSpPr/>
          <p:nvPr/>
        </p:nvSpPr>
        <p:spPr>
          <a:xfrm>
            <a:off x="8613648" y="4636008"/>
            <a:ext cx="3017520" cy="621792"/>
          </a:xfrm>
          <a:prstGeom prst="rect">
            <a:avLst/>
          </a:prstGeom>
          <a:solidFill>
            <a:srgbClr val="D9EBE7"/>
          </a:solidFill>
          <a:ln w="9525">
            <a:solidFill>
              <a:srgbClr val="DADFDC"/>
            </a:solidFill>
            <a:prstDash val="solid"/>
          </a:ln>
        </p:spPr>
      </p:sp>
      <p:sp>
        <p:nvSpPr>
          <p:cNvPr id="53" name="Text 51"/>
          <p:cNvSpPr/>
          <p:nvPr/>
        </p:nvSpPr>
        <p:spPr>
          <a:xfrm>
            <a:off x="8723376" y="4636008"/>
            <a:ext cx="2834640" cy="621792"/>
          </a:xfrm>
          <a:prstGeom prst="rect">
            <a:avLst/>
          </a:prstGeom>
          <a:noFill/>
          <a:ln/>
        </p:spPr>
        <p:txBody>
          <a:bodyPr wrap="square" rtlCol="0" anchor="ctr"/>
          <a:lstStyle/>
          <a:p>
            <a:pPr algn="ctr" indent="0" marL="0">
              <a:buNone/>
            </a:pPr>
            <a:r>
              <a:rPr lang="en-US" sz="1200" b="1" dirty="0">
                <a:solidFill>
                  <a:srgbClr val="12766B"/>
                </a:solidFill>
                <a:latin typeface="Calibri" pitchFamily="34" charset="0"/>
                <a:ea typeface="Calibri" pitchFamily="34" charset="-122"/>
                <a:cs typeface="Calibri" pitchFamily="34" charset="-120"/>
              </a:rPr>
              <a:t>◎  ARQで後送</a:t>
            </a:r>
            <a:endParaRPr lang="en-US" sz="1200" dirty="0"/>
          </a:p>
        </p:txBody>
      </p:sp>
      <p:sp>
        <p:nvSpPr>
          <p:cNvPr id="54" name="Shape 52"/>
          <p:cNvSpPr/>
          <p:nvPr/>
        </p:nvSpPr>
        <p:spPr>
          <a:xfrm>
            <a:off x="566928" y="5257800"/>
            <a:ext cx="2377440" cy="621792"/>
          </a:xfrm>
          <a:prstGeom prst="rect">
            <a:avLst/>
          </a:prstGeom>
          <a:solidFill>
            <a:srgbClr val="F1F0EC"/>
          </a:solidFill>
          <a:ln w="9525">
            <a:solidFill>
              <a:srgbClr val="DADFDC"/>
            </a:solidFill>
            <a:prstDash val="solid"/>
          </a:ln>
        </p:spPr>
      </p:sp>
      <p:sp>
        <p:nvSpPr>
          <p:cNvPr id="55" name="Text 53"/>
          <p:cNvSpPr/>
          <p:nvPr/>
        </p:nvSpPr>
        <p:spPr>
          <a:xfrm>
            <a:off x="676656" y="5257800"/>
            <a:ext cx="2194560" cy="621792"/>
          </a:xfrm>
          <a:prstGeom prst="rect">
            <a:avLst/>
          </a:prstGeom>
          <a:noFill/>
          <a:ln/>
        </p:spPr>
        <p:txBody>
          <a:bodyPr wrap="square" rtlCol="0" anchor="ctr"/>
          <a:lstStyle/>
          <a:p>
            <a:pPr algn="l" indent="0" marL="0">
              <a:buNone/>
            </a:pPr>
            <a:r>
              <a:rPr lang="en-US" sz="1200" b="1" dirty="0">
                <a:solidFill>
                  <a:srgbClr val="1C1C1E"/>
                </a:solidFill>
                <a:latin typeface="Calibri" pitchFamily="34" charset="0"/>
                <a:ea typeface="Calibri" pitchFamily="34" charset="-122"/>
                <a:cs typeface="Calibri" pitchFamily="34" charset="-120"/>
              </a:rPr>
              <a:t>説明可能性</a:t>
            </a:r>
            <a:endParaRPr lang="en-US" sz="1200" dirty="0"/>
          </a:p>
        </p:txBody>
      </p:sp>
      <p:sp>
        <p:nvSpPr>
          <p:cNvPr id="56" name="Shape 54"/>
          <p:cNvSpPr/>
          <p:nvPr/>
        </p:nvSpPr>
        <p:spPr>
          <a:xfrm>
            <a:off x="2944368" y="5257800"/>
            <a:ext cx="2743200" cy="621792"/>
          </a:xfrm>
          <a:prstGeom prst="rect">
            <a:avLst/>
          </a:prstGeom>
          <a:solidFill>
            <a:srgbClr val="F1F0EC"/>
          </a:solidFill>
          <a:ln w="9525">
            <a:solidFill>
              <a:srgbClr val="DADFDC"/>
            </a:solidFill>
            <a:prstDash val="solid"/>
          </a:ln>
        </p:spPr>
      </p:sp>
      <p:sp>
        <p:nvSpPr>
          <p:cNvPr id="57" name="Text 55"/>
          <p:cNvSpPr/>
          <p:nvPr/>
        </p:nvSpPr>
        <p:spPr>
          <a:xfrm>
            <a:off x="3054096" y="5257800"/>
            <a:ext cx="2560320" cy="621792"/>
          </a:xfrm>
          <a:prstGeom prst="rect">
            <a:avLst/>
          </a:prstGeom>
          <a:noFill/>
          <a:ln/>
        </p:spPr>
        <p:txBody>
          <a:bodyPr wrap="square" rtlCol="0" anchor="ctr"/>
          <a:lstStyle/>
          <a:p>
            <a:pPr algn="ctr" indent="0" marL="0">
              <a:buNone/>
            </a:pPr>
            <a:r>
              <a:rPr lang="en-US" sz="1200" dirty="0">
                <a:solidFill>
                  <a:srgbClr val="1C1C1E"/>
                </a:solidFill>
                <a:latin typeface="Calibri" pitchFamily="34" charset="0"/>
                <a:ea typeface="Calibri" pitchFamily="34" charset="-122"/>
                <a:cs typeface="Calibri" pitchFamily="34" charset="-120"/>
              </a:rPr>
              <a:t>○  単純</a:t>
            </a:r>
            <a:endParaRPr lang="en-US" sz="1200" dirty="0"/>
          </a:p>
        </p:txBody>
      </p:sp>
      <p:sp>
        <p:nvSpPr>
          <p:cNvPr id="58" name="Shape 56"/>
          <p:cNvSpPr/>
          <p:nvPr/>
        </p:nvSpPr>
        <p:spPr>
          <a:xfrm>
            <a:off x="5687568" y="5257800"/>
            <a:ext cx="2926080" cy="621792"/>
          </a:xfrm>
          <a:prstGeom prst="rect">
            <a:avLst/>
          </a:prstGeom>
          <a:solidFill>
            <a:srgbClr val="F1F0EC"/>
          </a:solidFill>
          <a:ln w="9525">
            <a:solidFill>
              <a:srgbClr val="DADFDC"/>
            </a:solidFill>
            <a:prstDash val="solid"/>
          </a:ln>
        </p:spPr>
      </p:sp>
      <p:sp>
        <p:nvSpPr>
          <p:cNvPr id="59" name="Text 57"/>
          <p:cNvSpPr/>
          <p:nvPr/>
        </p:nvSpPr>
        <p:spPr>
          <a:xfrm>
            <a:off x="5797296" y="5257800"/>
            <a:ext cx="2743200" cy="621792"/>
          </a:xfrm>
          <a:prstGeom prst="rect">
            <a:avLst/>
          </a:prstGeom>
          <a:noFill/>
          <a:ln/>
        </p:spPr>
        <p:txBody>
          <a:bodyPr wrap="square" rtlCol="0" anchor="ctr"/>
          <a:lstStyle/>
          <a:p>
            <a:pPr algn="ctr" indent="0" marL="0">
              <a:buNone/>
            </a:pPr>
            <a:r>
              <a:rPr lang="en-US" sz="1200" dirty="0">
                <a:solidFill>
                  <a:srgbClr val="1C1C1E"/>
                </a:solidFill>
                <a:latin typeface="Calibri" pitchFamily="34" charset="0"/>
                <a:ea typeface="Calibri" pitchFamily="34" charset="-122"/>
                <a:cs typeface="Calibri" pitchFamily="34" charset="-120"/>
              </a:rPr>
              <a:t>○  単純</a:t>
            </a:r>
            <a:endParaRPr lang="en-US" sz="1200" dirty="0"/>
          </a:p>
        </p:txBody>
      </p:sp>
      <p:sp>
        <p:nvSpPr>
          <p:cNvPr id="60" name="Shape 58"/>
          <p:cNvSpPr/>
          <p:nvPr/>
        </p:nvSpPr>
        <p:spPr>
          <a:xfrm>
            <a:off x="8613648" y="5257800"/>
            <a:ext cx="3017520" cy="621792"/>
          </a:xfrm>
          <a:prstGeom prst="rect">
            <a:avLst/>
          </a:prstGeom>
          <a:solidFill>
            <a:srgbClr val="D9EBE7"/>
          </a:solidFill>
          <a:ln w="9525">
            <a:solidFill>
              <a:srgbClr val="DADFDC"/>
            </a:solidFill>
            <a:prstDash val="solid"/>
          </a:ln>
        </p:spPr>
      </p:sp>
      <p:sp>
        <p:nvSpPr>
          <p:cNvPr id="61" name="Text 59"/>
          <p:cNvSpPr/>
          <p:nvPr/>
        </p:nvSpPr>
        <p:spPr>
          <a:xfrm>
            <a:off x="8723376" y="5257800"/>
            <a:ext cx="2834640" cy="621792"/>
          </a:xfrm>
          <a:prstGeom prst="rect">
            <a:avLst/>
          </a:prstGeom>
          <a:noFill/>
          <a:ln/>
        </p:spPr>
        <p:txBody>
          <a:bodyPr wrap="square" rtlCol="0" anchor="ctr"/>
          <a:lstStyle/>
          <a:p>
            <a:pPr algn="ctr" indent="0" marL="0">
              <a:buNone/>
            </a:pPr>
            <a:r>
              <a:rPr lang="en-US" sz="1200" b="1" dirty="0">
                <a:solidFill>
                  <a:srgbClr val="12766B"/>
                </a:solidFill>
                <a:latin typeface="Calibri" pitchFamily="34" charset="0"/>
                <a:ea typeface="Calibri" pitchFamily="34" charset="-122"/>
                <a:cs typeface="Calibri" pitchFamily="34" charset="-120"/>
              </a:rPr>
              <a:t>◎  減点方式で内訳提示</a:t>
            </a:r>
            <a:endParaRPr lang="en-US" sz="1200" dirty="0"/>
          </a:p>
        </p:txBody>
      </p:sp>
      <p:sp>
        <p:nvSpPr>
          <p:cNvPr id="62" name="Text 60"/>
          <p:cNvSpPr/>
          <p:nvPr/>
        </p:nvSpPr>
        <p:spPr>
          <a:xfrm>
            <a:off x="566928" y="6355080"/>
            <a:ext cx="10972800" cy="320040"/>
          </a:xfrm>
          <a:prstGeom prst="rect">
            <a:avLst/>
          </a:prstGeom>
          <a:noFill/>
          <a:ln/>
        </p:spPr>
        <p:txBody>
          <a:bodyPr wrap="square" rtlCol="0" anchor="ctr"/>
          <a:lstStyle/>
          <a:p>
            <a:pPr indent="0" marL="0">
              <a:buNone/>
            </a:pPr>
            <a:r>
              <a:rPr lang="en-US" sz="1200" i="1" dirty="0">
                <a:solidFill>
                  <a:srgbClr val="5B6763"/>
                </a:solidFill>
                <a:latin typeface="Calibri" pitchFamily="34" charset="0"/>
                <a:ea typeface="Calibri" pitchFamily="34" charset="-122"/>
                <a:cs typeface="Calibri" pitchFamily="34" charset="-120"/>
              </a:rPr>
              <a:t>※ カルマンとの定量比較（ROC曲線）は実犬データ取得後に実施予定（→ 実験計画・S18）</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UI / UX</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HydroPaw Design Language — 数値ではなく「意味」を渡す</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16</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572768"/>
            <a:ext cx="5394960" cy="2286000"/>
          </a:xfrm>
          <a:prstGeom prst="roundRect">
            <a:avLst>
              <a:gd name="adj" fmla="val 3600"/>
            </a:avLst>
          </a:prstGeom>
          <a:solidFill>
            <a:srgbClr val="FFFFFF"/>
          </a:solidFill>
          <a:ln w="12700">
            <a:solidFill>
              <a:srgbClr val="DADFDC"/>
            </a:solidFill>
            <a:prstDash val="solid"/>
          </a:ln>
          <a:effectLst>
            <a:outerShdw sx="100000" sy="100000" kx="0" ky="0" algn="bl" rotWithShape="0" blurRad="101600" dist="38100" dir="5400000">
              <a:srgbClr val="9AA5A0">
                <a:alpha val="28000"/>
              </a:srgbClr>
            </a:outerShdw>
          </a:effectLst>
        </p:spPr>
      </p:sp>
      <p:sp>
        <p:nvSpPr>
          <p:cNvPr id="7" name="Text 5"/>
          <p:cNvSpPr/>
          <p:nvPr/>
        </p:nvSpPr>
        <p:spPr>
          <a:xfrm>
            <a:off x="768096" y="1682496"/>
            <a:ext cx="45720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設計思想</a:t>
            </a:r>
            <a:endParaRPr lang="en-US" sz="1300" dirty="0"/>
          </a:p>
        </p:txBody>
      </p:sp>
      <p:sp>
        <p:nvSpPr>
          <p:cNvPr id="8" name="Text 6"/>
          <p:cNvSpPr/>
          <p:nvPr/>
        </p:nvSpPr>
        <p:spPr>
          <a:xfrm>
            <a:off x="768096" y="1993392"/>
            <a:ext cx="5029200" cy="365760"/>
          </a:xfrm>
          <a:prstGeom prst="rect">
            <a:avLst/>
          </a:prstGeom>
          <a:noFill/>
          <a:ln/>
        </p:spPr>
        <p:txBody>
          <a:bodyPr wrap="square" rtlCol="0" anchor="ctr"/>
          <a:lstStyle/>
          <a:p>
            <a:pPr indent="0" marL="0">
              <a:buNone/>
            </a:pPr>
            <a:r>
              <a:rPr lang="en-US" sz="1600" b="1" i="1" dirty="0">
                <a:solidFill>
                  <a:srgbClr val="12766B"/>
                </a:solidFill>
                <a:latin typeface="Cambria" pitchFamily="34" charset="0"/>
                <a:ea typeface="Cambria" pitchFamily="34" charset="-122"/>
                <a:cs typeface="Cambria" pitchFamily="34" charset="-120"/>
              </a:rPr>
              <a:t>「ことばにならないものを、ことばに。」</a:t>
            </a:r>
            <a:endParaRPr lang="en-US" sz="1600" dirty="0"/>
          </a:p>
        </p:txBody>
      </p:sp>
      <p:sp>
        <p:nvSpPr>
          <p:cNvPr id="9" name="Text 7"/>
          <p:cNvSpPr/>
          <p:nvPr/>
        </p:nvSpPr>
        <p:spPr>
          <a:xfrm>
            <a:off x="768096" y="2395728"/>
            <a:ext cx="5029200" cy="1371600"/>
          </a:xfrm>
          <a:prstGeom prst="rect">
            <a:avLst/>
          </a:prstGeom>
          <a:noFill/>
          <a:ln/>
        </p:spPr>
        <p:txBody>
          <a:bodyPr wrap="square" rtlCol="0" anchor="t"/>
          <a:lstStyle/>
          <a:p>
            <a:pPr marL="177800" indent="-177800">
              <a:spcAft>
                <a:spcPts val="500"/>
              </a:spcAft>
              <a:buSzPct val="100000"/>
              <a:buChar char="•"/>
            </a:pPr>
            <a:r>
              <a:rPr lang="en-US" sz="1200" dirty="0">
                <a:solidFill>
                  <a:srgbClr val="1C1C1E"/>
                </a:solidFill>
                <a:latin typeface="Calibri" pitchFamily="34" charset="0"/>
                <a:ea typeface="Calibri" pitchFamily="34" charset="-122"/>
                <a:cs typeface="Calibri" pitchFamily="34" charset="-120"/>
              </a:rPr>
              <a:t>飼い主は獣医ではない → ppmや専門用語を主役にしない</a:t>
            </a:r>
            <a:endParaRPr lang="en-US" sz="1200" dirty="0"/>
          </a:p>
          <a:p>
            <a:pPr marL="177800" indent="-177800">
              <a:spcAft>
                <a:spcPts val="500"/>
              </a:spcAft>
              <a:buSzPct val="100000"/>
              <a:buChar char="•"/>
            </a:pPr>
            <a:r>
              <a:rPr lang="en-US" sz="1200" dirty="0">
                <a:solidFill>
                  <a:srgbClr val="1C1C1E"/>
                </a:solidFill>
                <a:latin typeface="Calibri" pitchFamily="34" charset="0"/>
                <a:ea typeface="Calibri" pitchFamily="34" charset="-122"/>
                <a:cs typeface="Calibri" pitchFamily="34" charset="-120"/>
              </a:rPr>
              <a:t>ホームは「安心の画面」：現在の状態・変化・次の行動の3つ</a:t>
            </a:r>
            <a:endParaRPr lang="en-US" sz="1200" dirty="0"/>
          </a:p>
          <a:p>
            <a:pPr marL="177800" indent="-177800">
              <a:spcAft>
                <a:spcPts val="500"/>
              </a:spcAft>
              <a:buSzPct val="100000"/>
              <a:buChar char="•"/>
            </a:pPr>
            <a:r>
              <a:rPr lang="en-US" sz="1200" dirty="0">
                <a:solidFill>
                  <a:srgbClr val="1C1C1E"/>
                </a:solidFill>
                <a:latin typeface="Calibri" pitchFamily="34" charset="0"/>
                <a:ea typeface="Calibri" pitchFamily="34" charset="-122"/>
                <a:cs typeface="Calibri" pitchFamily="34" charset="-120"/>
              </a:rPr>
              <a:t>測定は"イベント"（開始→測定中→解析中→結果→保存）</a:t>
            </a:r>
            <a:endParaRPr lang="en-US" sz="1200" dirty="0"/>
          </a:p>
          <a:p>
            <a:pPr marL="177800" indent="-177800">
              <a:spcAft>
                <a:spcPts val="500"/>
              </a:spcAft>
              <a:buSzPct val="100000"/>
              <a:buChar char="•"/>
            </a:pPr>
            <a:r>
              <a:rPr lang="en-US" sz="1200" b="1" dirty="0">
                <a:solidFill>
                  <a:srgbClr val="12766B"/>
                </a:solidFill>
                <a:latin typeface="Calibri" pitchFamily="34" charset="0"/>
                <a:ea typeface="Calibri" pitchFamily="34" charset="-122"/>
                <a:cs typeface="Calibri" pitchFamily="34" charset="-120"/>
              </a:rPr>
              <a:t>エラー画面を作らない → 常に「次に何をすればいいか」</a:t>
            </a:r>
            <a:endParaRPr lang="en-US" sz="1200" dirty="0"/>
          </a:p>
        </p:txBody>
      </p:sp>
      <p:sp>
        <p:nvSpPr>
          <p:cNvPr id="10" name="Shape 8"/>
          <p:cNvSpPr/>
          <p:nvPr/>
        </p:nvSpPr>
        <p:spPr>
          <a:xfrm>
            <a:off x="6172200" y="1572768"/>
            <a:ext cx="5440680" cy="2286000"/>
          </a:xfrm>
          <a:prstGeom prst="roundRect">
            <a:avLst>
              <a:gd name="adj" fmla="val 3600"/>
            </a:avLst>
          </a:prstGeom>
          <a:solidFill>
            <a:srgbClr val="FFFFFF"/>
          </a:solidFill>
          <a:ln w="12700">
            <a:solidFill>
              <a:srgbClr val="DADFDC"/>
            </a:solidFill>
            <a:prstDash val="solid"/>
          </a:ln>
          <a:effectLst>
            <a:outerShdw sx="100000" sy="100000" kx="0" ky="0" algn="bl" rotWithShape="0" blurRad="101600" dist="38100" dir="5400000">
              <a:srgbClr val="9AA5A0">
                <a:alpha val="28000"/>
              </a:srgbClr>
            </a:outerShdw>
          </a:effectLst>
        </p:spPr>
      </p:sp>
      <p:sp>
        <p:nvSpPr>
          <p:cNvPr id="11" name="Text 9"/>
          <p:cNvSpPr/>
          <p:nvPr/>
        </p:nvSpPr>
        <p:spPr>
          <a:xfrm>
            <a:off x="6373368" y="1682496"/>
            <a:ext cx="45720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ブランドの一貫性</a:t>
            </a:r>
            <a:endParaRPr lang="en-US" sz="1300" dirty="0"/>
          </a:p>
        </p:txBody>
      </p:sp>
      <p:sp>
        <p:nvSpPr>
          <p:cNvPr id="12" name="Shape 10"/>
          <p:cNvSpPr/>
          <p:nvPr/>
        </p:nvSpPr>
        <p:spPr>
          <a:xfrm>
            <a:off x="6373368" y="2029968"/>
            <a:ext cx="502920" cy="502920"/>
          </a:xfrm>
          <a:prstGeom prst="ellipse">
            <a:avLst/>
          </a:prstGeom>
          <a:solidFill>
            <a:srgbClr val="12766B"/>
          </a:solidFill>
          <a:ln w="9525">
            <a:solidFill>
              <a:srgbClr val="DADFDC"/>
            </a:solidFill>
            <a:prstDash val="solid"/>
          </a:ln>
        </p:spPr>
      </p:sp>
      <p:sp>
        <p:nvSpPr>
          <p:cNvPr id="13" name="Text 11"/>
          <p:cNvSpPr/>
          <p:nvPr/>
        </p:nvSpPr>
        <p:spPr>
          <a:xfrm>
            <a:off x="6236208" y="2560320"/>
            <a:ext cx="777240" cy="274320"/>
          </a:xfrm>
          <a:prstGeom prst="rect">
            <a:avLst/>
          </a:prstGeom>
          <a:noFill/>
          <a:ln/>
        </p:spPr>
        <p:txBody>
          <a:bodyPr wrap="square" rtlCol="0" anchor="ctr"/>
          <a:lstStyle/>
          <a:p>
            <a:pPr algn="ctr" indent="0" marL="0">
              <a:buNone/>
            </a:pPr>
            <a:r>
              <a:rPr lang="en-US" sz="900" dirty="0">
                <a:solidFill>
                  <a:srgbClr val="5B6763"/>
                </a:solidFill>
                <a:latin typeface="Calibri" pitchFamily="34" charset="0"/>
                <a:ea typeface="Calibri" pitchFamily="34" charset="-122"/>
                <a:cs typeface="Calibri" pitchFamily="34" charset="-120"/>
              </a:rPr>
              <a:t>Mizuha</a:t>
            </a:r>
            <a:endParaRPr lang="en-US" sz="900" dirty="0"/>
          </a:p>
        </p:txBody>
      </p:sp>
      <p:sp>
        <p:nvSpPr>
          <p:cNvPr id="14" name="Shape 12"/>
          <p:cNvSpPr/>
          <p:nvPr/>
        </p:nvSpPr>
        <p:spPr>
          <a:xfrm>
            <a:off x="7306056" y="2029968"/>
            <a:ext cx="502920" cy="502920"/>
          </a:xfrm>
          <a:prstGeom prst="ellipse">
            <a:avLst/>
          </a:prstGeom>
          <a:solidFill>
            <a:srgbClr val="4FB8A5"/>
          </a:solidFill>
          <a:ln w="9525">
            <a:solidFill>
              <a:srgbClr val="DADFDC"/>
            </a:solidFill>
            <a:prstDash val="solid"/>
          </a:ln>
        </p:spPr>
      </p:sp>
      <p:sp>
        <p:nvSpPr>
          <p:cNvPr id="15" name="Text 13"/>
          <p:cNvSpPr/>
          <p:nvPr/>
        </p:nvSpPr>
        <p:spPr>
          <a:xfrm>
            <a:off x="7168896" y="2560320"/>
            <a:ext cx="777240" cy="274320"/>
          </a:xfrm>
          <a:prstGeom prst="rect">
            <a:avLst/>
          </a:prstGeom>
          <a:noFill/>
          <a:ln/>
        </p:spPr>
        <p:txBody>
          <a:bodyPr wrap="square" rtlCol="0" anchor="ctr"/>
          <a:lstStyle/>
          <a:p>
            <a:pPr algn="ctr" indent="0" marL="0">
              <a:buNone/>
            </a:pPr>
            <a:r>
              <a:rPr lang="en-US" sz="900" dirty="0">
                <a:solidFill>
                  <a:srgbClr val="5B6763"/>
                </a:solidFill>
                <a:latin typeface="Calibri" pitchFamily="34" charset="0"/>
                <a:ea typeface="Calibri" pitchFamily="34" charset="-122"/>
                <a:cs typeface="Calibri" pitchFamily="34" charset="-120"/>
              </a:rPr>
              <a:t>Light</a:t>
            </a:r>
            <a:endParaRPr lang="en-US" sz="900" dirty="0"/>
          </a:p>
        </p:txBody>
      </p:sp>
      <p:sp>
        <p:nvSpPr>
          <p:cNvPr id="16" name="Shape 14"/>
          <p:cNvSpPr/>
          <p:nvPr/>
        </p:nvSpPr>
        <p:spPr>
          <a:xfrm>
            <a:off x="8238744" y="2029968"/>
            <a:ext cx="502920" cy="502920"/>
          </a:xfrm>
          <a:prstGeom prst="ellipse">
            <a:avLst/>
          </a:prstGeom>
          <a:solidFill>
            <a:srgbClr val="CE544C"/>
          </a:solidFill>
          <a:ln w="9525">
            <a:solidFill>
              <a:srgbClr val="DADFDC"/>
            </a:solidFill>
            <a:prstDash val="solid"/>
          </a:ln>
        </p:spPr>
      </p:sp>
      <p:sp>
        <p:nvSpPr>
          <p:cNvPr id="17" name="Text 15"/>
          <p:cNvSpPr/>
          <p:nvPr/>
        </p:nvSpPr>
        <p:spPr>
          <a:xfrm>
            <a:off x="8101584" y="2560320"/>
            <a:ext cx="777240" cy="274320"/>
          </a:xfrm>
          <a:prstGeom prst="rect">
            <a:avLst/>
          </a:prstGeom>
          <a:noFill/>
          <a:ln/>
        </p:spPr>
        <p:txBody>
          <a:bodyPr wrap="square" rtlCol="0" anchor="ctr"/>
          <a:lstStyle/>
          <a:p>
            <a:pPr algn="ctr" indent="0" marL="0">
              <a:buNone/>
            </a:pPr>
            <a:r>
              <a:rPr lang="en-US" sz="900" dirty="0">
                <a:solidFill>
                  <a:srgbClr val="5B6763"/>
                </a:solidFill>
                <a:latin typeface="Calibri" pitchFamily="34" charset="0"/>
                <a:ea typeface="Calibri" pitchFamily="34" charset="-122"/>
                <a:cs typeface="Calibri" pitchFamily="34" charset="-120"/>
              </a:rPr>
              <a:t>受診目安</a:t>
            </a:r>
            <a:endParaRPr lang="en-US" sz="900" dirty="0"/>
          </a:p>
        </p:txBody>
      </p:sp>
      <p:sp>
        <p:nvSpPr>
          <p:cNvPr id="18" name="Shape 16"/>
          <p:cNvSpPr/>
          <p:nvPr/>
        </p:nvSpPr>
        <p:spPr>
          <a:xfrm>
            <a:off x="9171432" y="2029968"/>
            <a:ext cx="502920" cy="502920"/>
          </a:xfrm>
          <a:prstGeom prst="ellipse">
            <a:avLst/>
          </a:prstGeom>
          <a:solidFill>
            <a:srgbClr val="C8811F"/>
          </a:solidFill>
          <a:ln w="9525">
            <a:solidFill>
              <a:srgbClr val="DADFDC"/>
            </a:solidFill>
            <a:prstDash val="solid"/>
          </a:ln>
        </p:spPr>
      </p:sp>
      <p:sp>
        <p:nvSpPr>
          <p:cNvPr id="19" name="Text 17"/>
          <p:cNvSpPr/>
          <p:nvPr/>
        </p:nvSpPr>
        <p:spPr>
          <a:xfrm>
            <a:off x="9034272" y="2560320"/>
            <a:ext cx="777240" cy="274320"/>
          </a:xfrm>
          <a:prstGeom prst="rect">
            <a:avLst/>
          </a:prstGeom>
          <a:noFill/>
          <a:ln/>
        </p:spPr>
        <p:txBody>
          <a:bodyPr wrap="square" rtlCol="0" anchor="ctr"/>
          <a:lstStyle/>
          <a:p>
            <a:pPr algn="ctr" indent="0" marL="0">
              <a:buNone/>
            </a:pPr>
            <a:r>
              <a:rPr lang="en-US" sz="900" dirty="0">
                <a:solidFill>
                  <a:srgbClr val="5B6763"/>
                </a:solidFill>
                <a:latin typeface="Calibri" pitchFamily="34" charset="0"/>
                <a:ea typeface="Calibri" pitchFamily="34" charset="-122"/>
                <a:cs typeface="Calibri" pitchFamily="34" charset="-120"/>
              </a:rPr>
              <a:t>注意</a:t>
            </a:r>
            <a:endParaRPr lang="en-US" sz="900" dirty="0"/>
          </a:p>
        </p:txBody>
      </p:sp>
      <p:sp>
        <p:nvSpPr>
          <p:cNvPr id="20" name="Shape 18"/>
          <p:cNvSpPr/>
          <p:nvPr/>
        </p:nvSpPr>
        <p:spPr>
          <a:xfrm>
            <a:off x="10104120" y="2029968"/>
            <a:ext cx="502920" cy="502920"/>
          </a:xfrm>
          <a:prstGeom prst="ellipse">
            <a:avLst/>
          </a:prstGeom>
          <a:solidFill>
            <a:srgbClr val="F6F5F2"/>
          </a:solidFill>
          <a:ln w="9525">
            <a:solidFill>
              <a:srgbClr val="DADFDC"/>
            </a:solidFill>
            <a:prstDash val="solid"/>
          </a:ln>
        </p:spPr>
      </p:sp>
      <p:sp>
        <p:nvSpPr>
          <p:cNvPr id="21" name="Text 19"/>
          <p:cNvSpPr/>
          <p:nvPr/>
        </p:nvSpPr>
        <p:spPr>
          <a:xfrm>
            <a:off x="9966960" y="2560320"/>
            <a:ext cx="777240" cy="274320"/>
          </a:xfrm>
          <a:prstGeom prst="rect">
            <a:avLst/>
          </a:prstGeom>
          <a:noFill/>
          <a:ln/>
        </p:spPr>
        <p:txBody>
          <a:bodyPr wrap="square" rtlCol="0" anchor="ctr"/>
          <a:lstStyle/>
          <a:p>
            <a:pPr algn="ctr" indent="0" marL="0">
              <a:buNone/>
            </a:pPr>
            <a:r>
              <a:rPr lang="en-US" sz="900" dirty="0">
                <a:solidFill>
                  <a:srgbClr val="5B6763"/>
                </a:solidFill>
                <a:latin typeface="Calibri" pitchFamily="34" charset="0"/>
                <a:ea typeface="Calibri" pitchFamily="34" charset="-122"/>
                <a:cs typeface="Calibri" pitchFamily="34" charset="-120"/>
              </a:rPr>
              <a:t>紙</a:t>
            </a:r>
            <a:endParaRPr lang="en-US" sz="900" dirty="0"/>
          </a:p>
        </p:txBody>
      </p:sp>
      <p:sp>
        <p:nvSpPr>
          <p:cNvPr id="22" name="Text 20"/>
          <p:cNvSpPr/>
          <p:nvPr/>
        </p:nvSpPr>
        <p:spPr>
          <a:xfrm>
            <a:off x="6373368" y="2926080"/>
            <a:ext cx="5029200" cy="914400"/>
          </a:xfrm>
          <a:prstGeom prst="rect">
            <a:avLst/>
          </a:prstGeom>
          <a:noFill/>
          <a:ln/>
        </p:spPr>
        <p:txBody>
          <a:bodyPr wrap="square" rtlCol="0" anchor="t"/>
          <a:lstStyle/>
          <a:p>
            <a:pPr marL="177800" indent="-177800">
              <a:spcAft>
                <a:spcPts val="500"/>
              </a:spcAft>
              <a:buSzPct val="100000"/>
              <a:buChar char="•"/>
            </a:pPr>
            <a:r>
              <a:rPr lang="en-US" sz="1200" dirty="0">
                <a:solidFill>
                  <a:srgbClr val="1C1C1E"/>
                </a:solidFill>
                <a:latin typeface="Calibri" pitchFamily="34" charset="0"/>
                <a:ea typeface="Calibri" pitchFamily="34" charset="-122"/>
                <a:cs typeface="Calibri" pitchFamily="34" charset="-120"/>
              </a:rPr>
              <a:t>Mizuha（水羽）ティール #12766B を主役に汎用青を全廃</a:t>
            </a:r>
            <a:endParaRPr lang="en-US" sz="1200" dirty="0"/>
          </a:p>
          <a:p>
            <a:pPr marL="177800" indent="-177800">
              <a:spcAft>
                <a:spcPts val="500"/>
              </a:spcAft>
              <a:buSzPct val="100000"/>
              <a:buChar char="•"/>
            </a:pPr>
            <a:r>
              <a:rPr lang="en-US" sz="1200" dirty="0">
                <a:solidFill>
                  <a:srgbClr val="1C1C1E"/>
                </a:solidFill>
                <a:latin typeface="Calibri" pitchFamily="34" charset="0"/>
                <a:ea typeface="Calibri" pitchFamily="34" charset="-122"/>
                <a:cs typeface="Calibri" pitchFamily="34" charset="-120"/>
              </a:rPr>
              <a:t>状態色は「リングの縁・チップ」だけに現れる</a:t>
            </a:r>
            <a:endParaRPr lang="en-US" sz="1200" dirty="0"/>
          </a:p>
          <a:p>
            <a:pPr marL="177800" indent="-177800">
              <a:spcAft>
                <a:spcPts val="500"/>
              </a:spcAft>
              <a:buSzPct val="100000"/>
              <a:buChar char="•"/>
            </a:pPr>
            <a:r>
              <a:rPr lang="en-US" sz="1200" dirty="0">
                <a:solidFill>
                  <a:srgbClr val="1C1C1E"/>
                </a:solidFill>
                <a:latin typeface="Calibri" pitchFamily="34" charset="0"/>
                <a:ea typeface="Calibri" pitchFamily="34" charset="-122"/>
                <a:cs typeface="Calibri" pitchFamily="34" charset="-120"/>
              </a:rPr>
              <a:t>肉球マークを唯一のモチーフとして全面で反復</a:t>
            </a:r>
            <a:endParaRPr lang="en-US" sz="1200" dirty="0"/>
          </a:p>
          <a:p>
            <a:pPr marL="177800" indent="-177800">
              <a:spcAft>
                <a:spcPts val="500"/>
              </a:spcAft>
              <a:buSzPct val="100000"/>
              <a:buChar char="•"/>
            </a:pPr>
            <a:r>
              <a:rPr lang="en-US" sz="1150" dirty="0">
                <a:solidFill>
                  <a:srgbClr val="5B6763"/>
                </a:solidFill>
                <a:latin typeface="Calibri" pitchFamily="34" charset="0"/>
                <a:ea typeface="Calibri" pitchFamily="34" charset="-122"/>
                <a:cs typeface="Calibri" pitchFamily="34" charset="-120"/>
              </a:rPr>
              <a:t>ライト/ダーク両対応・A11y（Reduce Motion/色覚/Dynamic Type）</a:t>
            </a:r>
            <a:endParaRPr lang="en-US" sz="1200" dirty="0"/>
          </a:p>
        </p:txBody>
      </p:sp>
      <p:sp>
        <p:nvSpPr>
          <p:cNvPr id="23" name="Shape 21"/>
          <p:cNvSpPr/>
          <p:nvPr/>
        </p:nvSpPr>
        <p:spPr>
          <a:xfrm>
            <a:off x="566928" y="4069080"/>
            <a:ext cx="11064240" cy="2194560"/>
          </a:xfrm>
          <a:prstGeom prst="roundRect">
            <a:avLst>
              <a:gd name="adj" fmla="val 3750"/>
            </a:avLst>
          </a:prstGeom>
          <a:solidFill>
            <a:srgbClr val="D9EBE7"/>
          </a:solidFill>
          <a:ln/>
        </p:spPr>
      </p:sp>
      <p:sp>
        <p:nvSpPr>
          <p:cNvPr id="24" name="Text 22"/>
          <p:cNvSpPr/>
          <p:nvPr/>
        </p:nvSpPr>
        <p:spPr>
          <a:xfrm>
            <a:off x="795528" y="4178808"/>
            <a:ext cx="7315200" cy="274320"/>
          </a:xfrm>
          <a:prstGeom prst="rect">
            <a:avLst/>
          </a:prstGeom>
          <a:noFill/>
          <a:ln/>
        </p:spPr>
        <p:txBody>
          <a:bodyPr wrap="square" rtlCol="0" anchor="ctr"/>
          <a:lstStyle/>
          <a:p>
            <a:pPr indent="0" marL="0">
              <a:buNone/>
            </a:pPr>
            <a:r>
              <a:rPr lang="en-US" sz="1300" b="1" dirty="0">
                <a:solidFill>
                  <a:srgbClr val="12766B"/>
                </a:solidFill>
                <a:latin typeface="Calibri" pitchFamily="34" charset="0"/>
                <a:ea typeface="Calibri" pitchFamily="34" charset="-122"/>
                <a:cs typeface="Calibri" pitchFamily="34" charset="-120"/>
              </a:rPr>
              <a:t>数値 → 意味 への変換（一貫ロジック：Dart / TS でミラー実装）</a:t>
            </a:r>
            <a:endParaRPr lang="en-US" sz="1300" dirty="0"/>
          </a:p>
        </p:txBody>
      </p:sp>
      <p:sp>
        <p:nvSpPr>
          <p:cNvPr id="25" name="Shape 23"/>
          <p:cNvSpPr/>
          <p:nvPr/>
        </p:nvSpPr>
        <p:spPr>
          <a:xfrm>
            <a:off x="795528" y="4572000"/>
            <a:ext cx="2560320" cy="1554480"/>
          </a:xfrm>
          <a:prstGeom prst="roundRect">
            <a:avLst>
              <a:gd name="adj" fmla="val 5294"/>
            </a:avLst>
          </a:prstGeom>
          <a:solidFill>
            <a:srgbClr val="FFFFFF"/>
          </a:solidFill>
          <a:ln w="12700">
            <a:solidFill>
              <a:srgbClr val="DADFDC"/>
            </a:solidFill>
            <a:prstDash val="solid"/>
          </a:ln>
        </p:spPr>
      </p:sp>
      <p:sp>
        <p:nvSpPr>
          <p:cNvPr id="26" name="Text 24"/>
          <p:cNvSpPr/>
          <p:nvPr/>
        </p:nvSpPr>
        <p:spPr>
          <a:xfrm>
            <a:off x="932688" y="4681728"/>
            <a:ext cx="2286000" cy="320040"/>
          </a:xfrm>
          <a:prstGeom prst="rect">
            <a:avLst/>
          </a:prstGeom>
          <a:noFill/>
          <a:ln/>
        </p:spPr>
        <p:txBody>
          <a:bodyPr wrap="square" rtlCol="0" anchor="ctr"/>
          <a:lstStyle/>
          <a:p>
            <a:pPr indent="0" marL="0">
              <a:buNone/>
            </a:pPr>
            <a:r>
              <a:rPr lang="en-US" sz="1300" b="1" dirty="0">
                <a:solidFill>
                  <a:srgbClr val="5B6763"/>
                </a:solidFill>
                <a:latin typeface="Courier New" pitchFamily="34" charset="0"/>
                <a:ea typeface="Courier New" pitchFamily="34" charset="-122"/>
                <a:cs typeface="Courier New" pitchFamily="34" charset="-120"/>
              </a:rPr>
              <a:t>4.9 ppm</a:t>
            </a:r>
            <a:endParaRPr lang="en-US" sz="1300" dirty="0"/>
          </a:p>
        </p:txBody>
      </p:sp>
      <p:sp>
        <p:nvSpPr>
          <p:cNvPr id="27" name="Shape 25"/>
          <p:cNvSpPr/>
          <p:nvPr/>
        </p:nvSpPr>
        <p:spPr>
          <a:xfrm>
            <a:off x="2075688" y="5029200"/>
            <a:ext cx="0" cy="256032"/>
          </a:xfrm>
          <a:prstGeom prst="line">
            <a:avLst/>
          </a:prstGeom>
          <a:noFill/>
          <a:ln w="27940">
            <a:solidFill>
              <a:srgbClr val="4FB8A5"/>
            </a:solidFill>
            <a:prstDash val="solid"/>
            <a:tailEnd type="triangle"/>
          </a:ln>
        </p:spPr>
      </p:sp>
      <p:sp>
        <p:nvSpPr>
          <p:cNvPr id="28" name="Text 26"/>
          <p:cNvSpPr/>
          <p:nvPr/>
        </p:nvSpPr>
        <p:spPr>
          <a:xfrm>
            <a:off x="932688" y="5349240"/>
            <a:ext cx="2286000" cy="457200"/>
          </a:xfrm>
          <a:prstGeom prst="rect">
            <a:avLst/>
          </a:prstGeom>
          <a:noFill/>
          <a:ln/>
        </p:spPr>
        <p:txBody>
          <a:bodyPr wrap="square" rtlCol="0" anchor="t"/>
          <a:lstStyle/>
          <a:p>
            <a:pPr indent="0" marL="0">
              <a:buNone/>
            </a:pPr>
            <a:r>
              <a:rPr lang="en-US" sz="1250" b="1" dirty="0">
                <a:solidFill>
                  <a:srgbClr val="12766B"/>
                </a:solidFill>
                <a:latin typeface="Calibri" pitchFamily="34" charset="0"/>
                <a:ea typeface="Calibri" pitchFamily="34" charset="-122"/>
                <a:cs typeface="Calibri" pitchFamily="34" charset="-120"/>
              </a:rPr>
              <a:t>今日は安定しています</a:t>
            </a:r>
            <a:endParaRPr lang="en-US" sz="1250" dirty="0"/>
          </a:p>
        </p:txBody>
      </p:sp>
      <p:sp>
        <p:nvSpPr>
          <p:cNvPr id="29" name="Text 27"/>
          <p:cNvSpPr/>
          <p:nvPr/>
        </p:nvSpPr>
        <p:spPr>
          <a:xfrm>
            <a:off x="932688" y="5806440"/>
            <a:ext cx="2286000" cy="274320"/>
          </a:xfrm>
          <a:prstGeom prst="rect">
            <a:avLst/>
          </a:prstGeom>
          <a:noFill/>
          <a:ln/>
        </p:spPr>
        <p:txBody>
          <a:bodyPr wrap="square" rtlCol="0" anchor="ctr"/>
          <a:lstStyle/>
          <a:p>
            <a:pPr indent="0" marL="0">
              <a:buNone/>
            </a:pPr>
            <a:r>
              <a:rPr lang="en-US" sz="1000" i="1" dirty="0">
                <a:solidFill>
                  <a:srgbClr val="5B6763"/>
                </a:solidFill>
                <a:latin typeface="Calibri" pitchFamily="34" charset="0"/>
                <a:ea typeface="Calibri" pitchFamily="34" charset="-122"/>
                <a:cs typeface="Calibri" pitchFamily="34" charset="-120"/>
              </a:rPr>
              <a:t>安心（緑）</a:t>
            </a:r>
            <a:endParaRPr lang="en-US" sz="1000" dirty="0"/>
          </a:p>
        </p:txBody>
      </p:sp>
      <p:sp>
        <p:nvSpPr>
          <p:cNvPr id="30" name="Shape 28"/>
          <p:cNvSpPr/>
          <p:nvPr/>
        </p:nvSpPr>
        <p:spPr>
          <a:xfrm>
            <a:off x="3502152" y="4572000"/>
            <a:ext cx="2560320" cy="1554480"/>
          </a:xfrm>
          <a:prstGeom prst="roundRect">
            <a:avLst>
              <a:gd name="adj" fmla="val 5294"/>
            </a:avLst>
          </a:prstGeom>
          <a:solidFill>
            <a:srgbClr val="FFFFFF"/>
          </a:solidFill>
          <a:ln w="12700">
            <a:solidFill>
              <a:srgbClr val="DADFDC"/>
            </a:solidFill>
            <a:prstDash val="solid"/>
          </a:ln>
        </p:spPr>
      </p:sp>
      <p:sp>
        <p:nvSpPr>
          <p:cNvPr id="31" name="Text 29"/>
          <p:cNvSpPr/>
          <p:nvPr/>
        </p:nvSpPr>
        <p:spPr>
          <a:xfrm>
            <a:off x="3639312" y="4681728"/>
            <a:ext cx="2286000" cy="320040"/>
          </a:xfrm>
          <a:prstGeom prst="rect">
            <a:avLst/>
          </a:prstGeom>
          <a:noFill/>
          <a:ln/>
        </p:spPr>
        <p:txBody>
          <a:bodyPr wrap="square" rtlCol="0" anchor="ctr"/>
          <a:lstStyle/>
          <a:p>
            <a:pPr indent="0" marL="0">
              <a:buNone/>
            </a:pPr>
            <a:r>
              <a:rPr lang="en-US" sz="1300" b="1" dirty="0">
                <a:solidFill>
                  <a:srgbClr val="5B6763"/>
                </a:solidFill>
                <a:latin typeface="Courier New" pitchFamily="34" charset="0"/>
                <a:ea typeface="Courier New" pitchFamily="34" charset="-122"/>
                <a:cs typeface="Courier New" pitchFamily="34" charset="-120"/>
              </a:rPr>
              <a:t>Q=92</a:t>
            </a:r>
            <a:endParaRPr lang="en-US" sz="1300" dirty="0"/>
          </a:p>
        </p:txBody>
      </p:sp>
      <p:sp>
        <p:nvSpPr>
          <p:cNvPr id="32" name="Shape 30"/>
          <p:cNvSpPr/>
          <p:nvPr/>
        </p:nvSpPr>
        <p:spPr>
          <a:xfrm>
            <a:off x="4782312" y="5029200"/>
            <a:ext cx="0" cy="256032"/>
          </a:xfrm>
          <a:prstGeom prst="line">
            <a:avLst/>
          </a:prstGeom>
          <a:noFill/>
          <a:ln w="27940">
            <a:solidFill>
              <a:srgbClr val="4FB8A5"/>
            </a:solidFill>
            <a:prstDash val="solid"/>
            <a:tailEnd type="triangle"/>
          </a:ln>
        </p:spPr>
      </p:sp>
      <p:sp>
        <p:nvSpPr>
          <p:cNvPr id="33" name="Text 31"/>
          <p:cNvSpPr/>
          <p:nvPr/>
        </p:nvSpPr>
        <p:spPr>
          <a:xfrm>
            <a:off x="3639312" y="5349240"/>
            <a:ext cx="2286000" cy="457200"/>
          </a:xfrm>
          <a:prstGeom prst="rect">
            <a:avLst/>
          </a:prstGeom>
          <a:noFill/>
          <a:ln/>
        </p:spPr>
        <p:txBody>
          <a:bodyPr wrap="square" rtlCol="0" anchor="t"/>
          <a:lstStyle/>
          <a:p>
            <a:pPr indent="0" marL="0">
              <a:buNone/>
            </a:pPr>
            <a:r>
              <a:rPr lang="en-US" sz="1250" b="1" dirty="0">
                <a:solidFill>
                  <a:srgbClr val="12766B"/>
                </a:solidFill>
                <a:latin typeface="Calibri" pitchFamily="34" charset="0"/>
                <a:ea typeface="Calibri" pitchFamily="34" charset="-122"/>
                <a:cs typeface="Calibri" pitchFamily="34" charset="-120"/>
              </a:rPr>
              <a:t>測定の質・高い</a:t>
            </a:r>
            <a:endParaRPr lang="en-US" sz="1250" dirty="0"/>
          </a:p>
        </p:txBody>
      </p:sp>
      <p:sp>
        <p:nvSpPr>
          <p:cNvPr id="34" name="Text 32"/>
          <p:cNvSpPr/>
          <p:nvPr/>
        </p:nvSpPr>
        <p:spPr>
          <a:xfrm>
            <a:off x="3639312" y="5806440"/>
            <a:ext cx="2286000" cy="274320"/>
          </a:xfrm>
          <a:prstGeom prst="rect">
            <a:avLst/>
          </a:prstGeom>
          <a:noFill/>
          <a:ln/>
        </p:spPr>
        <p:txBody>
          <a:bodyPr wrap="square" rtlCol="0" anchor="ctr"/>
          <a:lstStyle/>
          <a:p>
            <a:pPr indent="0" marL="0">
              <a:buNone/>
            </a:pPr>
            <a:r>
              <a:rPr lang="en-US" sz="1000" i="1" dirty="0">
                <a:solidFill>
                  <a:srgbClr val="5B6763"/>
                </a:solidFill>
                <a:latin typeface="Calibri" pitchFamily="34" charset="0"/>
                <a:ea typeface="Calibri" pitchFamily="34" charset="-122"/>
                <a:cs typeface="Calibri" pitchFamily="34" charset="-120"/>
              </a:rPr>
              <a:t>数値は出さない</a:t>
            </a:r>
            <a:endParaRPr lang="en-US" sz="1000" dirty="0"/>
          </a:p>
        </p:txBody>
      </p:sp>
      <p:sp>
        <p:nvSpPr>
          <p:cNvPr id="35" name="Shape 33"/>
          <p:cNvSpPr/>
          <p:nvPr/>
        </p:nvSpPr>
        <p:spPr>
          <a:xfrm>
            <a:off x="6208776" y="4572000"/>
            <a:ext cx="2560320" cy="1554480"/>
          </a:xfrm>
          <a:prstGeom prst="roundRect">
            <a:avLst>
              <a:gd name="adj" fmla="val 5294"/>
            </a:avLst>
          </a:prstGeom>
          <a:solidFill>
            <a:srgbClr val="FFFFFF"/>
          </a:solidFill>
          <a:ln w="12700">
            <a:solidFill>
              <a:srgbClr val="DADFDC"/>
            </a:solidFill>
            <a:prstDash val="solid"/>
          </a:ln>
        </p:spPr>
      </p:sp>
      <p:sp>
        <p:nvSpPr>
          <p:cNvPr id="36" name="Text 34"/>
          <p:cNvSpPr/>
          <p:nvPr/>
        </p:nvSpPr>
        <p:spPr>
          <a:xfrm>
            <a:off x="6345936" y="4681728"/>
            <a:ext cx="2286000" cy="320040"/>
          </a:xfrm>
          <a:prstGeom prst="rect">
            <a:avLst/>
          </a:prstGeom>
          <a:noFill/>
          <a:ln/>
        </p:spPr>
        <p:txBody>
          <a:bodyPr wrap="square" rtlCol="0" anchor="ctr"/>
          <a:lstStyle/>
          <a:p>
            <a:pPr indent="0" marL="0">
              <a:buNone/>
            </a:pPr>
            <a:r>
              <a:rPr lang="en-US" sz="1300" b="1" dirty="0">
                <a:solidFill>
                  <a:srgbClr val="5B6763"/>
                </a:solidFill>
                <a:latin typeface="Courier New" pitchFamily="34" charset="0"/>
                <a:ea typeface="Courier New" pitchFamily="34" charset="-122"/>
                <a:cs typeface="Courier New" pitchFamily="34" charset="-120"/>
              </a:rPr>
              <a:t>ΔRH+6%</a:t>
            </a:r>
            <a:endParaRPr lang="en-US" sz="1300" dirty="0"/>
          </a:p>
        </p:txBody>
      </p:sp>
      <p:sp>
        <p:nvSpPr>
          <p:cNvPr id="37" name="Shape 35"/>
          <p:cNvSpPr/>
          <p:nvPr/>
        </p:nvSpPr>
        <p:spPr>
          <a:xfrm>
            <a:off x="7488936" y="5029200"/>
            <a:ext cx="0" cy="256032"/>
          </a:xfrm>
          <a:prstGeom prst="line">
            <a:avLst/>
          </a:prstGeom>
          <a:noFill/>
          <a:ln w="27940">
            <a:solidFill>
              <a:srgbClr val="4FB8A5"/>
            </a:solidFill>
            <a:prstDash val="solid"/>
            <a:tailEnd type="triangle"/>
          </a:ln>
        </p:spPr>
      </p:sp>
      <p:sp>
        <p:nvSpPr>
          <p:cNvPr id="38" name="Text 36"/>
          <p:cNvSpPr/>
          <p:nvPr/>
        </p:nvSpPr>
        <p:spPr>
          <a:xfrm>
            <a:off x="6345936" y="5349240"/>
            <a:ext cx="2286000" cy="457200"/>
          </a:xfrm>
          <a:prstGeom prst="rect">
            <a:avLst/>
          </a:prstGeom>
          <a:noFill/>
          <a:ln/>
        </p:spPr>
        <p:txBody>
          <a:bodyPr wrap="square" rtlCol="0" anchor="t"/>
          <a:lstStyle/>
          <a:p>
            <a:pPr indent="0" marL="0">
              <a:buNone/>
            </a:pPr>
            <a:r>
              <a:rPr lang="en-US" sz="1250" b="1" dirty="0">
                <a:solidFill>
                  <a:srgbClr val="12766B"/>
                </a:solidFill>
                <a:latin typeface="Calibri" pitchFamily="34" charset="0"/>
                <a:ea typeface="Calibri" pitchFamily="34" charset="-122"/>
                <a:cs typeface="Calibri" pitchFamily="34" charset="-120"/>
              </a:rPr>
              <a:t>呼気の裏付けあり</a:t>
            </a:r>
            <a:endParaRPr lang="en-US" sz="1250" dirty="0"/>
          </a:p>
        </p:txBody>
      </p:sp>
      <p:sp>
        <p:nvSpPr>
          <p:cNvPr id="39" name="Text 37"/>
          <p:cNvSpPr/>
          <p:nvPr/>
        </p:nvSpPr>
        <p:spPr>
          <a:xfrm>
            <a:off x="6345936" y="5806440"/>
            <a:ext cx="2286000" cy="274320"/>
          </a:xfrm>
          <a:prstGeom prst="rect">
            <a:avLst/>
          </a:prstGeom>
          <a:noFill/>
          <a:ln/>
        </p:spPr>
        <p:txBody>
          <a:bodyPr wrap="square" rtlCol="0" anchor="ctr"/>
          <a:lstStyle/>
          <a:p>
            <a:pPr indent="0" marL="0">
              <a:buNone/>
            </a:pPr>
            <a:r>
              <a:rPr lang="en-US" sz="1000" i="1" dirty="0">
                <a:solidFill>
                  <a:srgbClr val="5B6763"/>
                </a:solidFill>
                <a:latin typeface="Calibri" pitchFamily="34" charset="0"/>
                <a:ea typeface="Calibri" pitchFamily="34" charset="-122"/>
                <a:cs typeface="Calibri" pitchFamily="34" charset="-120"/>
              </a:rPr>
              <a:t>内部で品質へ</a:t>
            </a:r>
            <a:endParaRPr lang="en-US" sz="1000" dirty="0"/>
          </a:p>
        </p:txBody>
      </p:sp>
      <p:sp>
        <p:nvSpPr>
          <p:cNvPr id="40" name="Shape 38"/>
          <p:cNvSpPr/>
          <p:nvPr/>
        </p:nvSpPr>
        <p:spPr>
          <a:xfrm>
            <a:off x="8915400" y="4572000"/>
            <a:ext cx="2560320" cy="1554480"/>
          </a:xfrm>
          <a:prstGeom prst="roundRect">
            <a:avLst>
              <a:gd name="adj" fmla="val 5294"/>
            </a:avLst>
          </a:prstGeom>
          <a:solidFill>
            <a:srgbClr val="FFFFFF"/>
          </a:solidFill>
          <a:ln w="12700">
            <a:solidFill>
              <a:srgbClr val="DADFDC"/>
            </a:solidFill>
            <a:prstDash val="solid"/>
          </a:ln>
        </p:spPr>
      </p:sp>
      <p:sp>
        <p:nvSpPr>
          <p:cNvPr id="41" name="Text 39"/>
          <p:cNvSpPr/>
          <p:nvPr/>
        </p:nvSpPr>
        <p:spPr>
          <a:xfrm>
            <a:off x="9052560" y="4681728"/>
            <a:ext cx="2286000" cy="320040"/>
          </a:xfrm>
          <a:prstGeom prst="rect">
            <a:avLst/>
          </a:prstGeom>
          <a:noFill/>
          <a:ln/>
        </p:spPr>
        <p:txBody>
          <a:bodyPr wrap="square" rtlCol="0" anchor="ctr"/>
          <a:lstStyle/>
          <a:p>
            <a:pPr indent="0" marL="0">
              <a:buNone/>
            </a:pPr>
            <a:r>
              <a:rPr lang="en-US" sz="1300" b="1" dirty="0">
                <a:solidFill>
                  <a:srgbClr val="5B6763"/>
                </a:solidFill>
                <a:latin typeface="Courier New" pitchFamily="34" charset="0"/>
                <a:ea typeface="Courier New" pitchFamily="34" charset="-122"/>
                <a:cs typeface="Courier New" pitchFamily="34" charset="-120"/>
              </a:rPr>
              <a:t>低品質</a:t>
            </a:r>
            <a:endParaRPr lang="en-US" sz="1300" dirty="0"/>
          </a:p>
        </p:txBody>
      </p:sp>
      <p:sp>
        <p:nvSpPr>
          <p:cNvPr id="42" name="Shape 40"/>
          <p:cNvSpPr/>
          <p:nvPr/>
        </p:nvSpPr>
        <p:spPr>
          <a:xfrm>
            <a:off x="10195560" y="5029200"/>
            <a:ext cx="0" cy="256032"/>
          </a:xfrm>
          <a:prstGeom prst="line">
            <a:avLst/>
          </a:prstGeom>
          <a:noFill/>
          <a:ln w="27940">
            <a:solidFill>
              <a:srgbClr val="4FB8A5"/>
            </a:solidFill>
            <a:prstDash val="solid"/>
            <a:tailEnd type="triangle"/>
          </a:ln>
        </p:spPr>
      </p:sp>
      <p:sp>
        <p:nvSpPr>
          <p:cNvPr id="43" name="Text 41"/>
          <p:cNvSpPr/>
          <p:nvPr/>
        </p:nvSpPr>
        <p:spPr>
          <a:xfrm>
            <a:off x="9052560" y="5349240"/>
            <a:ext cx="2286000" cy="457200"/>
          </a:xfrm>
          <a:prstGeom prst="rect">
            <a:avLst/>
          </a:prstGeom>
          <a:noFill/>
          <a:ln/>
        </p:spPr>
        <p:txBody>
          <a:bodyPr wrap="square" rtlCol="0" anchor="t"/>
          <a:lstStyle/>
          <a:p>
            <a:pPr indent="0" marL="0">
              <a:buNone/>
            </a:pPr>
            <a:r>
              <a:rPr lang="en-US" sz="1250" b="1" dirty="0">
                <a:solidFill>
                  <a:srgbClr val="12766B"/>
                </a:solidFill>
                <a:latin typeface="Calibri" pitchFamily="34" charset="0"/>
                <a:ea typeface="Calibri" pitchFamily="34" charset="-122"/>
                <a:cs typeface="Calibri" pitchFamily="34" charset="-120"/>
              </a:rPr>
              <a:t>もういちど測ると確かに</a:t>
            </a:r>
            <a:endParaRPr lang="en-US" sz="1250" dirty="0"/>
          </a:p>
        </p:txBody>
      </p:sp>
      <p:sp>
        <p:nvSpPr>
          <p:cNvPr id="44" name="Text 42"/>
          <p:cNvSpPr/>
          <p:nvPr/>
        </p:nvSpPr>
        <p:spPr>
          <a:xfrm>
            <a:off x="9052560" y="5806440"/>
            <a:ext cx="2286000" cy="274320"/>
          </a:xfrm>
          <a:prstGeom prst="rect">
            <a:avLst/>
          </a:prstGeom>
          <a:noFill/>
          <a:ln/>
        </p:spPr>
        <p:txBody>
          <a:bodyPr wrap="square" rtlCol="0" anchor="ctr"/>
          <a:lstStyle/>
          <a:p>
            <a:pPr indent="0" marL="0">
              <a:buNone/>
            </a:pPr>
            <a:r>
              <a:rPr lang="en-US" sz="1000" i="1" dirty="0">
                <a:solidFill>
                  <a:srgbClr val="5B6763"/>
                </a:solidFill>
                <a:latin typeface="Calibri" pitchFamily="34" charset="0"/>
                <a:ea typeface="Calibri" pitchFamily="34" charset="-122"/>
                <a:cs typeface="Calibri" pitchFamily="34" charset="-120"/>
              </a:rPr>
              <a:t>押し付けない</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NOVELTY</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研究としての新規性 — 「そこ工夫したね」の12点</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17</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554480"/>
            <a:ext cx="5532120" cy="658368"/>
          </a:xfrm>
          <a:prstGeom prst="roundRect">
            <a:avLst>
              <a:gd name="adj" fmla="val 12500"/>
            </a:avLst>
          </a:prstGeom>
          <a:solidFill>
            <a:srgbClr val="FFFFFF"/>
          </a:solidFill>
          <a:ln w="12700">
            <a:solidFill>
              <a:srgbClr val="DADFDC"/>
            </a:solidFill>
            <a:prstDash val="solid"/>
          </a:ln>
        </p:spPr>
      </p:sp>
      <p:sp>
        <p:nvSpPr>
          <p:cNvPr id="7" name="Shape 5"/>
          <p:cNvSpPr/>
          <p:nvPr/>
        </p:nvSpPr>
        <p:spPr>
          <a:xfrm>
            <a:off x="704088" y="1700784"/>
            <a:ext cx="365760" cy="365760"/>
          </a:xfrm>
          <a:prstGeom prst="ellipse">
            <a:avLst/>
          </a:prstGeom>
          <a:solidFill>
            <a:srgbClr val="12766B"/>
          </a:solidFill>
          <a:ln/>
        </p:spPr>
      </p:sp>
      <p:sp>
        <p:nvSpPr>
          <p:cNvPr id="8" name="Text 6"/>
          <p:cNvSpPr/>
          <p:nvPr/>
        </p:nvSpPr>
        <p:spPr>
          <a:xfrm>
            <a:off x="704088" y="1700784"/>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188720" y="1591056"/>
            <a:ext cx="4800600" cy="585216"/>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呼気を"値"でなく"イベント"としてエッジで切り出す</a:t>
            </a:r>
            <a:endParaRPr lang="en-US" sz="1150" dirty="0"/>
          </a:p>
        </p:txBody>
      </p:sp>
      <p:sp>
        <p:nvSpPr>
          <p:cNvPr id="10" name="Shape 8"/>
          <p:cNvSpPr/>
          <p:nvPr/>
        </p:nvSpPr>
        <p:spPr>
          <a:xfrm>
            <a:off x="6281928" y="1554480"/>
            <a:ext cx="5532120" cy="658368"/>
          </a:xfrm>
          <a:prstGeom prst="roundRect">
            <a:avLst>
              <a:gd name="adj" fmla="val 12500"/>
            </a:avLst>
          </a:prstGeom>
          <a:solidFill>
            <a:srgbClr val="FFFFFF"/>
          </a:solidFill>
          <a:ln w="12700">
            <a:solidFill>
              <a:srgbClr val="DADFDC"/>
            </a:solidFill>
            <a:prstDash val="solid"/>
          </a:ln>
        </p:spPr>
      </p:sp>
      <p:sp>
        <p:nvSpPr>
          <p:cNvPr id="11" name="Shape 9"/>
          <p:cNvSpPr/>
          <p:nvPr/>
        </p:nvSpPr>
        <p:spPr>
          <a:xfrm>
            <a:off x="6419088" y="1700784"/>
            <a:ext cx="365760" cy="365760"/>
          </a:xfrm>
          <a:prstGeom prst="ellipse">
            <a:avLst/>
          </a:prstGeom>
          <a:solidFill>
            <a:srgbClr val="12766B"/>
          </a:solidFill>
          <a:ln/>
        </p:spPr>
      </p:sp>
      <p:sp>
        <p:nvSpPr>
          <p:cNvPr id="12" name="Text 10"/>
          <p:cNvSpPr/>
          <p:nvPr/>
        </p:nvSpPr>
        <p:spPr>
          <a:xfrm>
            <a:off x="6419088" y="1700784"/>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6903720" y="1591056"/>
            <a:ext cx="4800600" cy="585216"/>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Hampel+適応EMAの全整数(Q8)実装 — float不使用で検証可能</a:t>
            </a:r>
            <a:endParaRPr lang="en-US" sz="1150" dirty="0"/>
          </a:p>
        </p:txBody>
      </p:sp>
      <p:sp>
        <p:nvSpPr>
          <p:cNvPr id="14" name="Shape 12"/>
          <p:cNvSpPr/>
          <p:nvPr/>
        </p:nvSpPr>
        <p:spPr>
          <a:xfrm>
            <a:off x="566928" y="2267712"/>
            <a:ext cx="5532120" cy="658368"/>
          </a:xfrm>
          <a:prstGeom prst="roundRect">
            <a:avLst>
              <a:gd name="adj" fmla="val 12500"/>
            </a:avLst>
          </a:prstGeom>
          <a:solidFill>
            <a:srgbClr val="FFFFFF"/>
          </a:solidFill>
          <a:ln w="12700">
            <a:solidFill>
              <a:srgbClr val="DADFDC"/>
            </a:solidFill>
            <a:prstDash val="solid"/>
          </a:ln>
        </p:spPr>
      </p:sp>
      <p:sp>
        <p:nvSpPr>
          <p:cNvPr id="15" name="Shape 13"/>
          <p:cNvSpPr/>
          <p:nvPr/>
        </p:nvSpPr>
        <p:spPr>
          <a:xfrm>
            <a:off x="704088" y="2414016"/>
            <a:ext cx="365760" cy="365760"/>
          </a:xfrm>
          <a:prstGeom prst="ellipse">
            <a:avLst/>
          </a:prstGeom>
          <a:solidFill>
            <a:srgbClr val="12766B"/>
          </a:solidFill>
          <a:ln/>
        </p:spPr>
      </p:sp>
      <p:sp>
        <p:nvSpPr>
          <p:cNvPr id="16" name="Text 14"/>
          <p:cNvSpPr/>
          <p:nvPr/>
        </p:nvSpPr>
        <p:spPr>
          <a:xfrm>
            <a:off x="704088" y="2414016"/>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188720" y="2304288"/>
            <a:ext cx="4800600" cy="585216"/>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分散ゲート付きベースライン学習（汚染防止）</a:t>
            </a:r>
            <a:endParaRPr lang="en-US" sz="1150" dirty="0"/>
          </a:p>
        </p:txBody>
      </p:sp>
      <p:sp>
        <p:nvSpPr>
          <p:cNvPr id="18" name="Shape 16"/>
          <p:cNvSpPr/>
          <p:nvPr/>
        </p:nvSpPr>
        <p:spPr>
          <a:xfrm>
            <a:off x="6281928" y="2267712"/>
            <a:ext cx="5532120" cy="658368"/>
          </a:xfrm>
          <a:prstGeom prst="roundRect">
            <a:avLst>
              <a:gd name="adj" fmla="val 12500"/>
            </a:avLst>
          </a:prstGeom>
          <a:solidFill>
            <a:srgbClr val="FFFFFF"/>
          </a:solidFill>
          <a:ln w="12700">
            <a:solidFill>
              <a:srgbClr val="DADFDC"/>
            </a:solidFill>
            <a:prstDash val="solid"/>
          </a:ln>
        </p:spPr>
      </p:sp>
      <p:sp>
        <p:nvSpPr>
          <p:cNvPr id="19" name="Shape 17"/>
          <p:cNvSpPr/>
          <p:nvPr/>
        </p:nvSpPr>
        <p:spPr>
          <a:xfrm>
            <a:off x="6419088" y="2414016"/>
            <a:ext cx="365760" cy="365760"/>
          </a:xfrm>
          <a:prstGeom prst="ellipse">
            <a:avLst/>
          </a:prstGeom>
          <a:solidFill>
            <a:srgbClr val="12766B"/>
          </a:solidFill>
          <a:ln/>
        </p:spPr>
      </p:sp>
      <p:sp>
        <p:nvSpPr>
          <p:cNvPr id="20" name="Text 18"/>
          <p:cNvSpPr/>
          <p:nvPr/>
        </p:nvSpPr>
        <p:spPr>
          <a:xfrm>
            <a:off x="6419088" y="2414016"/>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p:nvPr/>
        </p:nvSpPr>
        <p:spPr>
          <a:xfrm>
            <a:off x="6903720" y="2304288"/>
            <a:ext cx="4800600" cy="585216"/>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RH/温度チャネルを品質の独立証拠に転用（多モーダル自己検証）</a:t>
            </a:r>
            <a:endParaRPr lang="en-US" sz="1150" dirty="0"/>
          </a:p>
        </p:txBody>
      </p:sp>
      <p:sp>
        <p:nvSpPr>
          <p:cNvPr id="22" name="Shape 20"/>
          <p:cNvSpPr/>
          <p:nvPr/>
        </p:nvSpPr>
        <p:spPr>
          <a:xfrm>
            <a:off x="566928" y="2980944"/>
            <a:ext cx="5532120" cy="658368"/>
          </a:xfrm>
          <a:prstGeom prst="roundRect">
            <a:avLst>
              <a:gd name="adj" fmla="val 12500"/>
            </a:avLst>
          </a:prstGeom>
          <a:solidFill>
            <a:srgbClr val="FFFFFF"/>
          </a:solidFill>
          <a:ln w="12700">
            <a:solidFill>
              <a:srgbClr val="DADFDC"/>
            </a:solidFill>
            <a:prstDash val="solid"/>
          </a:ln>
        </p:spPr>
      </p:sp>
      <p:sp>
        <p:nvSpPr>
          <p:cNvPr id="23" name="Shape 21"/>
          <p:cNvSpPr/>
          <p:nvPr/>
        </p:nvSpPr>
        <p:spPr>
          <a:xfrm>
            <a:off x="704088" y="3127248"/>
            <a:ext cx="365760" cy="365760"/>
          </a:xfrm>
          <a:prstGeom prst="ellipse">
            <a:avLst/>
          </a:prstGeom>
          <a:solidFill>
            <a:srgbClr val="12766B"/>
          </a:solidFill>
          <a:ln/>
        </p:spPr>
      </p:sp>
      <p:sp>
        <p:nvSpPr>
          <p:cNvPr id="24" name="Text 22"/>
          <p:cNvSpPr/>
          <p:nvPr/>
        </p:nvSpPr>
        <p:spPr>
          <a:xfrm>
            <a:off x="704088" y="3127248"/>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3"/>
          <p:cNvSpPr/>
          <p:nvPr/>
        </p:nvSpPr>
        <p:spPr>
          <a:xfrm>
            <a:off x="1188720" y="3017520"/>
            <a:ext cx="4800600" cy="585216"/>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品質Q（測定）と信頼度C（機器）の二軸分離・減点方式</a:t>
            </a:r>
            <a:endParaRPr lang="en-US" sz="1150" dirty="0"/>
          </a:p>
        </p:txBody>
      </p:sp>
      <p:sp>
        <p:nvSpPr>
          <p:cNvPr id="26" name="Shape 24"/>
          <p:cNvSpPr/>
          <p:nvPr/>
        </p:nvSpPr>
        <p:spPr>
          <a:xfrm>
            <a:off x="6281928" y="2980944"/>
            <a:ext cx="5532120" cy="658368"/>
          </a:xfrm>
          <a:prstGeom prst="roundRect">
            <a:avLst>
              <a:gd name="adj" fmla="val 12500"/>
            </a:avLst>
          </a:prstGeom>
          <a:solidFill>
            <a:srgbClr val="FFFFFF"/>
          </a:solidFill>
          <a:ln w="12700">
            <a:solidFill>
              <a:srgbClr val="DADFDC"/>
            </a:solidFill>
            <a:prstDash val="solid"/>
          </a:ln>
        </p:spPr>
      </p:sp>
      <p:sp>
        <p:nvSpPr>
          <p:cNvPr id="27" name="Shape 25"/>
          <p:cNvSpPr/>
          <p:nvPr/>
        </p:nvSpPr>
        <p:spPr>
          <a:xfrm>
            <a:off x="6419088" y="3127248"/>
            <a:ext cx="365760" cy="365760"/>
          </a:xfrm>
          <a:prstGeom prst="ellipse">
            <a:avLst/>
          </a:prstGeom>
          <a:solidFill>
            <a:srgbClr val="12766B"/>
          </a:solidFill>
          <a:ln/>
        </p:spPr>
      </p:sp>
      <p:sp>
        <p:nvSpPr>
          <p:cNvPr id="28" name="Text 26"/>
          <p:cNvSpPr/>
          <p:nvPr/>
        </p:nvSpPr>
        <p:spPr>
          <a:xfrm>
            <a:off x="6419088" y="3127248"/>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9" name="Text 27"/>
          <p:cNvSpPr/>
          <p:nvPr/>
        </p:nvSpPr>
        <p:spPr>
          <a:xfrm>
            <a:off x="6903720" y="3017520"/>
            <a:ext cx="4800600" cy="585216"/>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低品質時の自動再測定 → それでも低品質なら押し付けず"提案"</a:t>
            </a:r>
            <a:endParaRPr lang="en-US" sz="1150" dirty="0"/>
          </a:p>
        </p:txBody>
      </p:sp>
      <p:sp>
        <p:nvSpPr>
          <p:cNvPr id="30" name="Shape 28"/>
          <p:cNvSpPr/>
          <p:nvPr/>
        </p:nvSpPr>
        <p:spPr>
          <a:xfrm>
            <a:off x="566928" y="3694176"/>
            <a:ext cx="5532120" cy="658368"/>
          </a:xfrm>
          <a:prstGeom prst="roundRect">
            <a:avLst>
              <a:gd name="adj" fmla="val 12500"/>
            </a:avLst>
          </a:prstGeom>
          <a:solidFill>
            <a:srgbClr val="FFFFFF"/>
          </a:solidFill>
          <a:ln w="12700">
            <a:solidFill>
              <a:srgbClr val="DADFDC"/>
            </a:solidFill>
            <a:prstDash val="solid"/>
          </a:ln>
        </p:spPr>
      </p:sp>
      <p:sp>
        <p:nvSpPr>
          <p:cNvPr id="31" name="Shape 29"/>
          <p:cNvSpPr/>
          <p:nvPr/>
        </p:nvSpPr>
        <p:spPr>
          <a:xfrm>
            <a:off x="704088" y="3840480"/>
            <a:ext cx="365760" cy="365760"/>
          </a:xfrm>
          <a:prstGeom prst="ellipse">
            <a:avLst/>
          </a:prstGeom>
          <a:solidFill>
            <a:srgbClr val="12766B"/>
          </a:solidFill>
          <a:ln/>
        </p:spPr>
      </p:sp>
      <p:sp>
        <p:nvSpPr>
          <p:cNvPr id="32" name="Text 30"/>
          <p:cNvSpPr/>
          <p:nvPr/>
        </p:nvSpPr>
        <p:spPr>
          <a:xfrm>
            <a:off x="704088" y="384048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3" name="Text 31"/>
          <p:cNvSpPr/>
          <p:nvPr/>
        </p:nvSpPr>
        <p:spPr>
          <a:xfrm>
            <a:off x="1188720" y="3730752"/>
            <a:ext cx="4800600" cy="585216"/>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損失許容度で分けた選択的ARQ（全再送でも無保証でもない中間）</a:t>
            </a:r>
            <a:endParaRPr lang="en-US" sz="1150" dirty="0"/>
          </a:p>
        </p:txBody>
      </p:sp>
      <p:sp>
        <p:nvSpPr>
          <p:cNvPr id="34" name="Shape 32"/>
          <p:cNvSpPr/>
          <p:nvPr/>
        </p:nvSpPr>
        <p:spPr>
          <a:xfrm>
            <a:off x="6281928" y="3694176"/>
            <a:ext cx="5532120" cy="658368"/>
          </a:xfrm>
          <a:prstGeom prst="roundRect">
            <a:avLst>
              <a:gd name="adj" fmla="val 12500"/>
            </a:avLst>
          </a:prstGeom>
          <a:solidFill>
            <a:srgbClr val="FFFFFF"/>
          </a:solidFill>
          <a:ln w="12700">
            <a:solidFill>
              <a:srgbClr val="DADFDC"/>
            </a:solidFill>
            <a:prstDash val="solid"/>
          </a:ln>
        </p:spPr>
      </p:sp>
      <p:sp>
        <p:nvSpPr>
          <p:cNvPr id="35" name="Shape 33"/>
          <p:cNvSpPr/>
          <p:nvPr/>
        </p:nvSpPr>
        <p:spPr>
          <a:xfrm>
            <a:off x="6419088" y="3840480"/>
            <a:ext cx="365760" cy="365760"/>
          </a:xfrm>
          <a:prstGeom prst="ellipse">
            <a:avLst/>
          </a:prstGeom>
          <a:solidFill>
            <a:srgbClr val="12766B"/>
          </a:solidFill>
          <a:ln/>
        </p:spPr>
      </p:sp>
      <p:sp>
        <p:nvSpPr>
          <p:cNvPr id="36" name="Text 34"/>
          <p:cNvSpPr/>
          <p:nvPr/>
        </p:nvSpPr>
        <p:spPr>
          <a:xfrm>
            <a:off x="6419088" y="3840480"/>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7" name="Text 35"/>
          <p:cNvSpPr/>
          <p:nvPr/>
        </p:nvSpPr>
        <p:spPr>
          <a:xfrm>
            <a:off x="6903720" y="3730752"/>
            <a:ext cx="4800600" cy="585216"/>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BLE切断中もセッション継続しARQで後送（切断=喪失を排除）</a:t>
            </a:r>
            <a:endParaRPr lang="en-US" sz="1150" dirty="0"/>
          </a:p>
        </p:txBody>
      </p:sp>
      <p:sp>
        <p:nvSpPr>
          <p:cNvPr id="38" name="Shape 36"/>
          <p:cNvSpPr/>
          <p:nvPr/>
        </p:nvSpPr>
        <p:spPr>
          <a:xfrm>
            <a:off x="566928" y="4407408"/>
            <a:ext cx="5532120" cy="658368"/>
          </a:xfrm>
          <a:prstGeom prst="roundRect">
            <a:avLst>
              <a:gd name="adj" fmla="val 12500"/>
            </a:avLst>
          </a:prstGeom>
          <a:solidFill>
            <a:srgbClr val="FFFFFF"/>
          </a:solidFill>
          <a:ln w="12700">
            <a:solidFill>
              <a:srgbClr val="DADFDC"/>
            </a:solidFill>
            <a:prstDash val="solid"/>
          </a:ln>
        </p:spPr>
      </p:sp>
      <p:sp>
        <p:nvSpPr>
          <p:cNvPr id="39" name="Shape 37"/>
          <p:cNvSpPr/>
          <p:nvPr/>
        </p:nvSpPr>
        <p:spPr>
          <a:xfrm>
            <a:off x="704088" y="4553712"/>
            <a:ext cx="365760" cy="365760"/>
          </a:xfrm>
          <a:prstGeom prst="ellipse">
            <a:avLst/>
          </a:prstGeom>
          <a:solidFill>
            <a:srgbClr val="12766B"/>
          </a:solidFill>
          <a:ln/>
        </p:spPr>
      </p:sp>
      <p:sp>
        <p:nvSpPr>
          <p:cNvPr id="40" name="Text 38"/>
          <p:cNvSpPr/>
          <p:nvPr/>
        </p:nvSpPr>
        <p:spPr>
          <a:xfrm>
            <a:off x="704088" y="4553712"/>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41" name="Text 39"/>
          <p:cNvSpPr/>
          <p:nvPr/>
        </p:nvSpPr>
        <p:spPr>
          <a:xfrm>
            <a:off x="1188720" y="4443984"/>
            <a:ext cx="4800600" cy="585216"/>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イベント駆動EVT_PHASE（ポーリングレス実況）で帯域・電力削減</a:t>
            </a:r>
            <a:endParaRPr lang="en-US" sz="1150" dirty="0"/>
          </a:p>
        </p:txBody>
      </p:sp>
      <p:sp>
        <p:nvSpPr>
          <p:cNvPr id="42" name="Shape 40"/>
          <p:cNvSpPr/>
          <p:nvPr/>
        </p:nvSpPr>
        <p:spPr>
          <a:xfrm>
            <a:off x="6281928" y="4407408"/>
            <a:ext cx="5532120" cy="658368"/>
          </a:xfrm>
          <a:prstGeom prst="roundRect">
            <a:avLst>
              <a:gd name="adj" fmla="val 12500"/>
            </a:avLst>
          </a:prstGeom>
          <a:solidFill>
            <a:srgbClr val="FFFFFF"/>
          </a:solidFill>
          <a:ln w="12700">
            <a:solidFill>
              <a:srgbClr val="DADFDC"/>
            </a:solidFill>
            <a:prstDash val="solid"/>
          </a:ln>
        </p:spPr>
      </p:sp>
      <p:sp>
        <p:nvSpPr>
          <p:cNvPr id="43" name="Shape 41"/>
          <p:cNvSpPr/>
          <p:nvPr/>
        </p:nvSpPr>
        <p:spPr>
          <a:xfrm>
            <a:off x="6419088" y="4553712"/>
            <a:ext cx="365760" cy="365760"/>
          </a:xfrm>
          <a:prstGeom prst="ellipse">
            <a:avLst/>
          </a:prstGeom>
          <a:solidFill>
            <a:srgbClr val="12766B"/>
          </a:solidFill>
          <a:ln/>
        </p:spPr>
      </p:sp>
      <p:sp>
        <p:nvSpPr>
          <p:cNvPr id="44" name="Text 42"/>
          <p:cNvSpPr/>
          <p:nvPr/>
        </p:nvSpPr>
        <p:spPr>
          <a:xfrm>
            <a:off x="6419088" y="4553712"/>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5" name="Text 43"/>
          <p:cNvSpPr/>
          <p:nvPr/>
        </p:nvSpPr>
        <p:spPr>
          <a:xfrm>
            <a:off x="6903720" y="4443984"/>
            <a:ext cx="4800600" cy="585216"/>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全パイプラインがHAL非依存純Cでホスト検証可能</a:t>
            </a:r>
            <a:endParaRPr lang="en-US" sz="1150" dirty="0"/>
          </a:p>
        </p:txBody>
      </p:sp>
      <p:sp>
        <p:nvSpPr>
          <p:cNvPr id="46" name="Shape 44"/>
          <p:cNvSpPr/>
          <p:nvPr/>
        </p:nvSpPr>
        <p:spPr>
          <a:xfrm>
            <a:off x="566928" y="5120640"/>
            <a:ext cx="5532120" cy="658368"/>
          </a:xfrm>
          <a:prstGeom prst="roundRect">
            <a:avLst>
              <a:gd name="adj" fmla="val 12500"/>
            </a:avLst>
          </a:prstGeom>
          <a:solidFill>
            <a:srgbClr val="FFFFFF"/>
          </a:solidFill>
          <a:ln w="12700">
            <a:solidFill>
              <a:srgbClr val="DADFDC"/>
            </a:solidFill>
            <a:prstDash val="solid"/>
          </a:ln>
        </p:spPr>
      </p:sp>
      <p:sp>
        <p:nvSpPr>
          <p:cNvPr id="47" name="Shape 45"/>
          <p:cNvSpPr/>
          <p:nvPr/>
        </p:nvSpPr>
        <p:spPr>
          <a:xfrm>
            <a:off x="704088" y="5266944"/>
            <a:ext cx="365760" cy="365760"/>
          </a:xfrm>
          <a:prstGeom prst="ellipse">
            <a:avLst/>
          </a:prstGeom>
          <a:solidFill>
            <a:srgbClr val="12766B"/>
          </a:solidFill>
          <a:ln/>
        </p:spPr>
      </p:sp>
      <p:sp>
        <p:nvSpPr>
          <p:cNvPr id="48" name="Text 46"/>
          <p:cNvSpPr/>
          <p:nvPr/>
        </p:nvSpPr>
        <p:spPr>
          <a:xfrm>
            <a:off x="704088" y="5266944"/>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49" name="Text 47"/>
          <p:cNvSpPr/>
          <p:nvPr/>
        </p:nvSpPr>
        <p:spPr>
          <a:xfrm>
            <a:off x="1188720" y="5157216"/>
            <a:ext cx="4800600" cy="585216"/>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ラボモード（生値）と製品モード（イベント）の共存</a:t>
            </a:r>
            <a:endParaRPr lang="en-US" sz="1150" dirty="0"/>
          </a:p>
        </p:txBody>
      </p:sp>
      <p:sp>
        <p:nvSpPr>
          <p:cNvPr id="50" name="Shape 48"/>
          <p:cNvSpPr/>
          <p:nvPr/>
        </p:nvSpPr>
        <p:spPr>
          <a:xfrm>
            <a:off x="6281928" y="5120640"/>
            <a:ext cx="5532120" cy="658368"/>
          </a:xfrm>
          <a:prstGeom prst="roundRect">
            <a:avLst>
              <a:gd name="adj" fmla="val 12500"/>
            </a:avLst>
          </a:prstGeom>
          <a:solidFill>
            <a:srgbClr val="FFFFFF"/>
          </a:solidFill>
          <a:ln w="12700">
            <a:solidFill>
              <a:srgbClr val="DADFDC"/>
            </a:solidFill>
            <a:prstDash val="solid"/>
          </a:ln>
        </p:spPr>
      </p:sp>
      <p:sp>
        <p:nvSpPr>
          <p:cNvPr id="51" name="Shape 49"/>
          <p:cNvSpPr/>
          <p:nvPr/>
        </p:nvSpPr>
        <p:spPr>
          <a:xfrm>
            <a:off x="6419088" y="5266944"/>
            <a:ext cx="365760" cy="365760"/>
          </a:xfrm>
          <a:prstGeom prst="ellipse">
            <a:avLst/>
          </a:prstGeom>
          <a:solidFill>
            <a:srgbClr val="12766B"/>
          </a:solidFill>
          <a:ln/>
        </p:spPr>
      </p:sp>
      <p:sp>
        <p:nvSpPr>
          <p:cNvPr id="52" name="Text 50"/>
          <p:cNvSpPr/>
          <p:nvPr/>
        </p:nvSpPr>
        <p:spPr>
          <a:xfrm>
            <a:off x="6419088" y="5266944"/>
            <a:ext cx="365760" cy="3657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53" name="Text 51"/>
          <p:cNvSpPr/>
          <p:nvPr/>
        </p:nvSpPr>
        <p:spPr>
          <a:xfrm>
            <a:off x="6903720" y="5157216"/>
            <a:ext cx="4800600" cy="585216"/>
          </a:xfrm>
          <a:prstGeom prst="rect">
            <a:avLst/>
          </a:prstGeom>
          <a:noFill/>
          <a:ln/>
        </p:spPr>
        <p:txBody>
          <a:bodyPr wrap="square" rtlCol="0" anchor="ctr"/>
          <a:lstStyle/>
          <a:p>
            <a:pPr indent="0" marL="0">
              <a:buNone/>
            </a:pPr>
            <a:r>
              <a:rPr lang="en-US" sz="1150" dirty="0">
                <a:solidFill>
                  <a:srgbClr val="1C1C1E"/>
                </a:solidFill>
                <a:latin typeface="Calibri" pitchFamily="34" charset="0"/>
                <a:ea typeface="Calibri" pitchFamily="34" charset="-122"/>
                <a:cs typeface="Calibri" pitchFamily="34" charset="-120"/>
              </a:rPr>
              <a:t>閾値をPROVISIONALと明示し実犬較正手順に接続（誠実な較正計画）</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FUTURE WORK</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今後の実験計画 — 卒論の実験章になる</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18</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572768"/>
            <a:ext cx="11064240" cy="896112"/>
          </a:xfrm>
          <a:prstGeom prst="roundRect">
            <a:avLst>
              <a:gd name="adj" fmla="val 9184"/>
            </a:avLst>
          </a:prstGeom>
          <a:solidFill>
            <a:srgbClr val="FFFFFF"/>
          </a:solidFill>
          <a:ln w="12700">
            <a:solidFill>
              <a:srgbClr val="DADFDC"/>
            </a:solidFill>
            <a:prstDash val="solid"/>
          </a:ln>
        </p:spPr>
      </p:sp>
      <p:sp>
        <p:nvSpPr>
          <p:cNvPr id="7" name="Shape 5"/>
          <p:cNvSpPr/>
          <p:nvPr/>
        </p:nvSpPr>
        <p:spPr>
          <a:xfrm>
            <a:off x="749808" y="1746504"/>
            <a:ext cx="548640" cy="548640"/>
          </a:xfrm>
          <a:prstGeom prst="ellipse">
            <a:avLst/>
          </a:prstGeom>
          <a:solidFill>
            <a:srgbClr val="12766B"/>
          </a:solidFill>
          <a:ln/>
        </p:spPr>
      </p:sp>
      <p:sp>
        <p:nvSpPr>
          <p:cNvPr id="8" name="Text 6"/>
          <p:cNvSpPr/>
          <p:nvPr/>
        </p:nvSpPr>
        <p:spPr>
          <a:xfrm>
            <a:off x="749808" y="1746504"/>
            <a:ext cx="5486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9" name="Text 7"/>
          <p:cNvSpPr/>
          <p:nvPr/>
        </p:nvSpPr>
        <p:spPr>
          <a:xfrm>
            <a:off x="1481328" y="1691640"/>
            <a:ext cx="2743200" cy="640080"/>
          </a:xfrm>
          <a:prstGeom prst="rect">
            <a:avLst/>
          </a:prstGeom>
          <a:noFill/>
          <a:ln/>
        </p:spPr>
        <p:txBody>
          <a:bodyPr wrap="square" rtlCol="0" anchor="ctr"/>
          <a:lstStyle/>
          <a:p>
            <a:pPr indent="0" marL="0">
              <a:buNone/>
            </a:pPr>
            <a:r>
              <a:rPr lang="en-US" sz="1500" b="1" dirty="0">
                <a:solidFill>
                  <a:srgbClr val="1C1C1E"/>
                </a:solidFill>
                <a:latin typeface="Calibri" pitchFamily="34" charset="0"/>
                <a:ea typeface="Calibri" pitchFamily="34" charset="-122"/>
                <a:cs typeface="Calibri" pitchFamily="34" charset="-120"/>
              </a:rPr>
              <a:t>ベンチ較正</a:t>
            </a:r>
            <a:endParaRPr lang="en-US" sz="1500" dirty="0"/>
          </a:p>
        </p:txBody>
      </p:sp>
      <p:sp>
        <p:nvSpPr>
          <p:cNvPr id="10" name="Text 8"/>
          <p:cNvSpPr/>
          <p:nvPr/>
        </p:nvSpPr>
        <p:spPr>
          <a:xfrm>
            <a:off x="4224528" y="1691640"/>
            <a:ext cx="7223760" cy="658368"/>
          </a:xfrm>
          <a:prstGeom prst="rect">
            <a:avLst/>
          </a:prstGeom>
          <a:noFill/>
          <a:ln/>
        </p:spPr>
        <p:txBody>
          <a:bodyPr wrap="square" rtlCol="0" anchor="ctr"/>
          <a:lstStyle/>
          <a:p>
            <a:pPr indent="0" marL="0">
              <a:buNone/>
            </a:pPr>
            <a:r>
              <a:rPr lang="en-US" sz="1250" dirty="0">
                <a:solidFill>
                  <a:srgbClr val="5B6763"/>
                </a:solidFill>
                <a:latin typeface="Calibri" pitchFamily="34" charset="0"/>
                <a:ea typeface="Calibri" pitchFamily="34" charset="-122"/>
                <a:cs typeface="Calibri" pitchFamily="34" charset="-120"/>
              </a:rPr>
              <a:t>人工呼気（加湿H2ガス）でDGS2実応答を測定 → 合成波形モデルを検証。CFG_BAP_* の妥当域を確定</a:t>
            </a:r>
            <a:endParaRPr lang="en-US" sz="1250" dirty="0"/>
          </a:p>
        </p:txBody>
      </p:sp>
      <p:sp>
        <p:nvSpPr>
          <p:cNvPr id="11" name="Shape 9"/>
          <p:cNvSpPr/>
          <p:nvPr/>
        </p:nvSpPr>
        <p:spPr>
          <a:xfrm>
            <a:off x="1024128" y="2468880"/>
            <a:ext cx="0" cy="54864"/>
          </a:xfrm>
          <a:prstGeom prst="line">
            <a:avLst/>
          </a:prstGeom>
          <a:noFill/>
          <a:ln w="27940">
            <a:solidFill>
              <a:srgbClr val="4FB8A5"/>
            </a:solidFill>
            <a:prstDash val="solid"/>
            <a:tailEnd type="triangle"/>
          </a:ln>
        </p:spPr>
      </p:sp>
      <p:sp>
        <p:nvSpPr>
          <p:cNvPr id="12" name="Shape 10"/>
          <p:cNvSpPr/>
          <p:nvPr/>
        </p:nvSpPr>
        <p:spPr>
          <a:xfrm>
            <a:off x="566928" y="2523744"/>
            <a:ext cx="11064240" cy="896112"/>
          </a:xfrm>
          <a:prstGeom prst="roundRect">
            <a:avLst>
              <a:gd name="adj" fmla="val 9184"/>
            </a:avLst>
          </a:prstGeom>
          <a:solidFill>
            <a:srgbClr val="FFFFFF"/>
          </a:solidFill>
          <a:ln w="12700">
            <a:solidFill>
              <a:srgbClr val="DADFDC"/>
            </a:solidFill>
            <a:prstDash val="solid"/>
          </a:ln>
        </p:spPr>
      </p:sp>
      <p:sp>
        <p:nvSpPr>
          <p:cNvPr id="13" name="Shape 11"/>
          <p:cNvSpPr/>
          <p:nvPr/>
        </p:nvSpPr>
        <p:spPr>
          <a:xfrm>
            <a:off x="749808" y="2697480"/>
            <a:ext cx="548640" cy="548640"/>
          </a:xfrm>
          <a:prstGeom prst="ellipse">
            <a:avLst/>
          </a:prstGeom>
          <a:solidFill>
            <a:srgbClr val="12766B"/>
          </a:solidFill>
          <a:ln/>
        </p:spPr>
      </p:sp>
      <p:sp>
        <p:nvSpPr>
          <p:cNvPr id="14" name="Text 12"/>
          <p:cNvSpPr/>
          <p:nvPr/>
        </p:nvSpPr>
        <p:spPr>
          <a:xfrm>
            <a:off x="749808" y="2697480"/>
            <a:ext cx="5486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5" name="Text 13"/>
          <p:cNvSpPr/>
          <p:nvPr/>
        </p:nvSpPr>
        <p:spPr>
          <a:xfrm>
            <a:off x="1481328" y="2642616"/>
            <a:ext cx="2743200" cy="640080"/>
          </a:xfrm>
          <a:prstGeom prst="rect">
            <a:avLst/>
          </a:prstGeom>
          <a:noFill/>
          <a:ln/>
        </p:spPr>
        <p:txBody>
          <a:bodyPr wrap="square" rtlCol="0" anchor="ctr"/>
          <a:lstStyle/>
          <a:p>
            <a:pPr indent="0" marL="0">
              <a:buNone/>
            </a:pPr>
            <a:r>
              <a:rPr lang="en-US" sz="1500" b="1" dirty="0">
                <a:solidFill>
                  <a:srgbClr val="1C1C1E"/>
                </a:solidFill>
                <a:latin typeface="Calibri" pitchFamily="34" charset="0"/>
                <a:ea typeface="Calibri" pitchFamily="34" charset="-122"/>
                <a:cs typeface="Calibri" pitchFamily="34" charset="-120"/>
              </a:rPr>
              <a:t>実犬データ収集</a:t>
            </a:r>
            <a:endParaRPr lang="en-US" sz="1500" dirty="0"/>
          </a:p>
        </p:txBody>
      </p:sp>
      <p:sp>
        <p:nvSpPr>
          <p:cNvPr id="16" name="Text 14"/>
          <p:cNvSpPr/>
          <p:nvPr/>
        </p:nvSpPr>
        <p:spPr>
          <a:xfrm>
            <a:off x="4224528" y="2642616"/>
            <a:ext cx="7223760" cy="658368"/>
          </a:xfrm>
          <a:prstGeom prst="rect">
            <a:avLst/>
          </a:prstGeom>
          <a:noFill/>
          <a:ln/>
        </p:spPr>
        <p:txBody>
          <a:bodyPr wrap="square" rtlCol="0" anchor="ctr"/>
          <a:lstStyle/>
          <a:p>
            <a:pPr indent="0" marL="0">
              <a:buNone/>
            </a:pPr>
            <a:r>
              <a:rPr lang="en-US" sz="1250" dirty="0">
                <a:solidFill>
                  <a:srgbClr val="5B6763"/>
                </a:solidFill>
                <a:latin typeface="Calibri" pitchFamily="34" charset="0"/>
                <a:ea typeface="Calibri" pitchFamily="34" charset="-122"/>
                <a:cs typeface="Calibri" pitchFamily="34" charset="-120"/>
              </a:rPr>
              <a:t>N頭 × M回の測定。Q分布と人手ラベル（有効/無効）から閾値60と減点重みを再推定</a:t>
            </a:r>
            <a:endParaRPr lang="en-US" sz="1250" dirty="0"/>
          </a:p>
        </p:txBody>
      </p:sp>
      <p:sp>
        <p:nvSpPr>
          <p:cNvPr id="17" name="Shape 15"/>
          <p:cNvSpPr/>
          <p:nvPr/>
        </p:nvSpPr>
        <p:spPr>
          <a:xfrm>
            <a:off x="1024128" y="3419856"/>
            <a:ext cx="0" cy="54864"/>
          </a:xfrm>
          <a:prstGeom prst="line">
            <a:avLst/>
          </a:prstGeom>
          <a:noFill/>
          <a:ln w="27940">
            <a:solidFill>
              <a:srgbClr val="4FB8A5"/>
            </a:solidFill>
            <a:prstDash val="solid"/>
            <a:tailEnd type="triangle"/>
          </a:ln>
        </p:spPr>
      </p:sp>
      <p:sp>
        <p:nvSpPr>
          <p:cNvPr id="18" name="Shape 16"/>
          <p:cNvSpPr/>
          <p:nvPr/>
        </p:nvSpPr>
        <p:spPr>
          <a:xfrm>
            <a:off x="566928" y="3474720"/>
            <a:ext cx="11064240" cy="896112"/>
          </a:xfrm>
          <a:prstGeom prst="roundRect">
            <a:avLst>
              <a:gd name="adj" fmla="val 9184"/>
            </a:avLst>
          </a:prstGeom>
          <a:solidFill>
            <a:srgbClr val="FFFFFF"/>
          </a:solidFill>
          <a:ln w="12700">
            <a:solidFill>
              <a:srgbClr val="DADFDC"/>
            </a:solidFill>
            <a:prstDash val="solid"/>
          </a:ln>
        </p:spPr>
      </p:sp>
      <p:sp>
        <p:nvSpPr>
          <p:cNvPr id="19" name="Shape 17"/>
          <p:cNvSpPr/>
          <p:nvPr/>
        </p:nvSpPr>
        <p:spPr>
          <a:xfrm>
            <a:off x="749808" y="3648456"/>
            <a:ext cx="548640" cy="548640"/>
          </a:xfrm>
          <a:prstGeom prst="ellipse">
            <a:avLst/>
          </a:prstGeom>
          <a:solidFill>
            <a:srgbClr val="12766B"/>
          </a:solidFill>
          <a:ln/>
        </p:spPr>
      </p:sp>
      <p:sp>
        <p:nvSpPr>
          <p:cNvPr id="20" name="Text 18"/>
          <p:cNvSpPr/>
          <p:nvPr/>
        </p:nvSpPr>
        <p:spPr>
          <a:xfrm>
            <a:off x="749808" y="3648456"/>
            <a:ext cx="5486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21" name="Text 19"/>
          <p:cNvSpPr/>
          <p:nvPr/>
        </p:nvSpPr>
        <p:spPr>
          <a:xfrm>
            <a:off x="1481328" y="3593592"/>
            <a:ext cx="2743200" cy="640080"/>
          </a:xfrm>
          <a:prstGeom prst="rect">
            <a:avLst/>
          </a:prstGeom>
          <a:noFill/>
          <a:ln/>
        </p:spPr>
        <p:txBody>
          <a:bodyPr wrap="square" rtlCol="0" anchor="ctr"/>
          <a:lstStyle/>
          <a:p>
            <a:pPr indent="0" marL="0">
              <a:buNone/>
            </a:pPr>
            <a:r>
              <a:rPr lang="en-US" sz="1500" b="1" dirty="0">
                <a:solidFill>
                  <a:srgbClr val="1C1C1E"/>
                </a:solidFill>
                <a:latin typeface="Calibri" pitchFamily="34" charset="0"/>
                <a:ea typeface="Calibri" pitchFamily="34" charset="-122"/>
                <a:cs typeface="Calibri" pitchFamily="34" charset="-120"/>
              </a:rPr>
              <a:t>比較実験（ROC）</a:t>
            </a:r>
            <a:endParaRPr lang="en-US" sz="1500" dirty="0"/>
          </a:p>
        </p:txBody>
      </p:sp>
      <p:sp>
        <p:nvSpPr>
          <p:cNvPr id="22" name="Text 20"/>
          <p:cNvSpPr/>
          <p:nvPr/>
        </p:nvSpPr>
        <p:spPr>
          <a:xfrm>
            <a:off x="4224528" y="3593592"/>
            <a:ext cx="7223760" cy="658368"/>
          </a:xfrm>
          <a:prstGeom prst="rect">
            <a:avLst/>
          </a:prstGeom>
          <a:noFill/>
          <a:ln/>
        </p:spPr>
        <p:txBody>
          <a:bodyPr wrap="square" rtlCol="0" anchor="ctr"/>
          <a:lstStyle/>
          <a:p>
            <a:pPr indent="0" marL="0">
              <a:buNone/>
            </a:pPr>
            <a:r>
              <a:rPr lang="en-US" sz="1250" dirty="0">
                <a:solidFill>
                  <a:srgbClr val="5B6763"/>
                </a:solidFill>
                <a:latin typeface="Calibri" pitchFamily="34" charset="0"/>
                <a:ea typeface="Calibri" pitchFamily="34" charset="-122"/>
                <a:cs typeface="Calibri" pitchFamily="34" charset="-120"/>
              </a:rPr>
              <a:t>生値+固定閾値 / 移動平均 / カルマン(α-β) / 提案法 を検出率×誤検出率で比較</a:t>
            </a:r>
            <a:endParaRPr lang="en-US" sz="1250" dirty="0"/>
          </a:p>
        </p:txBody>
      </p:sp>
      <p:sp>
        <p:nvSpPr>
          <p:cNvPr id="23" name="Shape 21"/>
          <p:cNvSpPr/>
          <p:nvPr/>
        </p:nvSpPr>
        <p:spPr>
          <a:xfrm>
            <a:off x="1024128" y="4370832"/>
            <a:ext cx="0" cy="54864"/>
          </a:xfrm>
          <a:prstGeom prst="line">
            <a:avLst/>
          </a:prstGeom>
          <a:noFill/>
          <a:ln w="27940">
            <a:solidFill>
              <a:srgbClr val="4FB8A5"/>
            </a:solidFill>
            <a:prstDash val="solid"/>
            <a:tailEnd type="triangle"/>
          </a:ln>
        </p:spPr>
      </p:sp>
      <p:sp>
        <p:nvSpPr>
          <p:cNvPr id="24" name="Shape 22"/>
          <p:cNvSpPr/>
          <p:nvPr/>
        </p:nvSpPr>
        <p:spPr>
          <a:xfrm>
            <a:off x="566928" y="4425696"/>
            <a:ext cx="11064240" cy="896112"/>
          </a:xfrm>
          <a:prstGeom prst="roundRect">
            <a:avLst>
              <a:gd name="adj" fmla="val 9184"/>
            </a:avLst>
          </a:prstGeom>
          <a:solidFill>
            <a:srgbClr val="FFFFFF"/>
          </a:solidFill>
          <a:ln w="12700">
            <a:solidFill>
              <a:srgbClr val="DADFDC"/>
            </a:solidFill>
            <a:prstDash val="solid"/>
          </a:ln>
        </p:spPr>
      </p:sp>
      <p:sp>
        <p:nvSpPr>
          <p:cNvPr id="25" name="Shape 23"/>
          <p:cNvSpPr/>
          <p:nvPr/>
        </p:nvSpPr>
        <p:spPr>
          <a:xfrm>
            <a:off x="749808" y="4599432"/>
            <a:ext cx="548640" cy="548640"/>
          </a:xfrm>
          <a:prstGeom prst="ellipse">
            <a:avLst/>
          </a:prstGeom>
          <a:solidFill>
            <a:srgbClr val="12766B"/>
          </a:solidFill>
          <a:ln/>
        </p:spPr>
      </p:sp>
      <p:sp>
        <p:nvSpPr>
          <p:cNvPr id="26" name="Text 24"/>
          <p:cNvSpPr/>
          <p:nvPr/>
        </p:nvSpPr>
        <p:spPr>
          <a:xfrm>
            <a:off x="749808" y="4599432"/>
            <a:ext cx="5486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7" name="Text 25"/>
          <p:cNvSpPr/>
          <p:nvPr/>
        </p:nvSpPr>
        <p:spPr>
          <a:xfrm>
            <a:off x="1481328" y="4544568"/>
            <a:ext cx="2743200" cy="640080"/>
          </a:xfrm>
          <a:prstGeom prst="rect">
            <a:avLst/>
          </a:prstGeom>
          <a:noFill/>
          <a:ln/>
        </p:spPr>
        <p:txBody>
          <a:bodyPr wrap="square" rtlCol="0" anchor="ctr"/>
          <a:lstStyle/>
          <a:p>
            <a:pPr indent="0" marL="0">
              <a:buNone/>
            </a:pPr>
            <a:r>
              <a:rPr lang="en-US" sz="1500" b="1" dirty="0">
                <a:solidFill>
                  <a:srgbClr val="1C1C1E"/>
                </a:solidFill>
                <a:latin typeface="Calibri" pitchFamily="34" charset="0"/>
                <a:ea typeface="Calibri" pitchFamily="34" charset="-122"/>
                <a:cs typeface="Calibri" pitchFamily="34" charset="-120"/>
              </a:rPr>
              <a:t>性能定量化</a:t>
            </a:r>
            <a:endParaRPr lang="en-US" sz="1500" dirty="0"/>
          </a:p>
        </p:txBody>
      </p:sp>
      <p:sp>
        <p:nvSpPr>
          <p:cNvPr id="28" name="Text 26"/>
          <p:cNvSpPr/>
          <p:nvPr/>
        </p:nvSpPr>
        <p:spPr>
          <a:xfrm>
            <a:off x="4224528" y="4544568"/>
            <a:ext cx="7223760" cy="658368"/>
          </a:xfrm>
          <a:prstGeom prst="rect">
            <a:avLst/>
          </a:prstGeom>
          <a:noFill/>
          <a:ln/>
        </p:spPr>
        <p:txBody>
          <a:bodyPr wrap="square" rtlCol="0" anchor="ctr"/>
          <a:lstStyle/>
          <a:p>
            <a:pPr indent="0" marL="0">
              <a:buNone/>
            </a:pPr>
            <a:r>
              <a:rPr lang="en-US" sz="1250" dirty="0">
                <a:solidFill>
                  <a:srgbClr val="5B6763"/>
                </a:solidFill>
                <a:latin typeface="Calibri" pitchFamily="34" charset="0"/>
                <a:ea typeface="Calibri" pitchFamily="34" charset="-122"/>
                <a:cs typeface="Calibri" pitchFamily="34" charset="-120"/>
              </a:rPr>
              <a:t>onset検出遅延の分布・採点1回のサイクル数・ARQ回復率（損失率p vs 到達率）</a:t>
            </a:r>
            <a:endParaRPr lang="en-US" sz="1250" dirty="0"/>
          </a:p>
        </p:txBody>
      </p:sp>
      <p:sp>
        <p:nvSpPr>
          <p:cNvPr id="29" name="Shape 27"/>
          <p:cNvSpPr/>
          <p:nvPr/>
        </p:nvSpPr>
        <p:spPr>
          <a:xfrm>
            <a:off x="1024128" y="5321808"/>
            <a:ext cx="0" cy="54864"/>
          </a:xfrm>
          <a:prstGeom prst="line">
            <a:avLst/>
          </a:prstGeom>
          <a:noFill/>
          <a:ln w="27940">
            <a:solidFill>
              <a:srgbClr val="4FB8A5"/>
            </a:solidFill>
            <a:prstDash val="solid"/>
            <a:tailEnd type="triangle"/>
          </a:ln>
        </p:spPr>
      </p:sp>
      <p:sp>
        <p:nvSpPr>
          <p:cNvPr id="30" name="Shape 28"/>
          <p:cNvSpPr/>
          <p:nvPr/>
        </p:nvSpPr>
        <p:spPr>
          <a:xfrm>
            <a:off x="566928" y="5376672"/>
            <a:ext cx="11064240" cy="896112"/>
          </a:xfrm>
          <a:prstGeom prst="roundRect">
            <a:avLst>
              <a:gd name="adj" fmla="val 9184"/>
            </a:avLst>
          </a:prstGeom>
          <a:solidFill>
            <a:srgbClr val="FFFFFF"/>
          </a:solidFill>
          <a:ln w="12700">
            <a:solidFill>
              <a:srgbClr val="DADFDC"/>
            </a:solidFill>
            <a:prstDash val="solid"/>
          </a:ln>
        </p:spPr>
      </p:sp>
      <p:sp>
        <p:nvSpPr>
          <p:cNvPr id="31" name="Shape 29"/>
          <p:cNvSpPr/>
          <p:nvPr/>
        </p:nvSpPr>
        <p:spPr>
          <a:xfrm>
            <a:off x="749808" y="5550408"/>
            <a:ext cx="548640" cy="548640"/>
          </a:xfrm>
          <a:prstGeom prst="ellipse">
            <a:avLst/>
          </a:prstGeom>
          <a:solidFill>
            <a:srgbClr val="12766B"/>
          </a:solidFill>
          <a:ln/>
        </p:spPr>
      </p:sp>
      <p:sp>
        <p:nvSpPr>
          <p:cNvPr id="32" name="Text 30"/>
          <p:cNvSpPr/>
          <p:nvPr/>
        </p:nvSpPr>
        <p:spPr>
          <a:xfrm>
            <a:off x="749808" y="5550408"/>
            <a:ext cx="548640" cy="54864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33" name="Text 31"/>
          <p:cNvSpPr/>
          <p:nvPr/>
        </p:nvSpPr>
        <p:spPr>
          <a:xfrm>
            <a:off x="1481328" y="5495544"/>
            <a:ext cx="2743200" cy="640080"/>
          </a:xfrm>
          <a:prstGeom prst="rect">
            <a:avLst/>
          </a:prstGeom>
          <a:noFill/>
          <a:ln/>
        </p:spPr>
        <p:txBody>
          <a:bodyPr wrap="square" rtlCol="0" anchor="ctr"/>
          <a:lstStyle/>
          <a:p>
            <a:pPr indent="0" marL="0">
              <a:buNone/>
            </a:pPr>
            <a:r>
              <a:rPr lang="en-US" sz="1500" b="1" dirty="0">
                <a:solidFill>
                  <a:srgbClr val="1C1C1E"/>
                </a:solidFill>
                <a:latin typeface="Calibri" pitchFamily="34" charset="0"/>
                <a:ea typeface="Calibri" pitchFamily="34" charset="-122"/>
                <a:cs typeface="Calibri" pitchFamily="34" charset="-120"/>
              </a:rPr>
              <a:t>電力実測</a:t>
            </a:r>
            <a:endParaRPr lang="en-US" sz="1500" dirty="0"/>
          </a:p>
        </p:txBody>
      </p:sp>
      <p:sp>
        <p:nvSpPr>
          <p:cNvPr id="34" name="Text 32"/>
          <p:cNvSpPr/>
          <p:nvPr/>
        </p:nvSpPr>
        <p:spPr>
          <a:xfrm>
            <a:off x="4224528" y="5495544"/>
            <a:ext cx="7223760" cy="658368"/>
          </a:xfrm>
          <a:prstGeom prst="rect">
            <a:avLst/>
          </a:prstGeom>
          <a:noFill/>
          <a:ln/>
        </p:spPr>
        <p:txBody>
          <a:bodyPr wrap="square" rtlCol="0" anchor="ctr"/>
          <a:lstStyle/>
          <a:p>
            <a:pPr indent="0" marL="0">
              <a:buNone/>
            </a:pPr>
            <a:r>
              <a:rPr lang="en-US" sz="1250" dirty="0">
                <a:solidFill>
                  <a:srgbClr val="5B6763"/>
                </a:solidFill>
                <a:latin typeface="Calibri" pitchFamily="34" charset="0"/>
                <a:ea typeface="Calibri" pitchFamily="34" charset="-122"/>
                <a:cs typeface="Calibri" pitchFamily="34" charset="-120"/>
              </a:rPr>
              <a:t>電流ロガーで IDLE / SLEEP / 測定中 の消費を実測 → ESTIMATED を MEASURED に</a:t>
            </a:r>
            <a:endParaRPr lang="en-US" sz="1250" dirty="0"/>
          </a:p>
        </p:txBody>
      </p:sp>
      <p:sp>
        <p:nvSpPr>
          <p:cNvPr id="35" name="Shape 33"/>
          <p:cNvSpPr/>
          <p:nvPr/>
        </p:nvSpPr>
        <p:spPr>
          <a:xfrm>
            <a:off x="1024128" y="6272784"/>
            <a:ext cx="0" cy="54864"/>
          </a:xfrm>
          <a:prstGeom prst="line">
            <a:avLst/>
          </a:prstGeom>
          <a:noFill/>
          <a:ln w="27940">
            <a:solidFill>
              <a:srgbClr val="4FB8A5"/>
            </a:solidFill>
            <a:prstDash val="solid"/>
            <a:tailEnd type="triangle"/>
          </a:ln>
        </p:spPr>
      </p:sp>
      <p:sp>
        <p:nvSpPr>
          <p:cNvPr id="36" name="Text 34"/>
          <p:cNvSpPr/>
          <p:nvPr/>
        </p:nvSpPr>
        <p:spPr>
          <a:xfrm>
            <a:off x="566928" y="6355080"/>
            <a:ext cx="10972800" cy="320040"/>
          </a:xfrm>
          <a:prstGeom prst="rect">
            <a:avLst/>
          </a:prstGeom>
          <a:noFill/>
          <a:ln/>
        </p:spPr>
        <p:txBody>
          <a:bodyPr wrap="square" rtlCol="0" anchor="ctr"/>
          <a:lstStyle/>
          <a:p>
            <a:pPr indent="0" marL="0">
              <a:buNone/>
            </a:pPr>
            <a:r>
              <a:rPr lang="en-US" sz="1250" b="1" i="1" dirty="0">
                <a:solidFill>
                  <a:srgbClr val="12766B"/>
                </a:solidFill>
                <a:latin typeface="Calibri" pitchFamily="34" charset="0"/>
                <a:ea typeface="Calibri" pitchFamily="34" charset="-122"/>
                <a:cs typeface="Calibri" pitchFamily="34" charset="-120"/>
              </a:rPr>
              <a:t>現状の限界は「未知」ではなく「計画済みの未実施」— 必要データ・装置・指標はすべて docs に定義済み</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3B36"/>
        </a:solidFill>
      </p:bgPr>
    </p:bg>
    <p:spTree>
      <p:nvGrpSpPr>
        <p:cNvPr id="1" name=""/>
        <p:cNvGrpSpPr/>
        <p:nvPr/>
      </p:nvGrpSpPr>
      <p:grpSpPr>
        <a:xfrm>
          <a:off x="0" y="0"/>
          <a:ext cx="0" cy="0"/>
          <a:chOff x="0" y="0"/>
          <a:chExt cx="0" cy="0"/>
        </a:xfrm>
      </p:grpSpPr>
      <p:sp>
        <p:nvSpPr>
          <p:cNvPr id="2" name="Shape 0"/>
          <p:cNvSpPr/>
          <p:nvPr/>
        </p:nvSpPr>
        <p:spPr>
          <a:xfrm>
            <a:off x="8531352" y="-1828800"/>
            <a:ext cx="5486400" cy="5486400"/>
          </a:xfrm>
          <a:prstGeom prst="ellipse">
            <a:avLst/>
          </a:prstGeom>
          <a:solidFill>
            <a:srgbClr val="13514A"/>
          </a:solidFill>
          <a:ln/>
        </p:spPr>
      </p:sp>
      <p:sp>
        <p:nvSpPr>
          <p:cNvPr id="3" name="Text 1"/>
          <p:cNvSpPr/>
          <p:nvPr/>
        </p:nvSpPr>
        <p:spPr>
          <a:xfrm>
            <a:off x="566928" y="457200"/>
            <a:ext cx="10058400" cy="320040"/>
          </a:xfrm>
          <a:prstGeom prst="rect">
            <a:avLst/>
          </a:prstGeom>
          <a:noFill/>
          <a:ln/>
        </p:spPr>
        <p:txBody>
          <a:bodyPr wrap="square" rtlCol="0" anchor="ctr"/>
          <a:lstStyle/>
          <a:p>
            <a:pPr indent="0" marL="0">
              <a:buNone/>
            </a:pPr>
            <a:r>
              <a:rPr lang="en-US" sz="1200" b="1" spc="200" kern="0" dirty="0">
                <a:solidFill>
                  <a:srgbClr val="4FB8A5"/>
                </a:solidFill>
                <a:latin typeface="Calibri" pitchFamily="34" charset="0"/>
                <a:ea typeface="Calibri" pitchFamily="34" charset="-122"/>
                <a:cs typeface="Calibri" pitchFamily="34" charset="-120"/>
              </a:rPr>
              <a:t>PUBLICATION</a:t>
            </a:r>
            <a:endParaRPr lang="en-US" sz="1200" dirty="0"/>
          </a:p>
        </p:txBody>
      </p:sp>
      <p:sp>
        <p:nvSpPr>
          <p:cNvPr id="4" name="Text 2"/>
          <p:cNvSpPr/>
          <p:nvPr/>
        </p:nvSpPr>
        <p:spPr>
          <a:xfrm>
            <a:off x="566928" y="749808"/>
            <a:ext cx="10972800" cy="64008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論文化 — この研究の売り</a:t>
            </a:r>
            <a:endParaRPr lang="en-US" sz="2700" dirty="0"/>
          </a:p>
        </p:txBody>
      </p:sp>
      <p:sp>
        <p:nvSpPr>
          <p:cNvPr id="5" name="Text 3"/>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19</a:t>
            </a:r>
            <a:endParaRPr lang="en-US" sz="900" dirty="0"/>
          </a:p>
        </p:txBody>
      </p:sp>
      <p:sp>
        <p:nvSpPr>
          <p:cNvPr id="6" name="Text 4"/>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7" name="Shape 5"/>
          <p:cNvSpPr/>
          <p:nvPr/>
        </p:nvSpPr>
        <p:spPr>
          <a:xfrm>
            <a:off x="566928" y="1554480"/>
            <a:ext cx="11064240" cy="1097280"/>
          </a:xfrm>
          <a:prstGeom prst="roundRect">
            <a:avLst>
              <a:gd name="adj" fmla="val 7500"/>
            </a:avLst>
          </a:prstGeom>
          <a:solidFill>
            <a:srgbClr val="15544C"/>
          </a:solidFill>
          <a:ln/>
        </p:spPr>
      </p:sp>
      <p:sp>
        <p:nvSpPr>
          <p:cNvPr id="8" name="Text 6"/>
          <p:cNvSpPr/>
          <p:nvPr/>
        </p:nvSpPr>
        <p:spPr>
          <a:xfrm>
            <a:off x="795528" y="1645920"/>
            <a:ext cx="2743200" cy="274320"/>
          </a:xfrm>
          <a:prstGeom prst="rect">
            <a:avLst/>
          </a:prstGeom>
          <a:noFill/>
          <a:ln/>
        </p:spPr>
        <p:txBody>
          <a:bodyPr wrap="square" rtlCol="0" anchor="ctr"/>
          <a:lstStyle/>
          <a:p>
            <a:pPr indent="0" marL="0">
              <a:buNone/>
            </a:pPr>
            <a:r>
              <a:rPr lang="en-US" sz="1200" b="1" dirty="0">
                <a:solidFill>
                  <a:srgbClr val="4FB8A5"/>
                </a:solidFill>
                <a:latin typeface="Calibri" pitchFamily="34" charset="0"/>
                <a:ea typeface="Calibri" pitchFamily="34" charset="-122"/>
                <a:cs typeface="Calibri" pitchFamily="34" charset="-120"/>
              </a:rPr>
              <a:t>主張（1文）</a:t>
            </a:r>
            <a:endParaRPr lang="en-US" sz="1200" dirty="0"/>
          </a:p>
        </p:txBody>
      </p:sp>
      <p:sp>
        <p:nvSpPr>
          <p:cNvPr id="9" name="Text 7"/>
          <p:cNvSpPr/>
          <p:nvPr/>
        </p:nvSpPr>
        <p:spPr>
          <a:xfrm>
            <a:off x="795528" y="1920240"/>
            <a:ext cx="10607040" cy="640080"/>
          </a:xfrm>
          <a:prstGeom prst="rect">
            <a:avLst/>
          </a:prstGeom>
          <a:noFill/>
          <a:ln/>
        </p:spPr>
        <p:txBody>
          <a:bodyPr wrap="square" rtlCol="0" anchor="t"/>
          <a:lstStyle/>
          <a:p>
            <a:pPr indent="0" marL="0">
              <a:buNone/>
            </a:pPr>
            <a:r>
              <a:rPr lang="en-US" sz="1400" dirty="0">
                <a:solidFill>
                  <a:srgbClr val="FFFFFF"/>
                </a:solidFill>
                <a:latin typeface="Calibri" pitchFamily="34" charset="0"/>
                <a:ea typeface="Calibri" pitchFamily="34" charset="-122"/>
                <a:cs typeface="Calibri" pitchFamily="34" charset="-120"/>
              </a:rPr>
              <a:t>損失のあるBLEリンクと3mA級MCUという制約下で、呼気水素測定の「測定品質保証」をセンサノード上で完結させるエッジパイプライン（BAP）を、ホスト検証可能な全整数実装として設計・実装した。</a:t>
            </a:r>
            <a:endParaRPr lang="en-US" sz="1400" dirty="0"/>
          </a:p>
        </p:txBody>
      </p:sp>
      <p:sp>
        <p:nvSpPr>
          <p:cNvPr id="10" name="Text 8"/>
          <p:cNvSpPr/>
          <p:nvPr/>
        </p:nvSpPr>
        <p:spPr>
          <a:xfrm>
            <a:off x="566928" y="2788920"/>
            <a:ext cx="5486400" cy="274320"/>
          </a:xfrm>
          <a:prstGeom prst="rect">
            <a:avLst/>
          </a:prstGeom>
          <a:noFill/>
          <a:ln/>
        </p:spPr>
        <p:txBody>
          <a:bodyPr wrap="square" rtlCol="0" anchor="ctr"/>
          <a:lstStyle/>
          <a:p>
            <a:pPr indent="0" marL="0">
              <a:buNone/>
            </a:pPr>
            <a:r>
              <a:rPr lang="en-US" sz="1300" b="1" dirty="0">
                <a:solidFill>
                  <a:srgbClr val="4FB8A5"/>
                </a:solidFill>
                <a:latin typeface="Calibri" pitchFamily="34" charset="0"/>
                <a:ea typeface="Calibri" pitchFamily="34" charset="-122"/>
                <a:cs typeface="Calibri" pitchFamily="34" charset="-120"/>
              </a:rPr>
              <a:t>売り（優先順）</a:t>
            </a:r>
            <a:endParaRPr lang="en-US" sz="1300" dirty="0"/>
          </a:p>
        </p:txBody>
      </p:sp>
      <p:sp>
        <p:nvSpPr>
          <p:cNvPr id="11" name="Text 9"/>
          <p:cNvSpPr/>
          <p:nvPr/>
        </p:nvSpPr>
        <p:spPr>
          <a:xfrm>
            <a:off x="658368" y="3108960"/>
            <a:ext cx="603504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① 品質Q×信頼度Cの二軸自己評価をエッジで完結</a:t>
            </a:r>
            <a:endParaRPr lang="en-US" sz="1300" dirty="0"/>
          </a:p>
        </p:txBody>
      </p:sp>
      <p:sp>
        <p:nvSpPr>
          <p:cNvPr id="12" name="Text 10"/>
          <p:cNvSpPr/>
          <p:nvPr/>
        </p:nvSpPr>
        <p:spPr>
          <a:xfrm>
            <a:off x="658368" y="3566160"/>
            <a:ext cx="603504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② RH/温度チャネルの呼気証拠転用（追加HWなしの多モーダル検証）</a:t>
            </a:r>
            <a:endParaRPr lang="en-US" sz="1300" dirty="0"/>
          </a:p>
        </p:txBody>
      </p:sp>
      <p:sp>
        <p:nvSpPr>
          <p:cNvPr id="13" name="Text 11"/>
          <p:cNvSpPr/>
          <p:nvPr/>
        </p:nvSpPr>
        <p:spPr>
          <a:xfrm>
            <a:off x="658368" y="4023360"/>
            <a:ext cx="603504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③ 損失許容度で分けた選択的ARQ ＋ 切断中も完結する設計</a:t>
            </a:r>
            <a:endParaRPr lang="en-US" sz="1300" dirty="0"/>
          </a:p>
        </p:txBody>
      </p:sp>
      <p:sp>
        <p:nvSpPr>
          <p:cNvPr id="14" name="Text 12"/>
          <p:cNvSpPr/>
          <p:nvPr/>
        </p:nvSpPr>
        <p:spPr>
          <a:xfrm>
            <a:off x="658368" y="4480560"/>
            <a:ext cx="603504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④ 全整数・ホスト再現可能（354アサーション）＝再現性エンジニアリング</a:t>
            </a:r>
            <a:endParaRPr lang="en-US" sz="1300" dirty="0"/>
          </a:p>
        </p:txBody>
      </p:sp>
      <p:sp>
        <p:nvSpPr>
          <p:cNvPr id="15" name="Shape 13"/>
          <p:cNvSpPr/>
          <p:nvPr/>
        </p:nvSpPr>
        <p:spPr>
          <a:xfrm>
            <a:off x="6492240" y="2788920"/>
            <a:ext cx="5120640" cy="3200400"/>
          </a:xfrm>
          <a:prstGeom prst="roundRect">
            <a:avLst>
              <a:gd name="adj" fmla="val 2571"/>
            </a:avLst>
          </a:prstGeom>
          <a:solidFill>
            <a:srgbClr val="15544C"/>
          </a:solidFill>
          <a:ln/>
        </p:spPr>
      </p:sp>
      <p:sp>
        <p:nvSpPr>
          <p:cNvPr id="16" name="Text 14"/>
          <p:cNvSpPr/>
          <p:nvPr/>
        </p:nvSpPr>
        <p:spPr>
          <a:xfrm>
            <a:off x="6720840" y="2898648"/>
            <a:ext cx="4572000" cy="274320"/>
          </a:xfrm>
          <a:prstGeom prst="rect">
            <a:avLst/>
          </a:prstGeom>
          <a:noFill/>
          <a:ln/>
        </p:spPr>
        <p:txBody>
          <a:bodyPr wrap="square" rtlCol="0" anchor="ctr"/>
          <a:lstStyle/>
          <a:p>
            <a:pPr indent="0" marL="0">
              <a:buNone/>
            </a:pPr>
            <a:r>
              <a:rPr lang="en-US" sz="1300" b="1" dirty="0">
                <a:solidFill>
                  <a:srgbClr val="4FB8A5"/>
                </a:solidFill>
                <a:latin typeface="Calibri" pitchFamily="34" charset="0"/>
                <a:ea typeface="Calibri" pitchFamily="34" charset="-122"/>
                <a:cs typeface="Calibri" pitchFamily="34" charset="-120"/>
              </a:rPr>
              <a:t>提案する図表</a:t>
            </a:r>
            <a:endParaRPr lang="en-US" sz="1300" dirty="0"/>
          </a:p>
        </p:txBody>
      </p:sp>
      <p:sp>
        <p:nvSpPr>
          <p:cNvPr id="17" name="Text 15"/>
          <p:cNvSpPr/>
          <p:nvPr/>
        </p:nvSpPr>
        <p:spPr>
          <a:xfrm>
            <a:off x="6720840" y="3200400"/>
            <a:ext cx="4709160" cy="2743200"/>
          </a:xfrm>
          <a:prstGeom prst="rect">
            <a:avLst/>
          </a:prstGeom>
          <a:noFill/>
          <a:ln/>
        </p:spPr>
        <p:txBody>
          <a:bodyPr wrap="square" rtlCol="0" anchor="t"/>
          <a:lstStyle/>
          <a:p>
            <a:pPr marL="177800" indent="-1778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図1 システム構成図 / 図2 BAPパイプライン図</a:t>
            </a:r>
            <a:endParaRPr lang="en-US" sz="1150" dirty="0"/>
          </a:p>
          <a:p>
            <a:pPr marL="177800" indent="-1778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図3 状態遷移図（正常=実線・異常=破線）</a:t>
            </a:r>
            <a:endParaRPr lang="en-US" sz="1150" dirty="0"/>
          </a:p>
          <a:p>
            <a:pPr marL="177800" indent="-1778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図4 呼気イベントの解剖図（論文の顔）</a:t>
            </a:r>
            <a:endParaRPr lang="en-US" sz="1150" dirty="0"/>
          </a:p>
          <a:p>
            <a:pPr marL="177800" indent="-1778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図5 選択的ARQシーケンス図 / 図6 ROC曲線</a:t>
            </a:r>
            <a:endParaRPr lang="en-US" sz="1150" dirty="0"/>
          </a:p>
          <a:p>
            <a:pPr marL="177800" indent="-1778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表1 CFG一覧 / 表2·3 Q·C減点表</a:t>
            </a:r>
            <a:endParaRPr lang="en-US" sz="1150" dirty="0"/>
          </a:p>
          <a:p>
            <a:pPr marL="177800" indent="-1778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表4 資源使用量 / 表5 比較実験結果</a:t>
            </a:r>
            <a:endParaRPr lang="en-US" sz="1150" dirty="0"/>
          </a:p>
          <a:p>
            <a:pPr marL="177800" indent="-1778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Alg.1 Hampel+持続性判定の擬似コード</a:t>
            </a:r>
            <a:endParaRPr lang="en-US" sz="1150" dirty="0"/>
          </a:p>
        </p:txBody>
      </p:sp>
      <p:sp>
        <p:nvSpPr>
          <p:cNvPr id="18" name="Text 16"/>
          <p:cNvSpPr/>
          <p:nvPr/>
        </p:nvSpPr>
        <p:spPr>
          <a:xfrm>
            <a:off x="566928" y="6172200"/>
            <a:ext cx="10972800" cy="320040"/>
          </a:xfrm>
          <a:prstGeom prst="rect">
            <a:avLst/>
          </a:prstGeom>
          <a:noFill/>
          <a:ln/>
        </p:spPr>
        <p:txBody>
          <a:bodyPr wrap="square" rtlCol="0" anchor="ctr"/>
          <a:lstStyle/>
          <a:p>
            <a:pPr indent="0" marL="0">
              <a:buNone/>
            </a:pPr>
            <a:r>
              <a:rPr lang="en-US" sz="1200" i="1" dirty="0">
                <a:solidFill>
                  <a:srgbClr val="CFE7E1"/>
                </a:solidFill>
                <a:latin typeface="Calibri" pitchFamily="34" charset="0"/>
                <a:ea typeface="Calibri" pitchFamily="34" charset="-122"/>
                <a:cs typeface="Calibri" pitchFamily="34" charset="-120"/>
              </a:rPr>
              <a:t>投稿先目安：電気学会 / 計測自動制御学会 学生セッション、IEEE Sensors系ワークショップ</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ANTICIPATED QUESTIONS</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想定質問と模範回答  1–4 / 20</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20</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572768"/>
            <a:ext cx="11064240" cy="1097280"/>
          </a:xfrm>
          <a:prstGeom prst="roundRect">
            <a:avLst>
              <a:gd name="adj" fmla="val 7500"/>
            </a:avLst>
          </a:prstGeom>
          <a:solidFill>
            <a:srgbClr val="FFFFFF"/>
          </a:solidFill>
          <a:ln w="12700">
            <a:solidFill>
              <a:srgbClr val="DADFDC"/>
            </a:solidFill>
            <a:prstDash val="solid"/>
          </a:ln>
        </p:spPr>
      </p:sp>
      <p:sp>
        <p:nvSpPr>
          <p:cNvPr id="7" name="Text 5"/>
          <p:cNvSpPr/>
          <p:nvPr/>
        </p:nvSpPr>
        <p:spPr>
          <a:xfrm>
            <a:off x="731520" y="1700784"/>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8" name="Shape 6"/>
          <p:cNvSpPr/>
          <p:nvPr/>
        </p:nvSpPr>
        <p:spPr>
          <a:xfrm>
            <a:off x="731520" y="1700784"/>
            <a:ext cx="411480" cy="411480"/>
          </a:xfrm>
          <a:prstGeom prst="ellipse">
            <a:avLst/>
          </a:prstGeom>
          <a:solidFill>
            <a:srgbClr val="12766B"/>
          </a:solidFill>
          <a:ln/>
        </p:spPr>
      </p:sp>
      <p:sp>
        <p:nvSpPr>
          <p:cNvPr id="9" name="Text 7"/>
          <p:cNvSpPr/>
          <p:nvPr/>
        </p:nvSpPr>
        <p:spPr>
          <a:xfrm>
            <a:off x="731520" y="1700784"/>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10" name="Text 8"/>
          <p:cNvSpPr/>
          <p:nvPr/>
        </p:nvSpPr>
        <p:spPr>
          <a:xfrm>
            <a:off x="1280160" y="1664208"/>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Q1. 移動平均ではダメなの?</a:t>
            </a:r>
            <a:endParaRPr lang="en-US" sz="1350" dirty="0"/>
          </a:p>
        </p:txBody>
      </p:sp>
      <p:sp>
        <p:nvSpPr>
          <p:cNvPr id="11" name="Text 9"/>
          <p:cNvSpPr/>
          <p:nvPr/>
        </p:nvSpPr>
        <p:spPr>
          <a:xfrm>
            <a:off x="1280160" y="1975104"/>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固定窓移動平均はスパイクを窓幅ぶん"なまして混ぜ"、呼気立上りも同じだけ鈍らせる。目的は「スパイクは除去・立上りは残す」非対称処理なので、判定つき置換(Hampel)＋追従切替(適応EMA)に分けた。同一入力で移動平均はonset検出が2-3サンプル遅れる。</a:t>
            </a:r>
            <a:endParaRPr lang="en-US" sz="1150" dirty="0"/>
          </a:p>
        </p:txBody>
      </p:sp>
      <p:sp>
        <p:nvSpPr>
          <p:cNvPr id="12" name="Shape 10"/>
          <p:cNvSpPr/>
          <p:nvPr/>
        </p:nvSpPr>
        <p:spPr>
          <a:xfrm>
            <a:off x="566928" y="2743200"/>
            <a:ext cx="11064240" cy="1097280"/>
          </a:xfrm>
          <a:prstGeom prst="roundRect">
            <a:avLst>
              <a:gd name="adj" fmla="val 7500"/>
            </a:avLst>
          </a:prstGeom>
          <a:solidFill>
            <a:srgbClr val="FFFFFF"/>
          </a:solidFill>
          <a:ln w="12700">
            <a:solidFill>
              <a:srgbClr val="DADFDC"/>
            </a:solidFill>
            <a:prstDash val="solid"/>
          </a:ln>
        </p:spPr>
      </p:sp>
      <p:sp>
        <p:nvSpPr>
          <p:cNvPr id="13" name="Text 11"/>
          <p:cNvSpPr/>
          <p:nvPr/>
        </p:nvSpPr>
        <p:spPr>
          <a:xfrm>
            <a:off x="731520" y="2871216"/>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14" name="Shape 12"/>
          <p:cNvSpPr/>
          <p:nvPr/>
        </p:nvSpPr>
        <p:spPr>
          <a:xfrm>
            <a:off x="731520" y="2871216"/>
            <a:ext cx="411480" cy="411480"/>
          </a:xfrm>
          <a:prstGeom prst="ellipse">
            <a:avLst/>
          </a:prstGeom>
          <a:solidFill>
            <a:srgbClr val="12766B"/>
          </a:solidFill>
          <a:ln/>
        </p:spPr>
      </p:sp>
      <p:sp>
        <p:nvSpPr>
          <p:cNvPr id="15" name="Text 13"/>
          <p:cNvSpPr/>
          <p:nvPr/>
        </p:nvSpPr>
        <p:spPr>
          <a:xfrm>
            <a:off x="731520" y="2871216"/>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16" name="Text 14"/>
          <p:cNvSpPr/>
          <p:nvPr/>
        </p:nvSpPr>
        <p:spPr>
          <a:xfrm>
            <a:off x="1280160" y="2834640"/>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Q2. カルマンじゃない理由は?</a:t>
            </a:r>
            <a:endParaRPr lang="en-US" sz="1350" dirty="0"/>
          </a:p>
        </p:txBody>
      </p:sp>
      <p:sp>
        <p:nvSpPr>
          <p:cNvPr id="17" name="Text 15"/>
          <p:cNvSpPr/>
          <p:nvPr/>
        </p:nvSpPr>
        <p:spPr>
          <a:xfrm>
            <a:off x="1280160" y="3145536"/>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カルマンは(i)プロセスモデルと(ii)ノイズ共分散の同定を要求する。呼気の実データ未取得の段階では両方が恣意的になり、見えない調整パラメータが増えるだけ。1Hz・単調立上りでは適応EMAが時変ゲインの1次元カルマンと同型で、説明可能性と検証容易性で優る。実データ取得後にα-βと定量比較する。</a:t>
            </a:r>
            <a:endParaRPr lang="en-US" sz="1150" dirty="0"/>
          </a:p>
        </p:txBody>
      </p:sp>
      <p:sp>
        <p:nvSpPr>
          <p:cNvPr id="18" name="Shape 16"/>
          <p:cNvSpPr/>
          <p:nvPr/>
        </p:nvSpPr>
        <p:spPr>
          <a:xfrm>
            <a:off x="566928" y="3913632"/>
            <a:ext cx="11064240" cy="1097280"/>
          </a:xfrm>
          <a:prstGeom prst="roundRect">
            <a:avLst>
              <a:gd name="adj" fmla="val 7500"/>
            </a:avLst>
          </a:prstGeom>
          <a:solidFill>
            <a:srgbClr val="FFFFFF"/>
          </a:solidFill>
          <a:ln w="12700">
            <a:solidFill>
              <a:srgbClr val="DADFDC"/>
            </a:solidFill>
            <a:prstDash val="solid"/>
          </a:ln>
        </p:spPr>
      </p:sp>
      <p:sp>
        <p:nvSpPr>
          <p:cNvPr id="19" name="Text 17"/>
          <p:cNvSpPr/>
          <p:nvPr/>
        </p:nvSpPr>
        <p:spPr>
          <a:xfrm>
            <a:off x="731520" y="4041648"/>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20" name="Shape 18"/>
          <p:cNvSpPr/>
          <p:nvPr/>
        </p:nvSpPr>
        <p:spPr>
          <a:xfrm>
            <a:off x="731520" y="4041648"/>
            <a:ext cx="411480" cy="411480"/>
          </a:xfrm>
          <a:prstGeom prst="ellipse">
            <a:avLst/>
          </a:prstGeom>
          <a:solidFill>
            <a:srgbClr val="12766B"/>
          </a:solidFill>
          <a:ln/>
        </p:spPr>
      </p:sp>
      <p:sp>
        <p:nvSpPr>
          <p:cNvPr id="21" name="Text 19"/>
          <p:cNvSpPr/>
          <p:nvPr/>
        </p:nvSpPr>
        <p:spPr>
          <a:xfrm>
            <a:off x="731520" y="4041648"/>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22" name="Text 20"/>
          <p:cNvSpPr/>
          <p:nvPr/>
        </p:nvSpPr>
        <p:spPr>
          <a:xfrm>
            <a:off x="1280160" y="4005072"/>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Q3. なぜSTM32で処理? PCでやればいいのでは?</a:t>
            </a:r>
            <a:endParaRPr lang="en-US" sz="1350" dirty="0"/>
          </a:p>
        </p:txBody>
      </p:sp>
      <p:sp>
        <p:nvSpPr>
          <p:cNvPr id="23" name="Text 21"/>
          <p:cNvSpPr/>
          <p:nvPr/>
        </p:nvSpPr>
        <p:spPr>
          <a:xfrm>
            <a:off x="1280160" y="4315968"/>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i)BLE切断時もセッションが完結する（アプリ側処理では原理的に不可能）。(ii)イベント化で送信量が減り、無線が支配する電力を削る。(iii)機器単体で品質保証まで完結し、アプリ実装に依存せず研究機材として再利用できる。</a:t>
            </a:r>
            <a:endParaRPr lang="en-US" sz="1150" dirty="0"/>
          </a:p>
        </p:txBody>
      </p:sp>
      <p:sp>
        <p:nvSpPr>
          <p:cNvPr id="24" name="Shape 22"/>
          <p:cNvSpPr/>
          <p:nvPr/>
        </p:nvSpPr>
        <p:spPr>
          <a:xfrm>
            <a:off x="566928" y="5084064"/>
            <a:ext cx="11064240" cy="1097280"/>
          </a:xfrm>
          <a:prstGeom prst="roundRect">
            <a:avLst>
              <a:gd name="adj" fmla="val 7500"/>
            </a:avLst>
          </a:prstGeom>
          <a:solidFill>
            <a:srgbClr val="FFFFFF"/>
          </a:solidFill>
          <a:ln w="12700">
            <a:solidFill>
              <a:srgbClr val="DADFDC"/>
            </a:solidFill>
            <a:prstDash val="solid"/>
          </a:ln>
        </p:spPr>
      </p:sp>
      <p:sp>
        <p:nvSpPr>
          <p:cNvPr id="25" name="Text 23"/>
          <p:cNvSpPr/>
          <p:nvPr/>
        </p:nvSpPr>
        <p:spPr>
          <a:xfrm>
            <a:off x="731520" y="5212080"/>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26" name="Shape 24"/>
          <p:cNvSpPr/>
          <p:nvPr/>
        </p:nvSpPr>
        <p:spPr>
          <a:xfrm>
            <a:off x="731520" y="5212080"/>
            <a:ext cx="411480" cy="411480"/>
          </a:xfrm>
          <a:prstGeom prst="ellipse">
            <a:avLst/>
          </a:prstGeom>
          <a:solidFill>
            <a:srgbClr val="12766B"/>
          </a:solidFill>
          <a:ln/>
        </p:spPr>
      </p:sp>
      <p:sp>
        <p:nvSpPr>
          <p:cNvPr id="27" name="Text 25"/>
          <p:cNvSpPr/>
          <p:nvPr/>
        </p:nvSpPr>
        <p:spPr>
          <a:xfrm>
            <a:off x="731520" y="5212080"/>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28" name="Text 26"/>
          <p:cNvSpPr/>
          <p:nvPr/>
        </p:nvSpPr>
        <p:spPr>
          <a:xfrm>
            <a:off x="1280160" y="5175504"/>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Q4. その処理はSTM32に載る規模なの?</a:t>
            </a:r>
            <a:endParaRPr lang="en-US" sz="1350" dirty="0"/>
          </a:p>
        </p:txBody>
      </p:sp>
      <p:sp>
        <p:nvSpPr>
          <p:cNvPr id="29" name="Text 27"/>
          <p:cNvSpPr/>
          <p:nvPr/>
        </p:nvSpPr>
        <p:spPr>
          <a:xfrm>
            <a:off x="1280160" y="5486400"/>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全整数・乗除最小。RAM約780B(0.5%)、Flash約3.3KB(0.7%)、CPU占有&lt;0.001%。数字はホスト実測とESTIMATED区分つきでdocsに記載。</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ANTICIPATED QUESTIONS</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想定質問と模範回答  5–8 / 20</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21</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572768"/>
            <a:ext cx="11064240" cy="1097280"/>
          </a:xfrm>
          <a:prstGeom prst="roundRect">
            <a:avLst>
              <a:gd name="adj" fmla="val 7500"/>
            </a:avLst>
          </a:prstGeom>
          <a:solidFill>
            <a:srgbClr val="FFFFFF"/>
          </a:solidFill>
          <a:ln w="12700">
            <a:solidFill>
              <a:srgbClr val="DADFDC"/>
            </a:solidFill>
            <a:prstDash val="solid"/>
          </a:ln>
        </p:spPr>
      </p:sp>
      <p:sp>
        <p:nvSpPr>
          <p:cNvPr id="7" name="Text 5"/>
          <p:cNvSpPr/>
          <p:nvPr/>
        </p:nvSpPr>
        <p:spPr>
          <a:xfrm>
            <a:off x="731520" y="1700784"/>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8" name="Shape 6"/>
          <p:cNvSpPr/>
          <p:nvPr/>
        </p:nvSpPr>
        <p:spPr>
          <a:xfrm>
            <a:off x="731520" y="1700784"/>
            <a:ext cx="411480" cy="411480"/>
          </a:xfrm>
          <a:prstGeom prst="ellipse">
            <a:avLst/>
          </a:prstGeom>
          <a:solidFill>
            <a:srgbClr val="12766B"/>
          </a:solidFill>
          <a:ln/>
        </p:spPr>
      </p:sp>
      <p:sp>
        <p:nvSpPr>
          <p:cNvPr id="9" name="Text 7"/>
          <p:cNvSpPr/>
          <p:nvPr/>
        </p:nvSpPr>
        <p:spPr>
          <a:xfrm>
            <a:off x="731520" y="1700784"/>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10" name="Text 8"/>
          <p:cNvSpPr/>
          <p:nvPr/>
        </p:nvSpPr>
        <p:spPr>
          <a:xfrm>
            <a:off x="1280160" y="1664208"/>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Q5. なぜ1Hz? もっと速くサンプリングは?</a:t>
            </a:r>
            <a:endParaRPr lang="en-US" sz="1350" dirty="0"/>
          </a:p>
        </p:txBody>
      </p:sp>
      <p:sp>
        <p:nvSpPr>
          <p:cNvPr id="11" name="Text 9"/>
          <p:cNvSpPr/>
          <p:nvPr/>
        </p:nvSpPr>
        <p:spPr>
          <a:xfrm>
            <a:off x="1280160" y="1975104"/>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DGS2の連続モード仕様が約1Hz。センサ応答時定数(t90が十秒オーダー)に対し1Hzで十分ナイキストを満たす。</a:t>
            </a:r>
            <a:endParaRPr lang="en-US" sz="1150" dirty="0"/>
          </a:p>
        </p:txBody>
      </p:sp>
      <p:sp>
        <p:nvSpPr>
          <p:cNvPr id="12" name="Shape 10"/>
          <p:cNvSpPr/>
          <p:nvPr/>
        </p:nvSpPr>
        <p:spPr>
          <a:xfrm>
            <a:off x="566928" y="2743200"/>
            <a:ext cx="11064240" cy="1097280"/>
          </a:xfrm>
          <a:prstGeom prst="roundRect">
            <a:avLst>
              <a:gd name="adj" fmla="val 7500"/>
            </a:avLst>
          </a:prstGeom>
          <a:solidFill>
            <a:srgbClr val="FFFFFF"/>
          </a:solidFill>
          <a:ln w="12700">
            <a:solidFill>
              <a:srgbClr val="DADFDC"/>
            </a:solidFill>
            <a:prstDash val="solid"/>
          </a:ln>
        </p:spPr>
      </p:sp>
      <p:sp>
        <p:nvSpPr>
          <p:cNvPr id="13" name="Text 11"/>
          <p:cNvSpPr/>
          <p:nvPr/>
        </p:nvSpPr>
        <p:spPr>
          <a:xfrm>
            <a:off x="731520" y="2871216"/>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14" name="Shape 12"/>
          <p:cNvSpPr/>
          <p:nvPr/>
        </p:nvSpPr>
        <p:spPr>
          <a:xfrm>
            <a:off x="731520" y="2871216"/>
            <a:ext cx="411480" cy="411480"/>
          </a:xfrm>
          <a:prstGeom prst="ellipse">
            <a:avLst/>
          </a:prstGeom>
          <a:solidFill>
            <a:srgbClr val="12766B"/>
          </a:solidFill>
          <a:ln/>
        </p:spPr>
      </p:sp>
      <p:sp>
        <p:nvSpPr>
          <p:cNvPr id="15" name="Text 13"/>
          <p:cNvSpPr/>
          <p:nvPr/>
        </p:nvSpPr>
        <p:spPr>
          <a:xfrm>
            <a:off x="731520" y="2871216"/>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16" name="Text 14"/>
          <p:cNvSpPr/>
          <p:nvPr/>
        </p:nvSpPr>
        <p:spPr>
          <a:xfrm>
            <a:off x="1280160" y="2834640"/>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Q6. ベースラインはゼロ校正Zでいいのでは?</a:t>
            </a:r>
            <a:endParaRPr lang="en-US" sz="1350" dirty="0"/>
          </a:p>
        </p:txBody>
      </p:sp>
      <p:sp>
        <p:nvSpPr>
          <p:cNvPr id="17" name="Text 15"/>
          <p:cNvSpPr/>
          <p:nvPr/>
        </p:nvSpPr>
        <p:spPr>
          <a:xfrm>
            <a:off x="1280160" y="3145536"/>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'Z'は工場校正の上書きでクリーンエア保証が必要。飼い主宅では保証できず失敗すると恒久誤差になる。非破壊のセッション内学習(quiet-gate EMA)を選び、'Z'は保守コマンドに限定した。</a:t>
            </a:r>
            <a:endParaRPr lang="en-US" sz="1150" dirty="0"/>
          </a:p>
        </p:txBody>
      </p:sp>
      <p:sp>
        <p:nvSpPr>
          <p:cNvPr id="18" name="Shape 16"/>
          <p:cNvSpPr/>
          <p:nvPr/>
        </p:nvSpPr>
        <p:spPr>
          <a:xfrm>
            <a:off x="566928" y="3913632"/>
            <a:ext cx="11064240" cy="1097280"/>
          </a:xfrm>
          <a:prstGeom prst="roundRect">
            <a:avLst>
              <a:gd name="adj" fmla="val 7500"/>
            </a:avLst>
          </a:prstGeom>
          <a:solidFill>
            <a:srgbClr val="FFFFFF"/>
          </a:solidFill>
          <a:ln w="12700">
            <a:solidFill>
              <a:srgbClr val="DADFDC"/>
            </a:solidFill>
            <a:prstDash val="solid"/>
          </a:ln>
        </p:spPr>
      </p:sp>
      <p:sp>
        <p:nvSpPr>
          <p:cNvPr id="19" name="Text 17"/>
          <p:cNvSpPr/>
          <p:nvPr/>
        </p:nvSpPr>
        <p:spPr>
          <a:xfrm>
            <a:off x="731520" y="4041648"/>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20" name="Shape 18"/>
          <p:cNvSpPr/>
          <p:nvPr/>
        </p:nvSpPr>
        <p:spPr>
          <a:xfrm>
            <a:off x="731520" y="4041648"/>
            <a:ext cx="411480" cy="411480"/>
          </a:xfrm>
          <a:prstGeom prst="ellipse">
            <a:avLst/>
          </a:prstGeom>
          <a:solidFill>
            <a:srgbClr val="12766B"/>
          </a:solidFill>
          <a:ln/>
        </p:spPr>
      </p:sp>
      <p:sp>
        <p:nvSpPr>
          <p:cNvPr id="21" name="Text 19"/>
          <p:cNvSpPr/>
          <p:nvPr/>
        </p:nvSpPr>
        <p:spPr>
          <a:xfrm>
            <a:off x="731520" y="4041648"/>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22" name="Text 20"/>
          <p:cNvSpPr/>
          <p:nvPr/>
        </p:nvSpPr>
        <p:spPr>
          <a:xfrm>
            <a:off x="1280160" y="4005072"/>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Q7. RHが上がらない呼気はないの?</a:t>
            </a:r>
            <a:endParaRPr lang="en-US" sz="1350" dirty="0"/>
          </a:p>
        </p:txBody>
      </p:sp>
      <p:sp>
        <p:nvSpPr>
          <p:cNvPr id="23" name="Text 21"/>
          <p:cNvSpPr/>
          <p:nvPr/>
        </p:nvSpPr>
        <p:spPr>
          <a:xfrm>
            <a:off x="1280160" y="4315968"/>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マスクが正しく当たっていない場合にRHが上がらない — まさにそれを検出したい。ΔRH閾値は実犬較正項目。RHは上がるがH2経路だけ詰まる故障は固着検出(C軸)が拾う。二軸の役割分担で単一チャネル依存を避ける。</a:t>
            </a:r>
            <a:endParaRPr lang="en-US" sz="1150" dirty="0"/>
          </a:p>
        </p:txBody>
      </p:sp>
      <p:sp>
        <p:nvSpPr>
          <p:cNvPr id="24" name="Shape 22"/>
          <p:cNvSpPr/>
          <p:nvPr/>
        </p:nvSpPr>
        <p:spPr>
          <a:xfrm>
            <a:off x="566928" y="5084064"/>
            <a:ext cx="11064240" cy="1097280"/>
          </a:xfrm>
          <a:prstGeom prst="roundRect">
            <a:avLst>
              <a:gd name="adj" fmla="val 7500"/>
            </a:avLst>
          </a:prstGeom>
          <a:solidFill>
            <a:srgbClr val="FFFFFF"/>
          </a:solidFill>
          <a:ln w="12700">
            <a:solidFill>
              <a:srgbClr val="DADFDC"/>
            </a:solidFill>
            <a:prstDash val="solid"/>
          </a:ln>
        </p:spPr>
      </p:sp>
      <p:sp>
        <p:nvSpPr>
          <p:cNvPr id="25" name="Text 23"/>
          <p:cNvSpPr/>
          <p:nvPr/>
        </p:nvSpPr>
        <p:spPr>
          <a:xfrm>
            <a:off x="731520" y="5212080"/>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26" name="Shape 24"/>
          <p:cNvSpPr/>
          <p:nvPr/>
        </p:nvSpPr>
        <p:spPr>
          <a:xfrm>
            <a:off x="731520" y="5212080"/>
            <a:ext cx="411480" cy="411480"/>
          </a:xfrm>
          <a:prstGeom prst="ellipse">
            <a:avLst/>
          </a:prstGeom>
          <a:solidFill>
            <a:srgbClr val="12766B"/>
          </a:solidFill>
          <a:ln/>
        </p:spPr>
      </p:sp>
      <p:sp>
        <p:nvSpPr>
          <p:cNvPr id="27" name="Text 25"/>
          <p:cNvSpPr/>
          <p:nvPr/>
        </p:nvSpPr>
        <p:spPr>
          <a:xfrm>
            <a:off x="731520" y="5212080"/>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28" name="Text 26"/>
          <p:cNvSpPr/>
          <p:nvPr/>
        </p:nvSpPr>
        <p:spPr>
          <a:xfrm>
            <a:off x="1280160" y="5175504"/>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Q8. 品質スコアの重みはどう決めた?</a:t>
            </a:r>
            <a:endParaRPr lang="en-US" sz="1350" dirty="0"/>
          </a:p>
        </p:txBody>
      </p:sp>
      <p:sp>
        <p:nvSpPr>
          <p:cNvPr id="29" name="Text 27"/>
          <p:cNvSpPr/>
          <p:nvPr/>
        </p:nvSpPr>
        <p:spPr>
          <a:xfrm>
            <a:off x="1280160" y="5486400"/>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現段階は設計者の仮置き(PROVISIONAL)。決め方の手順を固定している：実犬N回でQ分布を取り、人手ラベルに対する判別性能で閾値60と重みを再推定する。恣意性を消すのではなく「較正対象」として管理するのが本設計の立場。</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ANTICIPATED QUESTIONS</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想定質問と模範回答  9–12 / 20</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22</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572768"/>
            <a:ext cx="11064240" cy="1097280"/>
          </a:xfrm>
          <a:prstGeom prst="roundRect">
            <a:avLst>
              <a:gd name="adj" fmla="val 7500"/>
            </a:avLst>
          </a:prstGeom>
          <a:solidFill>
            <a:srgbClr val="FFFFFF"/>
          </a:solidFill>
          <a:ln w="12700">
            <a:solidFill>
              <a:srgbClr val="DADFDC"/>
            </a:solidFill>
            <a:prstDash val="solid"/>
          </a:ln>
        </p:spPr>
      </p:sp>
      <p:sp>
        <p:nvSpPr>
          <p:cNvPr id="7" name="Text 5"/>
          <p:cNvSpPr/>
          <p:nvPr/>
        </p:nvSpPr>
        <p:spPr>
          <a:xfrm>
            <a:off x="731520" y="1700784"/>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8" name="Shape 6"/>
          <p:cNvSpPr/>
          <p:nvPr/>
        </p:nvSpPr>
        <p:spPr>
          <a:xfrm>
            <a:off x="731520" y="1700784"/>
            <a:ext cx="411480" cy="411480"/>
          </a:xfrm>
          <a:prstGeom prst="ellipse">
            <a:avLst/>
          </a:prstGeom>
          <a:solidFill>
            <a:srgbClr val="12766B"/>
          </a:solidFill>
          <a:ln/>
        </p:spPr>
      </p:sp>
      <p:sp>
        <p:nvSpPr>
          <p:cNvPr id="9" name="Text 7"/>
          <p:cNvSpPr/>
          <p:nvPr/>
        </p:nvSpPr>
        <p:spPr>
          <a:xfrm>
            <a:off x="731520" y="1700784"/>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10" name="Text 8"/>
          <p:cNvSpPr/>
          <p:nvPr/>
        </p:nvSpPr>
        <p:spPr>
          <a:xfrm>
            <a:off x="1280160" y="1664208"/>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Q9. 減点方式って学術的? 回帰でよくない?</a:t>
            </a:r>
            <a:endParaRPr lang="en-US" sz="1350" dirty="0"/>
          </a:p>
        </p:txBody>
      </p:sp>
      <p:sp>
        <p:nvSpPr>
          <p:cNvPr id="11" name="Text 9"/>
          <p:cNvSpPr/>
          <p:nvPr/>
        </p:nvSpPr>
        <p:spPr>
          <a:xfrm>
            <a:off x="1280160" y="1975104"/>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教師データゼロの段階で回帰は成立しない。減点方式は各項目が物理的解釈を持ち、後から学習に置換しても特徴量セットがそのまま使える。まず説明可能な基準で運用しデータを貯める、が正しい順序。</a:t>
            </a:r>
            <a:endParaRPr lang="en-US" sz="1150" dirty="0"/>
          </a:p>
        </p:txBody>
      </p:sp>
      <p:sp>
        <p:nvSpPr>
          <p:cNvPr id="12" name="Shape 10"/>
          <p:cNvSpPr/>
          <p:nvPr/>
        </p:nvSpPr>
        <p:spPr>
          <a:xfrm>
            <a:off x="566928" y="2743200"/>
            <a:ext cx="11064240" cy="1097280"/>
          </a:xfrm>
          <a:prstGeom prst="roundRect">
            <a:avLst>
              <a:gd name="adj" fmla="val 7500"/>
            </a:avLst>
          </a:prstGeom>
          <a:solidFill>
            <a:srgbClr val="FFFFFF"/>
          </a:solidFill>
          <a:ln w="12700">
            <a:solidFill>
              <a:srgbClr val="DADFDC"/>
            </a:solidFill>
            <a:prstDash val="solid"/>
          </a:ln>
        </p:spPr>
      </p:sp>
      <p:sp>
        <p:nvSpPr>
          <p:cNvPr id="13" name="Text 11"/>
          <p:cNvSpPr/>
          <p:nvPr/>
        </p:nvSpPr>
        <p:spPr>
          <a:xfrm>
            <a:off x="731520" y="2871216"/>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14" name="Shape 12"/>
          <p:cNvSpPr/>
          <p:nvPr/>
        </p:nvSpPr>
        <p:spPr>
          <a:xfrm>
            <a:off x="731520" y="2871216"/>
            <a:ext cx="411480" cy="411480"/>
          </a:xfrm>
          <a:prstGeom prst="ellipse">
            <a:avLst/>
          </a:prstGeom>
          <a:solidFill>
            <a:srgbClr val="12766B"/>
          </a:solidFill>
          <a:ln/>
        </p:spPr>
      </p:sp>
      <p:sp>
        <p:nvSpPr>
          <p:cNvPr id="15" name="Text 13"/>
          <p:cNvSpPr/>
          <p:nvPr/>
        </p:nvSpPr>
        <p:spPr>
          <a:xfrm>
            <a:off x="731520" y="2871216"/>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16" name="Text 14"/>
          <p:cNvSpPr/>
          <p:nvPr/>
        </p:nvSpPr>
        <p:spPr>
          <a:xfrm>
            <a:off x="1280160" y="2834640"/>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Q10. 呼気の「1回」って何? 犬は連続で呼吸するけど。</a:t>
            </a:r>
            <a:endParaRPr lang="en-US" sz="1350" dirty="0"/>
          </a:p>
        </p:txBody>
      </p:sp>
      <p:sp>
        <p:nvSpPr>
          <p:cNvPr id="17" name="Text 15"/>
          <p:cNvSpPr/>
          <p:nvPr/>
        </p:nvSpPr>
        <p:spPr>
          <a:xfrm>
            <a:off x="1280160" y="3145536"/>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本装置の検出単位は「マスク装着で呼気ガスが滞留しH2がベースラインから有意に上昇して回復するまでの区間」＝測定イベント。生理学的な1回換気ではない。卒論では「呼気曝露イベント」と定義する。</a:t>
            </a:r>
            <a:endParaRPr lang="en-US" sz="1150" dirty="0"/>
          </a:p>
        </p:txBody>
      </p:sp>
      <p:sp>
        <p:nvSpPr>
          <p:cNvPr id="18" name="Shape 16"/>
          <p:cNvSpPr/>
          <p:nvPr/>
        </p:nvSpPr>
        <p:spPr>
          <a:xfrm>
            <a:off x="566928" y="3913632"/>
            <a:ext cx="11064240" cy="1097280"/>
          </a:xfrm>
          <a:prstGeom prst="roundRect">
            <a:avLst>
              <a:gd name="adj" fmla="val 7500"/>
            </a:avLst>
          </a:prstGeom>
          <a:solidFill>
            <a:srgbClr val="FFFFFF"/>
          </a:solidFill>
          <a:ln w="12700">
            <a:solidFill>
              <a:srgbClr val="DADFDC"/>
            </a:solidFill>
            <a:prstDash val="solid"/>
          </a:ln>
        </p:spPr>
      </p:sp>
      <p:sp>
        <p:nvSpPr>
          <p:cNvPr id="19" name="Text 17"/>
          <p:cNvSpPr/>
          <p:nvPr/>
        </p:nvSpPr>
        <p:spPr>
          <a:xfrm>
            <a:off x="731520" y="4041648"/>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20" name="Shape 18"/>
          <p:cNvSpPr/>
          <p:nvPr/>
        </p:nvSpPr>
        <p:spPr>
          <a:xfrm>
            <a:off x="731520" y="4041648"/>
            <a:ext cx="411480" cy="411480"/>
          </a:xfrm>
          <a:prstGeom prst="ellipse">
            <a:avLst/>
          </a:prstGeom>
          <a:solidFill>
            <a:srgbClr val="12766B"/>
          </a:solidFill>
          <a:ln/>
        </p:spPr>
      </p:sp>
      <p:sp>
        <p:nvSpPr>
          <p:cNvPr id="21" name="Text 19"/>
          <p:cNvSpPr/>
          <p:nvPr/>
        </p:nvSpPr>
        <p:spPr>
          <a:xfrm>
            <a:off x="731520" y="4041648"/>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22" name="Text 20"/>
          <p:cNvSpPr/>
          <p:nvPr/>
        </p:nvSpPr>
        <p:spPr>
          <a:xfrm>
            <a:off x="1280160" y="4005072"/>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Q11. onset閾値500ppbの根拠は?</a:t>
            </a:r>
            <a:endParaRPr lang="en-US" sz="1350" dirty="0"/>
          </a:p>
        </p:txBody>
      </p:sp>
      <p:sp>
        <p:nvSpPr>
          <p:cNvPr id="23" name="Text 21"/>
          <p:cNvSpPr/>
          <p:nvPr/>
        </p:nvSpPr>
        <p:spPr>
          <a:xfrm>
            <a:off x="1280160" y="4315968"/>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仮値。ゼロ点ノイズ許容とHampel floorに対しS/N≥5になる値として置いた。実犬の呼気上昇量の分布で再設定する。</a:t>
            </a:r>
            <a:endParaRPr lang="en-US" sz="1150" dirty="0"/>
          </a:p>
        </p:txBody>
      </p:sp>
      <p:sp>
        <p:nvSpPr>
          <p:cNvPr id="24" name="Shape 22"/>
          <p:cNvSpPr/>
          <p:nvPr/>
        </p:nvSpPr>
        <p:spPr>
          <a:xfrm>
            <a:off x="566928" y="5084064"/>
            <a:ext cx="11064240" cy="1097280"/>
          </a:xfrm>
          <a:prstGeom prst="roundRect">
            <a:avLst>
              <a:gd name="adj" fmla="val 7500"/>
            </a:avLst>
          </a:prstGeom>
          <a:solidFill>
            <a:srgbClr val="FFFFFF"/>
          </a:solidFill>
          <a:ln w="12700">
            <a:solidFill>
              <a:srgbClr val="DADFDC"/>
            </a:solidFill>
            <a:prstDash val="solid"/>
          </a:ln>
        </p:spPr>
      </p:sp>
      <p:sp>
        <p:nvSpPr>
          <p:cNvPr id="25" name="Text 23"/>
          <p:cNvSpPr/>
          <p:nvPr/>
        </p:nvSpPr>
        <p:spPr>
          <a:xfrm>
            <a:off x="731520" y="5212080"/>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26" name="Shape 24"/>
          <p:cNvSpPr/>
          <p:nvPr/>
        </p:nvSpPr>
        <p:spPr>
          <a:xfrm>
            <a:off x="731520" y="5212080"/>
            <a:ext cx="411480" cy="411480"/>
          </a:xfrm>
          <a:prstGeom prst="ellipse">
            <a:avLst/>
          </a:prstGeom>
          <a:solidFill>
            <a:srgbClr val="12766B"/>
          </a:solidFill>
          <a:ln/>
        </p:spPr>
      </p:sp>
      <p:sp>
        <p:nvSpPr>
          <p:cNvPr id="27" name="Text 25"/>
          <p:cNvSpPr/>
          <p:nvPr/>
        </p:nvSpPr>
        <p:spPr>
          <a:xfrm>
            <a:off x="731520" y="5212080"/>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28" name="Text 26"/>
          <p:cNvSpPr/>
          <p:nvPr/>
        </p:nvSpPr>
        <p:spPr>
          <a:xfrm>
            <a:off x="1280160" y="5175504"/>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Q12. 犬種や体格で変わらないの?</a:t>
            </a:r>
            <a:endParaRPr lang="en-US" sz="1350" dirty="0"/>
          </a:p>
        </p:txBody>
      </p:sp>
      <p:sp>
        <p:nvSpPr>
          <p:cNvPr id="29" name="Text 27"/>
          <p:cNvSpPr/>
          <p:nvPr/>
        </p:nvSpPr>
        <p:spPr>
          <a:xfrm>
            <a:off x="1280160" y="5486400"/>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変わり得る。ベースライン相対のΔで見る設計は体格差の一部を吸収するが、閾値の犬種依存性は今後の課題として明示する。</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ANTICIPATED QUESTIONS</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想定質問と模範回答  13–16 / 20</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23</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572768"/>
            <a:ext cx="11064240" cy="1097280"/>
          </a:xfrm>
          <a:prstGeom prst="roundRect">
            <a:avLst>
              <a:gd name="adj" fmla="val 7500"/>
            </a:avLst>
          </a:prstGeom>
          <a:solidFill>
            <a:srgbClr val="FFFFFF"/>
          </a:solidFill>
          <a:ln w="12700">
            <a:solidFill>
              <a:srgbClr val="DADFDC"/>
            </a:solidFill>
            <a:prstDash val="solid"/>
          </a:ln>
        </p:spPr>
      </p:sp>
      <p:sp>
        <p:nvSpPr>
          <p:cNvPr id="7" name="Text 5"/>
          <p:cNvSpPr/>
          <p:nvPr/>
        </p:nvSpPr>
        <p:spPr>
          <a:xfrm>
            <a:off x="731520" y="1700784"/>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8" name="Shape 6"/>
          <p:cNvSpPr/>
          <p:nvPr/>
        </p:nvSpPr>
        <p:spPr>
          <a:xfrm>
            <a:off x="731520" y="1700784"/>
            <a:ext cx="411480" cy="411480"/>
          </a:xfrm>
          <a:prstGeom prst="ellipse">
            <a:avLst/>
          </a:prstGeom>
          <a:solidFill>
            <a:srgbClr val="12766B"/>
          </a:solidFill>
          <a:ln/>
        </p:spPr>
      </p:sp>
      <p:sp>
        <p:nvSpPr>
          <p:cNvPr id="9" name="Text 7"/>
          <p:cNvSpPr/>
          <p:nvPr/>
        </p:nvSpPr>
        <p:spPr>
          <a:xfrm>
            <a:off x="731520" y="1700784"/>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10" name="Text 8"/>
          <p:cNvSpPr/>
          <p:nvPr/>
        </p:nvSpPr>
        <p:spPr>
          <a:xfrm>
            <a:off x="1280160" y="1664208"/>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Q13. なぜBLE再送を自前実装? BLEは信頼性あるでしょ。</a:t>
            </a:r>
            <a:endParaRPr lang="en-US" sz="1350" dirty="0"/>
          </a:p>
        </p:txBody>
      </p:sp>
      <p:sp>
        <p:nvSpPr>
          <p:cNvPr id="11" name="Text 9"/>
          <p:cNvSpPr/>
          <p:nvPr/>
        </p:nvSpPr>
        <p:spPr>
          <a:xfrm>
            <a:off x="1280160" y="1975104"/>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GATT Notifyは接続中の配送は保証するが切断区間のフレームは消える。切断中もセッションを続ける設計では復帰後の再配送はアプリ層の責務。全再送はストリームで無意味なので損失コストで分けた選択的ARQにした。</a:t>
            </a:r>
            <a:endParaRPr lang="en-US" sz="1150" dirty="0"/>
          </a:p>
        </p:txBody>
      </p:sp>
      <p:sp>
        <p:nvSpPr>
          <p:cNvPr id="12" name="Shape 10"/>
          <p:cNvSpPr/>
          <p:nvPr/>
        </p:nvSpPr>
        <p:spPr>
          <a:xfrm>
            <a:off x="566928" y="2743200"/>
            <a:ext cx="11064240" cy="1097280"/>
          </a:xfrm>
          <a:prstGeom prst="roundRect">
            <a:avLst>
              <a:gd name="adj" fmla="val 7500"/>
            </a:avLst>
          </a:prstGeom>
          <a:solidFill>
            <a:srgbClr val="FFFFFF"/>
          </a:solidFill>
          <a:ln w="12700">
            <a:solidFill>
              <a:srgbClr val="DADFDC"/>
            </a:solidFill>
            <a:prstDash val="solid"/>
          </a:ln>
        </p:spPr>
      </p:sp>
      <p:sp>
        <p:nvSpPr>
          <p:cNvPr id="13" name="Text 11"/>
          <p:cNvSpPr/>
          <p:nvPr/>
        </p:nvSpPr>
        <p:spPr>
          <a:xfrm>
            <a:off x="731520" y="2871216"/>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14" name="Shape 12"/>
          <p:cNvSpPr/>
          <p:nvPr/>
        </p:nvSpPr>
        <p:spPr>
          <a:xfrm>
            <a:off x="731520" y="2871216"/>
            <a:ext cx="411480" cy="411480"/>
          </a:xfrm>
          <a:prstGeom prst="ellipse">
            <a:avLst/>
          </a:prstGeom>
          <a:solidFill>
            <a:srgbClr val="12766B"/>
          </a:solidFill>
          <a:ln/>
        </p:spPr>
      </p:sp>
      <p:sp>
        <p:nvSpPr>
          <p:cNvPr id="15" name="Text 13"/>
          <p:cNvSpPr/>
          <p:nvPr/>
        </p:nvSpPr>
        <p:spPr>
          <a:xfrm>
            <a:off x="731520" y="2871216"/>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16" name="Text 14"/>
          <p:cNvSpPr/>
          <p:nvPr/>
        </p:nvSpPr>
        <p:spPr>
          <a:xfrm>
            <a:off x="1280160" y="2834640"/>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Q14. なぜウィンドウ制御がない?</a:t>
            </a:r>
            <a:endParaRPr lang="en-US" sz="1350" dirty="0"/>
          </a:p>
        </p:txBody>
      </p:sp>
      <p:sp>
        <p:nvSpPr>
          <p:cNvPr id="17" name="Text 15"/>
          <p:cNvSpPr/>
          <p:nvPr/>
        </p:nvSpPr>
        <p:spPr>
          <a:xfrm>
            <a:off x="1280160" y="3145536"/>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クリティカルフレームは高々セッション数枚で、深さ4のstop-and-wait的キューで帯域×遅延積を大きく下回る。ウィンドウ制御は複雑さに見合う利得がない（過剰設計の回避）。</a:t>
            </a:r>
            <a:endParaRPr lang="en-US" sz="1150" dirty="0"/>
          </a:p>
        </p:txBody>
      </p:sp>
      <p:sp>
        <p:nvSpPr>
          <p:cNvPr id="18" name="Shape 16"/>
          <p:cNvSpPr/>
          <p:nvPr/>
        </p:nvSpPr>
        <p:spPr>
          <a:xfrm>
            <a:off x="566928" y="3913632"/>
            <a:ext cx="11064240" cy="1097280"/>
          </a:xfrm>
          <a:prstGeom prst="roundRect">
            <a:avLst>
              <a:gd name="adj" fmla="val 7500"/>
            </a:avLst>
          </a:prstGeom>
          <a:solidFill>
            <a:srgbClr val="FFFFFF"/>
          </a:solidFill>
          <a:ln w="12700">
            <a:solidFill>
              <a:srgbClr val="DADFDC"/>
            </a:solidFill>
            <a:prstDash val="solid"/>
          </a:ln>
        </p:spPr>
      </p:sp>
      <p:sp>
        <p:nvSpPr>
          <p:cNvPr id="19" name="Text 17"/>
          <p:cNvSpPr/>
          <p:nvPr/>
        </p:nvSpPr>
        <p:spPr>
          <a:xfrm>
            <a:off x="731520" y="4041648"/>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20" name="Shape 18"/>
          <p:cNvSpPr/>
          <p:nvPr/>
        </p:nvSpPr>
        <p:spPr>
          <a:xfrm>
            <a:off x="731520" y="4041648"/>
            <a:ext cx="411480" cy="411480"/>
          </a:xfrm>
          <a:prstGeom prst="ellipse">
            <a:avLst/>
          </a:prstGeom>
          <a:solidFill>
            <a:srgbClr val="12766B"/>
          </a:solidFill>
          <a:ln/>
        </p:spPr>
      </p:sp>
      <p:sp>
        <p:nvSpPr>
          <p:cNvPr id="21" name="Text 19"/>
          <p:cNvSpPr/>
          <p:nvPr/>
        </p:nvSpPr>
        <p:spPr>
          <a:xfrm>
            <a:off x="731520" y="4041648"/>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22" name="Text 20"/>
          <p:cNvSpPr/>
          <p:nvPr/>
        </p:nvSpPr>
        <p:spPr>
          <a:xfrm>
            <a:off x="1280160" y="4005072"/>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Q15. STOP2で本当にどれだけ電力が減る?</a:t>
            </a:r>
            <a:endParaRPr lang="en-US" sz="1350" dirty="0"/>
          </a:p>
        </p:txBody>
      </p:sp>
      <p:sp>
        <p:nvSpPr>
          <p:cNvPr id="23" name="Text 21"/>
          <p:cNvSpPr/>
          <p:nvPr/>
        </p:nvSpPr>
        <p:spPr>
          <a:xfrm>
            <a:off x="1280160" y="4315968"/>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現時点は未実測(ESTIMATED)。設計上はMCU支配でなくDGS2(数十mA)とBLEが支配項。だから「測定時間そのものを短くする」イベント化が電力設計の主戦場。実測は電流ロガーでIDLE/SLEEP/測定中の3点を取る。</a:t>
            </a:r>
            <a:endParaRPr lang="en-US" sz="1150" dirty="0"/>
          </a:p>
        </p:txBody>
      </p:sp>
      <p:sp>
        <p:nvSpPr>
          <p:cNvPr id="24" name="Shape 22"/>
          <p:cNvSpPr/>
          <p:nvPr/>
        </p:nvSpPr>
        <p:spPr>
          <a:xfrm>
            <a:off x="566928" y="5084064"/>
            <a:ext cx="11064240" cy="1097280"/>
          </a:xfrm>
          <a:prstGeom prst="roundRect">
            <a:avLst>
              <a:gd name="adj" fmla="val 7500"/>
            </a:avLst>
          </a:prstGeom>
          <a:solidFill>
            <a:srgbClr val="FFFFFF"/>
          </a:solidFill>
          <a:ln w="12700">
            <a:solidFill>
              <a:srgbClr val="DADFDC"/>
            </a:solidFill>
            <a:prstDash val="solid"/>
          </a:ln>
        </p:spPr>
      </p:sp>
      <p:sp>
        <p:nvSpPr>
          <p:cNvPr id="25" name="Text 23"/>
          <p:cNvSpPr/>
          <p:nvPr/>
        </p:nvSpPr>
        <p:spPr>
          <a:xfrm>
            <a:off x="731520" y="5212080"/>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26" name="Shape 24"/>
          <p:cNvSpPr/>
          <p:nvPr/>
        </p:nvSpPr>
        <p:spPr>
          <a:xfrm>
            <a:off x="731520" y="5212080"/>
            <a:ext cx="411480" cy="411480"/>
          </a:xfrm>
          <a:prstGeom prst="ellipse">
            <a:avLst/>
          </a:prstGeom>
          <a:solidFill>
            <a:srgbClr val="12766B"/>
          </a:solidFill>
          <a:ln/>
        </p:spPr>
      </p:sp>
      <p:sp>
        <p:nvSpPr>
          <p:cNvPr id="27" name="Text 25"/>
          <p:cNvSpPr/>
          <p:nvPr/>
        </p:nvSpPr>
        <p:spPr>
          <a:xfrm>
            <a:off x="731520" y="5212080"/>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28" name="Text 26"/>
          <p:cNvSpPr/>
          <p:nvPr/>
        </p:nvSpPr>
        <p:spPr>
          <a:xfrm>
            <a:off x="1280160" y="5175504"/>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Q16. なぜホストPCでテスト? 実機じゃないの?</a:t>
            </a:r>
            <a:endParaRPr lang="en-US" sz="1350" dirty="0"/>
          </a:p>
        </p:txBody>
      </p:sp>
      <p:sp>
        <p:nvSpPr>
          <p:cNvPr id="29" name="Text 27"/>
          <p:cNvSpPr/>
          <p:nvPr/>
        </p:nvSpPr>
        <p:spPr>
          <a:xfrm>
            <a:off x="1280160" y="5486400"/>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役割が違う。アルゴリズムの数値挙動(354アサーション)はホストで決定的に固定し、実機では配線・タイミング・電源など環境要因だけを切り分ける。実機で数値バグを踏むとどちらの問題か切り分けられなくなる。</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66928" y="384048"/>
            <a:ext cx="10058400" cy="274320"/>
          </a:xfrm>
          <a:prstGeom prst="rect">
            <a:avLst/>
          </a:prstGeom>
          <a:noFill/>
          <a:ln/>
        </p:spPr>
        <p:txBody>
          <a:bodyPr wrap="square" rtlCol="0" anchor="ctr"/>
          <a:lstStyle/>
          <a:p>
            <a:pPr indent="0" marL="0">
              <a:buNone/>
            </a:pPr>
            <a:r>
              <a:rPr lang="en-US" sz="1200" b="1" spc="200" kern="0" dirty="0">
                <a:solidFill>
                  <a:srgbClr val="12766B"/>
                </a:solidFill>
                <a:latin typeface="Calibri" pitchFamily="34" charset="0"/>
                <a:ea typeface="Calibri" pitchFamily="34" charset="-122"/>
                <a:cs typeface="Calibri" pitchFamily="34" charset="-120"/>
              </a:rPr>
              <a:t>ANTICIPATED QUESTIONS</a:t>
            </a:r>
            <a:endParaRPr lang="en-US" sz="1200" dirty="0"/>
          </a:p>
        </p:txBody>
      </p:sp>
      <p:sp>
        <p:nvSpPr>
          <p:cNvPr id="3" name="Text 1"/>
          <p:cNvSpPr/>
          <p:nvPr/>
        </p:nvSpPr>
        <p:spPr>
          <a:xfrm>
            <a:off x="566928" y="658368"/>
            <a:ext cx="11064240" cy="685800"/>
          </a:xfrm>
          <a:prstGeom prst="rect">
            <a:avLst/>
          </a:prstGeom>
          <a:noFill/>
          <a:ln/>
        </p:spPr>
        <p:txBody>
          <a:bodyPr wrap="square" rtlCol="0" anchor="ctr"/>
          <a:lstStyle/>
          <a:p>
            <a:pPr indent="0" marL="0">
              <a:buNone/>
            </a:pPr>
            <a:r>
              <a:rPr lang="en-US" sz="2700" b="1" dirty="0">
                <a:solidFill>
                  <a:srgbClr val="1C1C1E"/>
                </a:solidFill>
                <a:latin typeface="Cambria" pitchFamily="34" charset="0"/>
                <a:ea typeface="Cambria" pitchFamily="34" charset="-122"/>
                <a:cs typeface="Cambria" pitchFamily="34" charset="-120"/>
              </a:rPr>
              <a:t>想定質問と模範回答  17–20 / 20</a:t>
            </a:r>
            <a:endParaRPr lang="en-US" sz="2700" dirty="0"/>
          </a:p>
        </p:txBody>
      </p:sp>
      <p:sp>
        <p:nvSpPr>
          <p:cNvPr id="4" name="Text 2"/>
          <p:cNvSpPr/>
          <p:nvPr/>
        </p:nvSpPr>
        <p:spPr>
          <a:xfrm>
            <a:off x="11274552" y="6400800"/>
            <a:ext cx="548640" cy="274320"/>
          </a:xfrm>
          <a:prstGeom prst="rect">
            <a:avLst/>
          </a:prstGeom>
          <a:noFill/>
          <a:ln/>
        </p:spPr>
        <p:txBody>
          <a:bodyPr wrap="square" rtlCol="0" anchor="ctr"/>
          <a:lstStyle/>
          <a:p>
            <a:pPr algn="r" indent="0" marL="0">
              <a:buNone/>
            </a:pPr>
            <a:r>
              <a:rPr lang="en-US" sz="900" dirty="0">
                <a:solidFill>
                  <a:srgbClr val="5B6763"/>
                </a:solidFill>
                <a:latin typeface="Calibri" pitchFamily="34" charset="0"/>
                <a:ea typeface="Calibri" pitchFamily="34" charset="-122"/>
                <a:cs typeface="Calibri" pitchFamily="34" charset="-120"/>
              </a:rPr>
              <a:t>24</a:t>
            </a:r>
            <a:endParaRPr lang="en-US" sz="900" dirty="0"/>
          </a:p>
        </p:txBody>
      </p:sp>
      <p:sp>
        <p:nvSpPr>
          <p:cNvPr id="5" name="Text 3"/>
          <p:cNvSpPr/>
          <p:nvPr/>
        </p:nvSpPr>
        <p:spPr>
          <a:xfrm>
            <a:off x="457200" y="6400800"/>
            <a:ext cx="1828800" cy="274320"/>
          </a:xfrm>
          <a:prstGeom prst="rect">
            <a:avLst/>
          </a:prstGeom>
          <a:noFill/>
          <a:ln/>
        </p:spPr>
        <p:txBody>
          <a:bodyPr wrap="square" rtlCol="0" anchor="ctr"/>
          <a:lstStyle/>
          <a:p>
            <a:pPr indent="0" marL="0">
              <a:buNone/>
            </a:pPr>
            <a:r>
              <a:rPr lang="en-US" sz="900" b="1" dirty="0">
                <a:solidFill>
                  <a:srgbClr val="12766B"/>
                </a:solidFill>
                <a:latin typeface="Calibri" pitchFamily="34" charset="0"/>
                <a:ea typeface="Calibri" pitchFamily="34" charset="-122"/>
                <a:cs typeface="Calibri" pitchFamily="34" charset="-120"/>
              </a:rPr>
              <a:t>HydroPaw</a:t>
            </a:r>
            <a:endParaRPr lang="en-US" sz="900" dirty="0"/>
          </a:p>
        </p:txBody>
      </p:sp>
      <p:sp>
        <p:nvSpPr>
          <p:cNvPr id="6" name="Shape 4"/>
          <p:cNvSpPr/>
          <p:nvPr/>
        </p:nvSpPr>
        <p:spPr>
          <a:xfrm>
            <a:off x="566928" y="1572768"/>
            <a:ext cx="11064240" cy="1097280"/>
          </a:xfrm>
          <a:prstGeom prst="roundRect">
            <a:avLst>
              <a:gd name="adj" fmla="val 7500"/>
            </a:avLst>
          </a:prstGeom>
          <a:solidFill>
            <a:srgbClr val="FFFFFF"/>
          </a:solidFill>
          <a:ln w="12700">
            <a:solidFill>
              <a:srgbClr val="DADFDC"/>
            </a:solidFill>
            <a:prstDash val="solid"/>
          </a:ln>
        </p:spPr>
      </p:sp>
      <p:sp>
        <p:nvSpPr>
          <p:cNvPr id="7" name="Text 5"/>
          <p:cNvSpPr/>
          <p:nvPr/>
        </p:nvSpPr>
        <p:spPr>
          <a:xfrm>
            <a:off x="731520" y="1700784"/>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8" name="Shape 6"/>
          <p:cNvSpPr/>
          <p:nvPr/>
        </p:nvSpPr>
        <p:spPr>
          <a:xfrm>
            <a:off x="731520" y="1700784"/>
            <a:ext cx="411480" cy="411480"/>
          </a:xfrm>
          <a:prstGeom prst="ellipse">
            <a:avLst/>
          </a:prstGeom>
          <a:solidFill>
            <a:srgbClr val="12766B"/>
          </a:solidFill>
          <a:ln/>
        </p:spPr>
      </p:sp>
      <p:sp>
        <p:nvSpPr>
          <p:cNvPr id="9" name="Text 7"/>
          <p:cNvSpPr/>
          <p:nvPr/>
        </p:nvSpPr>
        <p:spPr>
          <a:xfrm>
            <a:off x="731520" y="1700784"/>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10" name="Text 8"/>
          <p:cNvSpPr/>
          <p:nvPr/>
        </p:nvSpPr>
        <p:spPr>
          <a:xfrm>
            <a:off x="1280160" y="1664208"/>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Q17. 合成波形で評価して意味ある?</a:t>
            </a:r>
            <a:endParaRPr lang="en-US" sz="1350" dirty="0"/>
          </a:p>
        </p:txBody>
      </p:sp>
      <p:sp>
        <p:nvSpPr>
          <p:cNvPr id="11" name="Text 9"/>
          <p:cNvSpPr/>
          <p:nvPr/>
        </p:nvSpPr>
        <p:spPr>
          <a:xfrm>
            <a:off x="1280160" y="1975104"/>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単体では不十分。合成波形の役割は回帰テスト(挙動の固定)であって性能評価ではない。性能評価は人工呼気ベンチ＋実犬で行う、と役割を分けて主張する。</a:t>
            </a:r>
            <a:endParaRPr lang="en-US" sz="1150" dirty="0"/>
          </a:p>
        </p:txBody>
      </p:sp>
      <p:sp>
        <p:nvSpPr>
          <p:cNvPr id="12" name="Shape 10"/>
          <p:cNvSpPr/>
          <p:nvPr/>
        </p:nvSpPr>
        <p:spPr>
          <a:xfrm>
            <a:off x="566928" y="2743200"/>
            <a:ext cx="11064240" cy="1097280"/>
          </a:xfrm>
          <a:prstGeom prst="roundRect">
            <a:avLst>
              <a:gd name="adj" fmla="val 7500"/>
            </a:avLst>
          </a:prstGeom>
          <a:solidFill>
            <a:srgbClr val="FFFFFF"/>
          </a:solidFill>
          <a:ln w="12700">
            <a:solidFill>
              <a:srgbClr val="DADFDC"/>
            </a:solidFill>
            <a:prstDash val="solid"/>
          </a:ln>
        </p:spPr>
      </p:sp>
      <p:sp>
        <p:nvSpPr>
          <p:cNvPr id="13" name="Text 11"/>
          <p:cNvSpPr/>
          <p:nvPr/>
        </p:nvSpPr>
        <p:spPr>
          <a:xfrm>
            <a:off x="731520" y="2871216"/>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14" name="Shape 12"/>
          <p:cNvSpPr/>
          <p:nvPr/>
        </p:nvSpPr>
        <p:spPr>
          <a:xfrm>
            <a:off x="731520" y="2871216"/>
            <a:ext cx="411480" cy="411480"/>
          </a:xfrm>
          <a:prstGeom prst="ellipse">
            <a:avLst/>
          </a:prstGeom>
          <a:solidFill>
            <a:srgbClr val="12766B"/>
          </a:solidFill>
          <a:ln/>
        </p:spPr>
      </p:sp>
      <p:sp>
        <p:nvSpPr>
          <p:cNvPr id="15" name="Text 13"/>
          <p:cNvSpPr/>
          <p:nvPr/>
        </p:nvSpPr>
        <p:spPr>
          <a:xfrm>
            <a:off x="731520" y="2871216"/>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16" name="Text 14"/>
          <p:cNvSpPr/>
          <p:nvPr/>
        </p:nvSpPr>
        <p:spPr>
          <a:xfrm>
            <a:off x="1280160" y="2834640"/>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Q18. 自動でもう1回測るのは犬に優しい?</a:t>
            </a:r>
            <a:endParaRPr lang="en-US" sz="1350" dirty="0"/>
          </a:p>
        </p:txBody>
      </p:sp>
      <p:sp>
        <p:nvSpPr>
          <p:cNvPr id="17" name="Text 15"/>
          <p:cNvSpPr/>
          <p:nvPr/>
        </p:nvSpPr>
        <p:spPr>
          <a:xfrm>
            <a:off x="1280160" y="3145536"/>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1回だけ・時間上限内のみ・2回目は提案止まり、に制限。「機械が勝手に繰り返さない」ことは動物福祉とUXの両方の要件。</a:t>
            </a:r>
            <a:endParaRPr lang="en-US" sz="1150" dirty="0"/>
          </a:p>
        </p:txBody>
      </p:sp>
      <p:sp>
        <p:nvSpPr>
          <p:cNvPr id="18" name="Shape 16"/>
          <p:cNvSpPr/>
          <p:nvPr/>
        </p:nvSpPr>
        <p:spPr>
          <a:xfrm>
            <a:off x="566928" y="3913632"/>
            <a:ext cx="11064240" cy="1097280"/>
          </a:xfrm>
          <a:prstGeom prst="roundRect">
            <a:avLst>
              <a:gd name="adj" fmla="val 7500"/>
            </a:avLst>
          </a:prstGeom>
          <a:solidFill>
            <a:srgbClr val="FFFFFF"/>
          </a:solidFill>
          <a:ln w="12700">
            <a:solidFill>
              <a:srgbClr val="DADFDC"/>
            </a:solidFill>
            <a:prstDash val="solid"/>
          </a:ln>
        </p:spPr>
      </p:sp>
      <p:sp>
        <p:nvSpPr>
          <p:cNvPr id="19" name="Text 17"/>
          <p:cNvSpPr/>
          <p:nvPr/>
        </p:nvSpPr>
        <p:spPr>
          <a:xfrm>
            <a:off x="731520" y="4041648"/>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20" name="Shape 18"/>
          <p:cNvSpPr/>
          <p:nvPr/>
        </p:nvSpPr>
        <p:spPr>
          <a:xfrm>
            <a:off x="731520" y="4041648"/>
            <a:ext cx="411480" cy="411480"/>
          </a:xfrm>
          <a:prstGeom prst="ellipse">
            <a:avLst/>
          </a:prstGeom>
          <a:solidFill>
            <a:srgbClr val="12766B"/>
          </a:solidFill>
          <a:ln/>
        </p:spPr>
      </p:sp>
      <p:sp>
        <p:nvSpPr>
          <p:cNvPr id="21" name="Text 19"/>
          <p:cNvSpPr/>
          <p:nvPr/>
        </p:nvSpPr>
        <p:spPr>
          <a:xfrm>
            <a:off x="731520" y="4041648"/>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22" name="Text 20"/>
          <p:cNvSpPr/>
          <p:nvPr/>
        </p:nvSpPr>
        <p:spPr>
          <a:xfrm>
            <a:off x="1280160" y="4005072"/>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Q19. なぜ生波形を全部送らない?</a:t>
            </a:r>
            <a:endParaRPr lang="en-US" sz="1350" dirty="0"/>
          </a:p>
        </p:txBody>
      </p:sp>
      <p:sp>
        <p:nvSpPr>
          <p:cNvPr id="23" name="Text 21"/>
          <p:cNvSpPr/>
          <p:nvPr/>
        </p:nvSpPr>
        <p:spPr>
          <a:xfrm>
            <a:off x="1280160" y="4315968"/>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呼気バッファ(≤96点)全送は384B=13フレーム。研究用にはラボモード(生値ストリーム)が既にある。製品モードは特徴量で足りる。「両モード併存」が研究機材と製品の両立という答え。</a:t>
            </a:r>
            <a:endParaRPr lang="en-US" sz="1150" dirty="0"/>
          </a:p>
        </p:txBody>
      </p:sp>
      <p:sp>
        <p:nvSpPr>
          <p:cNvPr id="24" name="Shape 22"/>
          <p:cNvSpPr/>
          <p:nvPr/>
        </p:nvSpPr>
        <p:spPr>
          <a:xfrm>
            <a:off x="566928" y="5084064"/>
            <a:ext cx="11064240" cy="1097280"/>
          </a:xfrm>
          <a:prstGeom prst="roundRect">
            <a:avLst>
              <a:gd name="adj" fmla="val 7500"/>
            </a:avLst>
          </a:prstGeom>
          <a:solidFill>
            <a:srgbClr val="FFFFFF"/>
          </a:solidFill>
          <a:ln w="12700">
            <a:solidFill>
              <a:srgbClr val="DADFDC"/>
            </a:solidFill>
            <a:prstDash val="solid"/>
          </a:ln>
        </p:spPr>
      </p:sp>
      <p:sp>
        <p:nvSpPr>
          <p:cNvPr id="25" name="Text 23"/>
          <p:cNvSpPr/>
          <p:nvPr/>
        </p:nvSpPr>
        <p:spPr>
          <a:xfrm>
            <a:off x="731520" y="5212080"/>
            <a:ext cx="411480" cy="41148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Q</a:t>
            </a:r>
            <a:endParaRPr lang="en-US" sz="2000" dirty="0"/>
          </a:p>
        </p:txBody>
      </p:sp>
      <p:sp>
        <p:nvSpPr>
          <p:cNvPr id="26" name="Shape 24"/>
          <p:cNvSpPr/>
          <p:nvPr/>
        </p:nvSpPr>
        <p:spPr>
          <a:xfrm>
            <a:off x="731520" y="5212080"/>
            <a:ext cx="411480" cy="411480"/>
          </a:xfrm>
          <a:prstGeom prst="ellipse">
            <a:avLst/>
          </a:prstGeom>
          <a:solidFill>
            <a:srgbClr val="12766B"/>
          </a:solidFill>
          <a:ln/>
        </p:spPr>
      </p:sp>
      <p:sp>
        <p:nvSpPr>
          <p:cNvPr id="27" name="Text 25"/>
          <p:cNvSpPr/>
          <p:nvPr/>
        </p:nvSpPr>
        <p:spPr>
          <a:xfrm>
            <a:off x="731520" y="5212080"/>
            <a:ext cx="4114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Q</a:t>
            </a:r>
            <a:endParaRPr lang="en-US" sz="1800" dirty="0"/>
          </a:p>
        </p:txBody>
      </p:sp>
      <p:sp>
        <p:nvSpPr>
          <p:cNvPr id="28" name="Text 26"/>
          <p:cNvSpPr/>
          <p:nvPr/>
        </p:nvSpPr>
        <p:spPr>
          <a:xfrm>
            <a:off x="1280160" y="5175504"/>
            <a:ext cx="10149840" cy="320040"/>
          </a:xfrm>
          <a:prstGeom prst="rect">
            <a:avLst/>
          </a:prstGeom>
          <a:noFill/>
          <a:ln/>
        </p:spPr>
        <p:txBody>
          <a:bodyPr wrap="square" rtlCol="0" anchor="ctr"/>
          <a:lstStyle/>
          <a:p>
            <a:pPr indent="0" marL="0">
              <a:buNone/>
            </a:pPr>
            <a:r>
              <a:rPr lang="en-US" sz="1350" b="1" dirty="0">
                <a:solidFill>
                  <a:srgbClr val="12766B"/>
                </a:solidFill>
                <a:latin typeface="Calibri" pitchFamily="34" charset="0"/>
                <a:ea typeface="Calibri" pitchFamily="34" charset="-122"/>
                <a:cs typeface="Calibri" pitchFamily="34" charset="-120"/>
              </a:rPr>
              <a:t>Q20. この研究の限界を自分で言うと?</a:t>
            </a:r>
            <a:endParaRPr lang="en-US" sz="1350" dirty="0"/>
          </a:p>
        </p:txBody>
      </p:sp>
      <p:sp>
        <p:nvSpPr>
          <p:cNvPr id="29" name="Text 27"/>
          <p:cNvSpPr/>
          <p:nvPr/>
        </p:nvSpPr>
        <p:spPr>
          <a:xfrm>
            <a:off x="1280160" y="5486400"/>
            <a:ext cx="10149840" cy="658368"/>
          </a:xfrm>
          <a:prstGeom prst="rect">
            <a:avLst/>
          </a:prstGeom>
          <a:noFill/>
          <a:ln/>
        </p:spPr>
        <p:txBody>
          <a:bodyPr wrap="square" rtlCol="0" anchor="t"/>
          <a:lstStyle/>
          <a:p>
            <a:pPr indent="0" marL="0">
              <a:buNone/>
            </a:pPr>
            <a:r>
              <a:rPr lang="en-US" sz="1150" dirty="0">
                <a:solidFill>
                  <a:srgbClr val="1C1C1E"/>
                </a:solidFill>
                <a:latin typeface="Calibri" pitchFamily="34" charset="0"/>
                <a:ea typeface="Calibri" pitchFamily="34" charset="-122"/>
                <a:cs typeface="Calibri" pitchFamily="34" charset="-120"/>
              </a:rPr>
              <a:t>(i)実犬データ未取得で全閾値が仮値、(ii)センサ1個体でロット差未評価、(iii)AC02トランスポート置換が未実装、(iv)電力・検出遅延が未実測。限界を測る手順は全てdocsに定義済みで「未知」ではなく「計画済みの未実施」。</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3B36"/>
        </a:solidFill>
      </p:bgPr>
    </p:bg>
    <p:spTree>
      <p:nvGrpSpPr>
        <p:cNvPr id="1" name=""/>
        <p:cNvGrpSpPr/>
        <p:nvPr/>
      </p:nvGrpSpPr>
      <p:grpSpPr>
        <a:xfrm>
          <a:off x="0" y="0"/>
          <a:ext cx="0" cy="0"/>
          <a:chOff x="0" y="0"/>
          <a:chExt cx="0" cy="0"/>
        </a:xfrm>
      </p:grpSpPr>
      <p:sp>
        <p:nvSpPr>
          <p:cNvPr id="2" name="Shape 0"/>
          <p:cNvSpPr/>
          <p:nvPr/>
        </p:nvSpPr>
        <p:spPr>
          <a:xfrm>
            <a:off x="5088636" y="1371600"/>
            <a:ext cx="2011680" cy="2011680"/>
          </a:xfrm>
          <a:prstGeom prst="ellipse">
            <a:avLst/>
          </a:prstGeom>
          <a:solidFill>
            <a:srgbClr val="15544C"/>
          </a:solidFill>
          <a:ln/>
        </p:spPr>
      </p:sp>
      <p:sp>
        <p:nvSpPr>
          <p:cNvPr id="3" name="Shape 1"/>
          <p:cNvSpPr/>
          <p:nvPr/>
        </p:nvSpPr>
        <p:spPr>
          <a:xfrm>
            <a:off x="5408676" y="1691640"/>
            <a:ext cx="1371600" cy="1371600"/>
          </a:xfrm>
          <a:prstGeom prst="ellipse">
            <a:avLst/>
          </a:prstGeom>
          <a:solidFill>
            <a:srgbClr val="4FB8A5"/>
          </a:solidFill>
          <a:ln/>
        </p:spPr>
      </p:sp>
      <p:sp>
        <p:nvSpPr>
          <p:cNvPr id="4" name="Shape 2"/>
          <p:cNvSpPr/>
          <p:nvPr/>
        </p:nvSpPr>
        <p:spPr>
          <a:xfrm>
            <a:off x="6011494" y="2404872"/>
            <a:ext cx="286664" cy="256489"/>
          </a:xfrm>
          <a:prstGeom prst="ellipse">
            <a:avLst/>
          </a:prstGeom>
          <a:solidFill>
            <a:srgbClr val="FFFFFF"/>
          </a:solidFill>
          <a:ln/>
        </p:spPr>
      </p:sp>
      <p:sp>
        <p:nvSpPr>
          <p:cNvPr id="5" name="Shape 3"/>
          <p:cNvSpPr/>
          <p:nvPr/>
        </p:nvSpPr>
        <p:spPr>
          <a:xfrm>
            <a:off x="5759806" y="2157984"/>
            <a:ext cx="128245" cy="158420"/>
          </a:xfrm>
          <a:prstGeom prst="ellipse">
            <a:avLst/>
          </a:prstGeom>
          <a:solidFill>
            <a:srgbClr val="FFFFFF"/>
          </a:solidFill>
          <a:ln/>
        </p:spPr>
      </p:sp>
      <p:sp>
        <p:nvSpPr>
          <p:cNvPr id="6" name="Shape 4"/>
          <p:cNvSpPr/>
          <p:nvPr/>
        </p:nvSpPr>
        <p:spPr>
          <a:xfrm>
            <a:off x="6061558" y="2075688"/>
            <a:ext cx="128245" cy="158420"/>
          </a:xfrm>
          <a:prstGeom prst="ellipse">
            <a:avLst/>
          </a:prstGeom>
          <a:solidFill>
            <a:srgbClr val="FFFFFF"/>
          </a:solidFill>
          <a:ln/>
        </p:spPr>
      </p:sp>
      <p:sp>
        <p:nvSpPr>
          <p:cNvPr id="7" name="Shape 5"/>
          <p:cNvSpPr/>
          <p:nvPr/>
        </p:nvSpPr>
        <p:spPr>
          <a:xfrm>
            <a:off x="6363310" y="2157984"/>
            <a:ext cx="128245" cy="158420"/>
          </a:xfrm>
          <a:prstGeom prst="ellipse">
            <a:avLst/>
          </a:prstGeom>
          <a:solidFill>
            <a:srgbClr val="FFFFFF"/>
          </a:solidFill>
          <a:ln/>
        </p:spPr>
      </p:sp>
      <p:sp>
        <p:nvSpPr>
          <p:cNvPr id="8" name="Text 6"/>
          <p:cNvSpPr/>
          <p:nvPr/>
        </p:nvSpPr>
        <p:spPr>
          <a:xfrm>
            <a:off x="914400" y="3657600"/>
            <a:ext cx="10360152" cy="640080"/>
          </a:xfrm>
          <a:prstGeom prst="rect">
            <a:avLst/>
          </a:prstGeom>
          <a:noFill/>
          <a:ln/>
        </p:spPr>
        <p:txBody>
          <a:bodyPr wrap="square"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先生に質問されても、設計根拠で答えられる。</a:t>
            </a:r>
            <a:endParaRPr lang="en-US" sz="2600" dirty="0"/>
          </a:p>
        </p:txBody>
      </p:sp>
      <p:sp>
        <p:nvSpPr>
          <p:cNvPr id="9" name="Text 7"/>
          <p:cNvSpPr/>
          <p:nvPr/>
        </p:nvSpPr>
        <p:spPr>
          <a:xfrm>
            <a:off x="914400" y="4389120"/>
            <a:ext cx="10360152" cy="457200"/>
          </a:xfrm>
          <a:prstGeom prst="rect">
            <a:avLst/>
          </a:prstGeom>
          <a:noFill/>
          <a:ln/>
        </p:spPr>
        <p:txBody>
          <a:bodyPr wrap="square" rtlCol="0" anchor="ctr"/>
          <a:lstStyle/>
          <a:p>
            <a:pPr algn="ctr" indent="0" marL="0">
              <a:buNone/>
            </a:pPr>
            <a:r>
              <a:rPr lang="en-US" sz="1600" dirty="0">
                <a:solidFill>
                  <a:srgbClr val="CFE7E1"/>
                </a:solidFill>
                <a:latin typeface="Calibri" pitchFamily="34" charset="0"/>
                <a:ea typeface="Calibri" pitchFamily="34" charset="-122"/>
                <a:cs typeface="Calibri" pitchFamily="34" charset="-120"/>
              </a:rPr>
              <a:t>HydroPaw は「実装」ではなく「研究」として設計されている。</a:t>
            </a:r>
            <a:endParaRPr lang="en-US" sz="1600" dirty="0"/>
          </a:p>
        </p:txBody>
      </p:sp>
      <p:sp>
        <p:nvSpPr>
          <p:cNvPr id="10" name="Text 8"/>
          <p:cNvSpPr/>
          <p:nvPr/>
        </p:nvSpPr>
        <p:spPr>
          <a:xfrm>
            <a:off x="914400" y="5120640"/>
            <a:ext cx="10360152" cy="365760"/>
          </a:xfrm>
          <a:prstGeom prst="rect">
            <a:avLst/>
          </a:prstGeom>
          <a:noFill/>
          <a:ln/>
        </p:spPr>
        <p:txBody>
          <a:bodyPr wrap="square" rtlCol="0" anchor="ctr"/>
          <a:lstStyle/>
          <a:p>
            <a:pPr algn="ctr" indent="0" marL="0">
              <a:buNone/>
            </a:pPr>
            <a:r>
              <a:rPr lang="en-US" sz="1200" i="1" dirty="0">
                <a:solidFill>
                  <a:srgbClr val="A9D2CA"/>
                </a:solidFill>
                <a:latin typeface="Calibri" pitchFamily="34" charset="0"/>
                <a:ea typeface="Calibri" pitchFamily="34" charset="-122"/>
                <a:cs typeface="Calibri" pitchFamily="34" charset="-120"/>
              </a:rPr>
              <a:t>docs/18 アルゴリズム設計 ・ docs/19 UI監査 ・ docs/20 研究査読</a:t>
            </a:r>
            <a:endParaRPr lang="en-US" sz="1200" dirty="0"/>
          </a:p>
        </p:txBody>
      </p:sp>
      <p:sp>
        <p:nvSpPr>
          <p:cNvPr id="11" name="Text 9"/>
          <p:cNvSpPr/>
          <p:nvPr/>
        </p:nvSpPr>
        <p:spPr>
          <a:xfrm>
            <a:off x="914400" y="5669280"/>
            <a:ext cx="10360152"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Ryoto Mogi ・ 慶應義塾大学</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HydroPaw 技術資料</dc:title>
  <dc:subject>PptxGenJS Presentation</dc:subject>
  <dc:creator>Ryoto Mogi</dc:creator>
  <cp:lastModifiedBy>Ryoto Mogi</cp:lastModifiedBy>
  <cp:revision>1</cp:revision>
  <dcterms:created xsi:type="dcterms:W3CDTF">2026-07-18T02:46:39Z</dcterms:created>
  <dcterms:modified xsi:type="dcterms:W3CDTF">2026-07-18T02:46:39Z</dcterms:modified>
</cp:coreProperties>
</file>